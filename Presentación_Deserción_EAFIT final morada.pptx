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300" r:id="rId3"/>
    <p:sldId id="267" r:id="rId4"/>
    <p:sldId id="257" r:id="rId5"/>
    <p:sldId id="258" r:id="rId6"/>
    <p:sldId id="299" r:id="rId7"/>
    <p:sldId id="259" r:id="rId8"/>
    <p:sldId id="260" r:id="rId9"/>
    <p:sldId id="269" r:id="rId10"/>
    <p:sldId id="270" r:id="rId11"/>
    <p:sldId id="271" r:id="rId12"/>
    <p:sldId id="272" r:id="rId13"/>
    <p:sldId id="273" r:id="rId14"/>
    <p:sldId id="275" r:id="rId15"/>
    <p:sldId id="276" r:id="rId16"/>
    <p:sldId id="277" r:id="rId17"/>
    <p:sldId id="278" r:id="rId18"/>
    <p:sldId id="284" r:id="rId19"/>
    <p:sldId id="261" r:id="rId20"/>
    <p:sldId id="279" r:id="rId21"/>
    <p:sldId id="280" r:id="rId22"/>
    <p:sldId id="281" r:id="rId23"/>
    <p:sldId id="282" r:id="rId24"/>
    <p:sldId id="283" r:id="rId25"/>
    <p:sldId id="301" r:id="rId26"/>
    <p:sldId id="285" r:id="rId27"/>
    <p:sldId id="286" r:id="rId28"/>
    <p:sldId id="302" r:id="rId29"/>
    <p:sldId id="287" r:id="rId30"/>
    <p:sldId id="288" r:id="rId31"/>
    <p:sldId id="295" r:id="rId32"/>
    <p:sldId id="262" r:id="rId33"/>
    <p:sldId id="289" r:id="rId34"/>
    <p:sldId id="291" r:id="rId35"/>
    <p:sldId id="292" r:id="rId36"/>
    <p:sldId id="263" r:id="rId37"/>
    <p:sldId id="296" r:id="rId38"/>
    <p:sldId id="293" r:id="rId39"/>
    <p:sldId id="297" r:id="rId40"/>
    <p:sldId id="294" r:id="rId41"/>
    <p:sldId id="264"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170BB9-032A-478F-88B3-86062C383D26}" v="28" dt="2025-11-04T23:43:22.02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Paula Castro Hoyos" userId="ffc58922-9c26-40e2-9ab2-e17863a3b5ba" providerId="ADAL" clId="{8074995B-8ABA-463C-90E0-5EF1B1AEE1D2}"/>
    <pc:docChg chg="modSld">
      <pc:chgData name="Maria Paula Castro Hoyos" userId="ffc58922-9c26-40e2-9ab2-e17863a3b5ba" providerId="ADAL" clId="{8074995B-8ABA-463C-90E0-5EF1B1AEE1D2}" dt="2025-11-05T03:33:35.578" v="7" actId="6549"/>
      <pc:docMkLst>
        <pc:docMk/>
      </pc:docMkLst>
      <pc:sldChg chg="modSp mod">
        <pc:chgData name="Maria Paula Castro Hoyos" userId="ffc58922-9c26-40e2-9ab2-e17863a3b5ba" providerId="ADAL" clId="{8074995B-8ABA-463C-90E0-5EF1B1AEE1D2}" dt="2025-11-05T03:33:35.578" v="7" actId="6549"/>
        <pc:sldMkLst>
          <pc:docMk/>
          <pc:sldMk cId="0" sldId="256"/>
        </pc:sldMkLst>
        <pc:spChg chg="mod">
          <ac:chgData name="Maria Paula Castro Hoyos" userId="ffc58922-9c26-40e2-9ab2-e17863a3b5ba" providerId="ADAL" clId="{8074995B-8ABA-463C-90E0-5EF1B1AEE1D2}" dt="2025-11-05T03:33:33.574" v="6" actId="403"/>
          <ac:spMkLst>
            <pc:docMk/>
            <pc:sldMk cId="0" sldId="256"/>
            <ac:spMk id="2" creationId="{00000000-0000-0000-0000-000000000000}"/>
          </ac:spMkLst>
        </pc:spChg>
        <pc:spChg chg="mod">
          <ac:chgData name="Maria Paula Castro Hoyos" userId="ffc58922-9c26-40e2-9ab2-e17863a3b5ba" providerId="ADAL" clId="{8074995B-8ABA-463C-90E0-5EF1B1AEE1D2}" dt="2025-11-05T03:33:35.578" v="7" actId="6549"/>
          <ac:spMkLst>
            <pc:docMk/>
            <pc:sldMk cId="0" sldId="256"/>
            <ac:spMk id="3" creationId="{00000000-0000-0000-0000-000000000000}"/>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3.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356434-DAD6-4652-A72E-20EB035257B5}"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BAD5498E-C884-4E41-931E-DACF7D4E443F}">
      <dgm:prSet/>
      <dgm:spPr/>
      <dgm:t>
        <a:bodyPr/>
        <a:lstStyle/>
        <a:p>
          <a:r>
            <a:rPr lang="en-US"/>
            <a:t>Fuente: base institucional anonimizada (EAFIT, 2000–2025).</a:t>
          </a:r>
        </a:p>
      </dgm:t>
    </dgm:pt>
    <dgm:pt modelId="{49BEB169-FDBA-4727-9953-ACFBE1AA36F8}" type="parTrans" cxnId="{C097ECBD-0279-4DF2-8F9B-844D5880F224}">
      <dgm:prSet/>
      <dgm:spPr/>
      <dgm:t>
        <a:bodyPr/>
        <a:lstStyle/>
        <a:p>
          <a:endParaRPr lang="en-US"/>
        </a:p>
      </dgm:t>
    </dgm:pt>
    <dgm:pt modelId="{026DA3BA-484C-4418-8AC3-0C78157FD8DB}" type="sibTrans" cxnId="{C097ECBD-0279-4DF2-8F9B-844D5880F224}">
      <dgm:prSet/>
      <dgm:spPr/>
      <dgm:t>
        <a:bodyPr/>
        <a:lstStyle/>
        <a:p>
          <a:endParaRPr lang="en-US"/>
        </a:p>
      </dgm:t>
    </dgm:pt>
    <dgm:pt modelId="{AF38B74D-C29E-47CD-98AD-3EB035540331}">
      <dgm:prSet/>
      <dgm:spPr/>
      <dgm:t>
        <a:bodyPr/>
        <a:lstStyle/>
        <a:p>
          <a:r>
            <a:rPr lang="en-US"/>
            <a:t>Registros: 2.19 millones</a:t>
          </a:r>
        </a:p>
      </dgm:t>
    </dgm:pt>
    <dgm:pt modelId="{723F7D9E-AEA0-44FA-8013-B6C13A4AB970}" type="parTrans" cxnId="{082A90CC-EEF9-4052-A5B1-AEB2DA9465DC}">
      <dgm:prSet/>
      <dgm:spPr/>
      <dgm:t>
        <a:bodyPr/>
        <a:lstStyle/>
        <a:p>
          <a:endParaRPr lang="en-US"/>
        </a:p>
      </dgm:t>
    </dgm:pt>
    <dgm:pt modelId="{98AC2782-80D5-44AA-990F-0514D8DF1B27}" type="sibTrans" cxnId="{082A90CC-EEF9-4052-A5B1-AEB2DA9465DC}">
      <dgm:prSet/>
      <dgm:spPr/>
      <dgm:t>
        <a:bodyPr/>
        <a:lstStyle/>
        <a:p>
          <a:endParaRPr lang="en-US"/>
        </a:p>
      </dgm:t>
    </dgm:pt>
    <dgm:pt modelId="{EDB3D748-E0A3-44FD-BBED-4A18490BC492}">
      <dgm:prSet/>
      <dgm:spPr/>
      <dgm:t>
        <a:bodyPr/>
        <a:lstStyle/>
        <a:p>
          <a:r>
            <a:rPr lang="en-US"/>
            <a:t>Estudiantes: 58,406</a:t>
          </a:r>
        </a:p>
      </dgm:t>
    </dgm:pt>
    <dgm:pt modelId="{8F95E5BF-6A80-4760-940B-6A6B776B8E73}" type="parTrans" cxnId="{A07E70D6-8BBD-4C86-801B-B3D88CDA53A9}">
      <dgm:prSet/>
      <dgm:spPr/>
      <dgm:t>
        <a:bodyPr/>
        <a:lstStyle/>
        <a:p>
          <a:endParaRPr lang="en-US"/>
        </a:p>
      </dgm:t>
    </dgm:pt>
    <dgm:pt modelId="{2E0BEA0C-E7EC-4F90-A06E-44908796E960}" type="sibTrans" cxnId="{A07E70D6-8BBD-4C86-801B-B3D88CDA53A9}">
      <dgm:prSet/>
      <dgm:spPr/>
      <dgm:t>
        <a:bodyPr/>
        <a:lstStyle/>
        <a:p>
          <a:endParaRPr lang="en-US"/>
        </a:p>
      </dgm:t>
    </dgm:pt>
    <dgm:pt modelId="{1A220074-CCB5-4CA8-B2D8-E04123B34C2F}">
      <dgm:prSet/>
      <dgm:spPr/>
      <dgm:t>
        <a:bodyPr/>
        <a:lstStyle/>
        <a:p>
          <a:r>
            <a:rPr lang="en-US"/>
            <a:t>Programas: 32, Escuelas: 5</a:t>
          </a:r>
        </a:p>
      </dgm:t>
    </dgm:pt>
    <dgm:pt modelId="{4667AACE-30B4-4EEB-997E-00DD19E68E29}" type="parTrans" cxnId="{D8E5458F-BC3B-4FBE-A6C4-5EC252D3AABA}">
      <dgm:prSet/>
      <dgm:spPr/>
      <dgm:t>
        <a:bodyPr/>
        <a:lstStyle/>
        <a:p>
          <a:endParaRPr lang="en-US"/>
        </a:p>
      </dgm:t>
    </dgm:pt>
    <dgm:pt modelId="{C4D7F03C-8BED-49A3-AB60-42763F5E717C}" type="sibTrans" cxnId="{D8E5458F-BC3B-4FBE-A6C4-5EC252D3AABA}">
      <dgm:prSet/>
      <dgm:spPr/>
      <dgm:t>
        <a:bodyPr/>
        <a:lstStyle/>
        <a:p>
          <a:endParaRPr lang="en-US"/>
        </a:p>
      </dgm:t>
    </dgm:pt>
    <dgm:pt modelId="{FBC96749-567D-462F-A451-034E131DB529}">
      <dgm:prSet/>
      <dgm:spPr/>
      <dgm:t>
        <a:bodyPr/>
        <a:lstStyle/>
        <a:p>
          <a:r>
            <a:rPr lang="en-US"/>
            <a:t>Variables: 36 (notas, créditos, estrato, condición socioeconómica)</a:t>
          </a:r>
        </a:p>
      </dgm:t>
    </dgm:pt>
    <dgm:pt modelId="{C6398294-79F5-482D-982D-15AB2CFC79BE}" type="parTrans" cxnId="{6A60FC58-961C-4F48-8364-043572190C14}">
      <dgm:prSet/>
      <dgm:spPr/>
      <dgm:t>
        <a:bodyPr/>
        <a:lstStyle/>
        <a:p>
          <a:endParaRPr lang="en-US"/>
        </a:p>
      </dgm:t>
    </dgm:pt>
    <dgm:pt modelId="{CEB3BE84-DE9D-4C68-9B5D-8202EA19DCBC}" type="sibTrans" cxnId="{6A60FC58-961C-4F48-8364-043572190C14}">
      <dgm:prSet/>
      <dgm:spPr/>
      <dgm:t>
        <a:bodyPr/>
        <a:lstStyle/>
        <a:p>
          <a:endParaRPr lang="en-US"/>
        </a:p>
      </dgm:t>
    </dgm:pt>
    <dgm:pt modelId="{B8DD556A-FC07-4900-A244-20426BA055E8}" type="pres">
      <dgm:prSet presAssocID="{58356434-DAD6-4652-A72E-20EB035257B5}" presName="root" presStyleCnt="0">
        <dgm:presLayoutVars>
          <dgm:dir/>
          <dgm:resizeHandles val="exact"/>
        </dgm:presLayoutVars>
      </dgm:prSet>
      <dgm:spPr/>
    </dgm:pt>
    <dgm:pt modelId="{B5A8D65D-0D04-435E-9F47-7869B481C877}" type="pres">
      <dgm:prSet presAssocID="{BAD5498E-C884-4E41-931E-DACF7D4E443F}" presName="compNode" presStyleCnt="0"/>
      <dgm:spPr/>
    </dgm:pt>
    <dgm:pt modelId="{C6BB6854-C2FB-4A32-B080-574B69C71C89}" type="pres">
      <dgm:prSet presAssocID="{BAD5498E-C884-4E41-931E-DACF7D4E443F}" presName="bgRect" presStyleLbl="bgShp" presStyleIdx="0" presStyleCnt="5"/>
      <dgm:spPr/>
    </dgm:pt>
    <dgm:pt modelId="{97D8CA27-A610-44D0-9767-51D857B5D821}" type="pres">
      <dgm:prSet presAssocID="{BAD5498E-C884-4E41-931E-DACF7D4E443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terfall scene"/>
        </a:ext>
      </dgm:extLst>
    </dgm:pt>
    <dgm:pt modelId="{4ED3FB8C-CFD9-4D43-9A8D-A00D4F53EE7C}" type="pres">
      <dgm:prSet presAssocID="{BAD5498E-C884-4E41-931E-DACF7D4E443F}" presName="spaceRect" presStyleCnt="0"/>
      <dgm:spPr/>
    </dgm:pt>
    <dgm:pt modelId="{0B28CDAB-3C14-4A4A-ADAB-0015B71832E0}" type="pres">
      <dgm:prSet presAssocID="{BAD5498E-C884-4E41-931E-DACF7D4E443F}" presName="parTx" presStyleLbl="revTx" presStyleIdx="0" presStyleCnt="5">
        <dgm:presLayoutVars>
          <dgm:chMax val="0"/>
          <dgm:chPref val="0"/>
        </dgm:presLayoutVars>
      </dgm:prSet>
      <dgm:spPr/>
    </dgm:pt>
    <dgm:pt modelId="{AE034266-4A24-4556-A933-BC25ED6B8EA6}" type="pres">
      <dgm:prSet presAssocID="{026DA3BA-484C-4418-8AC3-0C78157FD8DB}" presName="sibTrans" presStyleCnt="0"/>
      <dgm:spPr/>
    </dgm:pt>
    <dgm:pt modelId="{E66163CE-D0AD-42F0-B7BC-05FA46924A80}" type="pres">
      <dgm:prSet presAssocID="{AF38B74D-C29E-47CD-98AD-3EB035540331}" presName="compNode" presStyleCnt="0"/>
      <dgm:spPr/>
    </dgm:pt>
    <dgm:pt modelId="{7E515846-66CE-4021-933C-48ACA6FE488E}" type="pres">
      <dgm:prSet presAssocID="{AF38B74D-C29E-47CD-98AD-3EB035540331}" presName="bgRect" presStyleLbl="bgShp" presStyleIdx="1" presStyleCnt="5"/>
      <dgm:spPr/>
    </dgm:pt>
    <dgm:pt modelId="{3F9A1147-328E-495F-8F38-6CBD1C3D36CA}" type="pres">
      <dgm:prSet presAssocID="{AF38B74D-C29E-47CD-98AD-3EB03554033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o"/>
        </a:ext>
      </dgm:extLst>
    </dgm:pt>
    <dgm:pt modelId="{6926B1B7-0916-4023-A40B-DBCE39161CC2}" type="pres">
      <dgm:prSet presAssocID="{AF38B74D-C29E-47CD-98AD-3EB035540331}" presName="spaceRect" presStyleCnt="0"/>
      <dgm:spPr/>
    </dgm:pt>
    <dgm:pt modelId="{A3A8651A-663F-4FD9-8554-42B0FB7FF650}" type="pres">
      <dgm:prSet presAssocID="{AF38B74D-C29E-47CD-98AD-3EB035540331}" presName="parTx" presStyleLbl="revTx" presStyleIdx="1" presStyleCnt="5">
        <dgm:presLayoutVars>
          <dgm:chMax val="0"/>
          <dgm:chPref val="0"/>
        </dgm:presLayoutVars>
      </dgm:prSet>
      <dgm:spPr/>
    </dgm:pt>
    <dgm:pt modelId="{3B50A5F3-AB02-4D79-9135-CA9BF96AC1DF}" type="pres">
      <dgm:prSet presAssocID="{98AC2782-80D5-44AA-990F-0514D8DF1B27}" presName="sibTrans" presStyleCnt="0"/>
      <dgm:spPr/>
    </dgm:pt>
    <dgm:pt modelId="{E6923019-F99A-46DA-BB41-E6D097A667B9}" type="pres">
      <dgm:prSet presAssocID="{EDB3D748-E0A3-44FD-BBED-4A18490BC492}" presName="compNode" presStyleCnt="0"/>
      <dgm:spPr/>
    </dgm:pt>
    <dgm:pt modelId="{1DA2FBD0-78F2-47A7-871A-45E26DE0EBCD}" type="pres">
      <dgm:prSet presAssocID="{EDB3D748-E0A3-44FD-BBED-4A18490BC492}" presName="bgRect" presStyleLbl="bgShp" presStyleIdx="2" presStyleCnt="5"/>
      <dgm:spPr/>
    </dgm:pt>
    <dgm:pt modelId="{006032A2-348E-4C01-88B0-DD479A6AD0E2}" type="pres">
      <dgm:prSet presAssocID="{EDB3D748-E0A3-44FD-BBED-4A18490BC49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ula de clases"/>
        </a:ext>
      </dgm:extLst>
    </dgm:pt>
    <dgm:pt modelId="{990B517C-4BAE-4C1E-AF54-86ABE4B1495F}" type="pres">
      <dgm:prSet presAssocID="{EDB3D748-E0A3-44FD-BBED-4A18490BC492}" presName="spaceRect" presStyleCnt="0"/>
      <dgm:spPr/>
    </dgm:pt>
    <dgm:pt modelId="{FD0364E4-988B-4CFA-A7A7-F11E7B2F690D}" type="pres">
      <dgm:prSet presAssocID="{EDB3D748-E0A3-44FD-BBED-4A18490BC492}" presName="parTx" presStyleLbl="revTx" presStyleIdx="2" presStyleCnt="5">
        <dgm:presLayoutVars>
          <dgm:chMax val="0"/>
          <dgm:chPref val="0"/>
        </dgm:presLayoutVars>
      </dgm:prSet>
      <dgm:spPr/>
    </dgm:pt>
    <dgm:pt modelId="{B863F479-E486-4181-A8A3-1E4D3C7C5CC4}" type="pres">
      <dgm:prSet presAssocID="{2E0BEA0C-E7EC-4F90-A06E-44908796E960}" presName="sibTrans" presStyleCnt="0"/>
      <dgm:spPr/>
    </dgm:pt>
    <dgm:pt modelId="{62B2FC27-62CA-4E6C-A0CA-BD29BE6B923E}" type="pres">
      <dgm:prSet presAssocID="{1A220074-CCB5-4CA8-B2D8-E04123B34C2F}" presName="compNode" presStyleCnt="0"/>
      <dgm:spPr/>
    </dgm:pt>
    <dgm:pt modelId="{0284FA4E-40DD-4B3C-A1F4-CCC5696E2080}" type="pres">
      <dgm:prSet presAssocID="{1A220074-CCB5-4CA8-B2D8-E04123B34C2F}" presName="bgRect" presStyleLbl="bgShp" presStyleIdx="3" presStyleCnt="5"/>
      <dgm:spPr/>
    </dgm:pt>
    <dgm:pt modelId="{9FBF4024-3A80-4310-BF23-3BDD1EF5F05D}" type="pres">
      <dgm:prSet presAssocID="{1A220074-CCB5-4CA8-B2D8-E04123B34C2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entro educativo"/>
        </a:ext>
      </dgm:extLst>
    </dgm:pt>
    <dgm:pt modelId="{C620BA76-C555-47D3-BF84-ACA1152F0629}" type="pres">
      <dgm:prSet presAssocID="{1A220074-CCB5-4CA8-B2D8-E04123B34C2F}" presName="spaceRect" presStyleCnt="0"/>
      <dgm:spPr/>
    </dgm:pt>
    <dgm:pt modelId="{F12F50E4-CEE7-4376-A885-6C7DB2D18BD6}" type="pres">
      <dgm:prSet presAssocID="{1A220074-CCB5-4CA8-B2D8-E04123B34C2F}" presName="parTx" presStyleLbl="revTx" presStyleIdx="3" presStyleCnt="5">
        <dgm:presLayoutVars>
          <dgm:chMax val="0"/>
          <dgm:chPref val="0"/>
        </dgm:presLayoutVars>
      </dgm:prSet>
      <dgm:spPr/>
    </dgm:pt>
    <dgm:pt modelId="{F518F155-E5FB-42B2-8EF1-0602D1958BD5}" type="pres">
      <dgm:prSet presAssocID="{C4D7F03C-8BED-49A3-AB60-42763F5E717C}" presName="sibTrans" presStyleCnt="0"/>
      <dgm:spPr/>
    </dgm:pt>
    <dgm:pt modelId="{D94AA3F2-3BDF-46A5-B222-049CEDF69589}" type="pres">
      <dgm:prSet presAssocID="{FBC96749-567D-462F-A451-034E131DB529}" presName="compNode" presStyleCnt="0"/>
      <dgm:spPr/>
    </dgm:pt>
    <dgm:pt modelId="{B8BA2668-FB2B-4DB7-B400-D101EF1CE4D4}" type="pres">
      <dgm:prSet presAssocID="{FBC96749-567D-462F-A451-034E131DB529}" presName="bgRect" presStyleLbl="bgShp" presStyleIdx="4" presStyleCnt="5"/>
      <dgm:spPr/>
    </dgm:pt>
    <dgm:pt modelId="{1DB8BFEB-8CA5-43EC-ABCF-00D4429A32AD}" type="pres">
      <dgm:prSet presAssocID="{FBC96749-567D-462F-A451-034E131DB52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ospital"/>
        </a:ext>
      </dgm:extLst>
    </dgm:pt>
    <dgm:pt modelId="{2EA633A8-008E-4175-9578-B6F480C7A062}" type="pres">
      <dgm:prSet presAssocID="{FBC96749-567D-462F-A451-034E131DB529}" presName="spaceRect" presStyleCnt="0"/>
      <dgm:spPr/>
    </dgm:pt>
    <dgm:pt modelId="{BB2FE747-A05E-4B4D-AE32-836DAE185CC0}" type="pres">
      <dgm:prSet presAssocID="{FBC96749-567D-462F-A451-034E131DB529}" presName="parTx" presStyleLbl="revTx" presStyleIdx="4" presStyleCnt="5">
        <dgm:presLayoutVars>
          <dgm:chMax val="0"/>
          <dgm:chPref val="0"/>
        </dgm:presLayoutVars>
      </dgm:prSet>
      <dgm:spPr/>
    </dgm:pt>
  </dgm:ptLst>
  <dgm:cxnLst>
    <dgm:cxn modelId="{04030607-42FA-4E65-93AE-06EA450AF6C2}" type="presOf" srcId="{1A220074-CCB5-4CA8-B2D8-E04123B34C2F}" destId="{F12F50E4-CEE7-4376-A885-6C7DB2D18BD6}" srcOrd="0" destOrd="0" presId="urn:microsoft.com/office/officeart/2018/2/layout/IconVerticalSolidList"/>
    <dgm:cxn modelId="{2486D507-6055-43D7-8ED3-EBC8CED993D5}" type="presOf" srcId="{FBC96749-567D-462F-A451-034E131DB529}" destId="{BB2FE747-A05E-4B4D-AE32-836DAE185CC0}" srcOrd="0" destOrd="0" presId="urn:microsoft.com/office/officeart/2018/2/layout/IconVerticalSolidList"/>
    <dgm:cxn modelId="{95A6C20A-CE06-4940-A056-9F54892923B7}" type="presOf" srcId="{EDB3D748-E0A3-44FD-BBED-4A18490BC492}" destId="{FD0364E4-988B-4CFA-A7A7-F11E7B2F690D}" srcOrd="0" destOrd="0" presId="urn:microsoft.com/office/officeart/2018/2/layout/IconVerticalSolidList"/>
    <dgm:cxn modelId="{A17A285B-BF28-45B4-9B97-528F8C439B5F}" type="presOf" srcId="{58356434-DAD6-4652-A72E-20EB035257B5}" destId="{B8DD556A-FC07-4900-A244-20426BA055E8}" srcOrd="0" destOrd="0" presId="urn:microsoft.com/office/officeart/2018/2/layout/IconVerticalSolidList"/>
    <dgm:cxn modelId="{1471BD69-3F46-4AFD-BAD6-23C8DA82141F}" type="presOf" srcId="{BAD5498E-C884-4E41-931E-DACF7D4E443F}" destId="{0B28CDAB-3C14-4A4A-ADAB-0015B71832E0}" srcOrd="0" destOrd="0" presId="urn:microsoft.com/office/officeart/2018/2/layout/IconVerticalSolidList"/>
    <dgm:cxn modelId="{6A60FC58-961C-4F48-8364-043572190C14}" srcId="{58356434-DAD6-4652-A72E-20EB035257B5}" destId="{FBC96749-567D-462F-A451-034E131DB529}" srcOrd="4" destOrd="0" parTransId="{C6398294-79F5-482D-982D-15AB2CFC79BE}" sibTransId="{CEB3BE84-DE9D-4C68-9B5D-8202EA19DCBC}"/>
    <dgm:cxn modelId="{D8E5458F-BC3B-4FBE-A6C4-5EC252D3AABA}" srcId="{58356434-DAD6-4652-A72E-20EB035257B5}" destId="{1A220074-CCB5-4CA8-B2D8-E04123B34C2F}" srcOrd="3" destOrd="0" parTransId="{4667AACE-30B4-4EEB-997E-00DD19E68E29}" sibTransId="{C4D7F03C-8BED-49A3-AB60-42763F5E717C}"/>
    <dgm:cxn modelId="{C097ECBD-0279-4DF2-8F9B-844D5880F224}" srcId="{58356434-DAD6-4652-A72E-20EB035257B5}" destId="{BAD5498E-C884-4E41-931E-DACF7D4E443F}" srcOrd="0" destOrd="0" parTransId="{49BEB169-FDBA-4727-9953-ACFBE1AA36F8}" sibTransId="{026DA3BA-484C-4418-8AC3-0C78157FD8DB}"/>
    <dgm:cxn modelId="{082A90CC-EEF9-4052-A5B1-AEB2DA9465DC}" srcId="{58356434-DAD6-4652-A72E-20EB035257B5}" destId="{AF38B74D-C29E-47CD-98AD-3EB035540331}" srcOrd="1" destOrd="0" parTransId="{723F7D9E-AEA0-44FA-8013-B6C13A4AB970}" sibTransId="{98AC2782-80D5-44AA-990F-0514D8DF1B27}"/>
    <dgm:cxn modelId="{80CC04D1-6105-4666-BF58-80774D13483C}" type="presOf" srcId="{AF38B74D-C29E-47CD-98AD-3EB035540331}" destId="{A3A8651A-663F-4FD9-8554-42B0FB7FF650}" srcOrd="0" destOrd="0" presId="urn:microsoft.com/office/officeart/2018/2/layout/IconVerticalSolidList"/>
    <dgm:cxn modelId="{A07E70D6-8BBD-4C86-801B-B3D88CDA53A9}" srcId="{58356434-DAD6-4652-A72E-20EB035257B5}" destId="{EDB3D748-E0A3-44FD-BBED-4A18490BC492}" srcOrd="2" destOrd="0" parTransId="{8F95E5BF-6A80-4760-940B-6A6B776B8E73}" sibTransId="{2E0BEA0C-E7EC-4F90-A06E-44908796E960}"/>
    <dgm:cxn modelId="{834B79D0-CDBF-4012-94D7-D378653A9BB0}" type="presParOf" srcId="{B8DD556A-FC07-4900-A244-20426BA055E8}" destId="{B5A8D65D-0D04-435E-9F47-7869B481C877}" srcOrd="0" destOrd="0" presId="urn:microsoft.com/office/officeart/2018/2/layout/IconVerticalSolidList"/>
    <dgm:cxn modelId="{79DDDFAA-2D92-47E6-8144-747841CB61F2}" type="presParOf" srcId="{B5A8D65D-0D04-435E-9F47-7869B481C877}" destId="{C6BB6854-C2FB-4A32-B080-574B69C71C89}" srcOrd="0" destOrd="0" presId="urn:microsoft.com/office/officeart/2018/2/layout/IconVerticalSolidList"/>
    <dgm:cxn modelId="{1A572ECE-E4E2-409F-88E0-698391C5E346}" type="presParOf" srcId="{B5A8D65D-0D04-435E-9F47-7869B481C877}" destId="{97D8CA27-A610-44D0-9767-51D857B5D821}" srcOrd="1" destOrd="0" presId="urn:microsoft.com/office/officeart/2018/2/layout/IconVerticalSolidList"/>
    <dgm:cxn modelId="{4B23F3A8-BF8A-4029-8DC1-D1C63973AB31}" type="presParOf" srcId="{B5A8D65D-0D04-435E-9F47-7869B481C877}" destId="{4ED3FB8C-CFD9-4D43-9A8D-A00D4F53EE7C}" srcOrd="2" destOrd="0" presId="urn:microsoft.com/office/officeart/2018/2/layout/IconVerticalSolidList"/>
    <dgm:cxn modelId="{D5FCC988-1EDC-493A-A997-58A8A2556067}" type="presParOf" srcId="{B5A8D65D-0D04-435E-9F47-7869B481C877}" destId="{0B28CDAB-3C14-4A4A-ADAB-0015B71832E0}" srcOrd="3" destOrd="0" presId="urn:microsoft.com/office/officeart/2018/2/layout/IconVerticalSolidList"/>
    <dgm:cxn modelId="{8DE06C92-18CA-42D9-B325-F43D2461E0AB}" type="presParOf" srcId="{B8DD556A-FC07-4900-A244-20426BA055E8}" destId="{AE034266-4A24-4556-A933-BC25ED6B8EA6}" srcOrd="1" destOrd="0" presId="urn:microsoft.com/office/officeart/2018/2/layout/IconVerticalSolidList"/>
    <dgm:cxn modelId="{ADA48586-45E5-4C96-B6BB-EBA2E845A5C5}" type="presParOf" srcId="{B8DD556A-FC07-4900-A244-20426BA055E8}" destId="{E66163CE-D0AD-42F0-B7BC-05FA46924A80}" srcOrd="2" destOrd="0" presId="urn:microsoft.com/office/officeart/2018/2/layout/IconVerticalSolidList"/>
    <dgm:cxn modelId="{3E7EBDA7-3C45-40D6-BF79-54449DFCECE5}" type="presParOf" srcId="{E66163CE-D0AD-42F0-B7BC-05FA46924A80}" destId="{7E515846-66CE-4021-933C-48ACA6FE488E}" srcOrd="0" destOrd="0" presId="urn:microsoft.com/office/officeart/2018/2/layout/IconVerticalSolidList"/>
    <dgm:cxn modelId="{99244F9C-56A7-496F-9C42-E3E5E63A073E}" type="presParOf" srcId="{E66163CE-D0AD-42F0-B7BC-05FA46924A80}" destId="{3F9A1147-328E-495F-8F38-6CBD1C3D36CA}" srcOrd="1" destOrd="0" presId="urn:microsoft.com/office/officeart/2018/2/layout/IconVerticalSolidList"/>
    <dgm:cxn modelId="{2A5DE900-E31B-4A6B-8D85-0B1B0FC2696C}" type="presParOf" srcId="{E66163CE-D0AD-42F0-B7BC-05FA46924A80}" destId="{6926B1B7-0916-4023-A40B-DBCE39161CC2}" srcOrd="2" destOrd="0" presId="urn:microsoft.com/office/officeart/2018/2/layout/IconVerticalSolidList"/>
    <dgm:cxn modelId="{1C234701-A95C-451E-80DD-F4E723E18D4E}" type="presParOf" srcId="{E66163CE-D0AD-42F0-B7BC-05FA46924A80}" destId="{A3A8651A-663F-4FD9-8554-42B0FB7FF650}" srcOrd="3" destOrd="0" presId="urn:microsoft.com/office/officeart/2018/2/layout/IconVerticalSolidList"/>
    <dgm:cxn modelId="{80D55462-1A67-4928-9948-E30B08CEF659}" type="presParOf" srcId="{B8DD556A-FC07-4900-A244-20426BA055E8}" destId="{3B50A5F3-AB02-4D79-9135-CA9BF96AC1DF}" srcOrd="3" destOrd="0" presId="urn:microsoft.com/office/officeart/2018/2/layout/IconVerticalSolidList"/>
    <dgm:cxn modelId="{3A8CF2E7-58CA-4ABB-9C1A-DD5C4ADB8380}" type="presParOf" srcId="{B8DD556A-FC07-4900-A244-20426BA055E8}" destId="{E6923019-F99A-46DA-BB41-E6D097A667B9}" srcOrd="4" destOrd="0" presId="urn:microsoft.com/office/officeart/2018/2/layout/IconVerticalSolidList"/>
    <dgm:cxn modelId="{D6259644-9876-4AD7-A6A3-E3FF9F811238}" type="presParOf" srcId="{E6923019-F99A-46DA-BB41-E6D097A667B9}" destId="{1DA2FBD0-78F2-47A7-871A-45E26DE0EBCD}" srcOrd="0" destOrd="0" presId="urn:microsoft.com/office/officeart/2018/2/layout/IconVerticalSolidList"/>
    <dgm:cxn modelId="{6C7516BD-3ED5-4937-823A-5F876650ECCF}" type="presParOf" srcId="{E6923019-F99A-46DA-BB41-E6D097A667B9}" destId="{006032A2-348E-4C01-88B0-DD479A6AD0E2}" srcOrd="1" destOrd="0" presId="urn:microsoft.com/office/officeart/2018/2/layout/IconVerticalSolidList"/>
    <dgm:cxn modelId="{70B0C780-A521-45A4-8DD0-6F74BB68C9F2}" type="presParOf" srcId="{E6923019-F99A-46DA-BB41-E6D097A667B9}" destId="{990B517C-4BAE-4C1E-AF54-86ABE4B1495F}" srcOrd="2" destOrd="0" presId="urn:microsoft.com/office/officeart/2018/2/layout/IconVerticalSolidList"/>
    <dgm:cxn modelId="{A9421AA5-E010-4E8A-B526-73FCFE77BAFE}" type="presParOf" srcId="{E6923019-F99A-46DA-BB41-E6D097A667B9}" destId="{FD0364E4-988B-4CFA-A7A7-F11E7B2F690D}" srcOrd="3" destOrd="0" presId="urn:microsoft.com/office/officeart/2018/2/layout/IconVerticalSolidList"/>
    <dgm:cxn modelId="{449EF751-31CB-47A5-BA75-DEE79DBFC2A4}" type="presParOf" srcId="{B8DD556A-FC07-4900-A244-20426BA055E8}" destId="{B863F479-E486-4181-A8A3-1E4D3C7C5CC4}" srcOrd="5" destOrd="0" presId="urn:microsoft.com/office/officeart/2018/2/layout/IconVerticalSolidList"/>
    <dgm:cxn modelId="{355FFDD9-444E-4C87-8021-B1EDC6EC21D1}" type="presParOf" srcId="{B8DD556A-FC07-4900-A244-20426BA055E8}" destId="{62B2FC27-62CA-4E6C-A0CA-BD29BE6B923E}" srcOrd="6" destOrd="0" presId="urn:microsoft.com/office/officeart/2018/2/layout/IconVerticalSolidList"/>
    <dgm:cxn modelId="{829794F4-C090-42B2-B34A-B3978E53DF9C}" type="presParOf" srcId="{62B2FC27-62CA-4E6C-A0CA-BD29BE6B923E}" destId="{0284FA4E-40DD-4B3C-A1F4-CCC5696E2080}" srcOrd="0" destOrd="0" presId="urn:microsoft.com/office/officeart/2018/2/layout/IconVerticalSolidList"/>
    <dgm:cxn modelId="{C3C7721E-C42B-454E-A615-B9B2250F9B13}" type="presParOf" srcId="{62B2FC27-62CA-4E6C-A0CA-BD29BE6B923E}" destId="{9FBF4024-3A80-4310-BF23-3BDD1EF5F05D}" srcOrd="1" destOrd="0" presId="urn:microsoft.com/office/officeart/2018/2/layout/IconVerticalSolidList"/>
    <dgm:cxn modelId="{55324256-32E9-43C7-B86C-18CCDD3EF65D}" type="presParOf" srcId="{62B2FC27-62CA-4E6C-A0CA-BD29BE6B923E}" destId="{C620BA76-C555-47D3-BF84-ACA1152F0629}" srcOrd="2" destOrd="0" presId="urn:microsoft.com/office/officeart/2018/2/layout/IconVerticalSolidList"/>
    <dgm:cxn modelId="{6F24B2C0-A18C-45E0-979A-F4B41D7B3E7F}" type="presParOf" srcId="{62B2FC27-62CA-4E6C-A0CA-BD29BE6B923E}" destId="{F12F50E4-CEE7-4376-A885-6C7DB2D18BD6}" srcOrd="3" destOrd="0" presId="urn:microsoft.com/office/officeart/2018/2/layout/IconVerticalSolidList"/>
    <dgm:cxn modelId="{954A24E1-FA7B-4B58-9B0F-C8B0083EED2C}" type="presParOf" srcId="{B8DD556A-FC07-4900-A244-20426BA055E8}" destId="{F518F155-E5FB-42B2-8EF1-0602D1958BD5}" srcOrd="7" destOrd="0" presId="urn:microsoft.com/office/officeart/2018/2/layout/IconVerticalSolidList"/>
    <dgm:cxn modelId="{66F86409-7EA2-4FDF-A2C9-821C6905695D}" type="presParOf" srcId="{B8DD556A-FC07-4900-A244-20426BA055E8}" destId="{D94AA3F2-3BDF-46A5-B222-049CEDF69589}" srcOrd="8" destOrd="0" presId="urn:microsoft.com/office/officeart/2018/2/layout/IconVerticalSolidList"/>
    <dgm:cxn modelId="{DFDF565D-54DD-4EC4-8C29-B04048D80513}" type="presParOf" srcId="{D94AA3F2-3BDF-46A5-B222-049CEDF69589}" destId="{B8BA2668-FB2B-4DB7-B400-D101EF1CE4D4}" srcOrd="0" destOrd="0" presId="urn:microsoft.com/office/officeart/2018/2/layout/IconVerticalSolidList"/>
    <dgm:cxn modelId="{C5E8BA71-97AF-47EF-937D-6C843563444E}" type="presParOf" srcId="{D94AA3F2-3BDF-46A5-B222-049CEDF69589}" destId="{1DB8BFEB-8CA5-43EC-ABCF-00D4429A32AD}" srcOrd="1" destOrd="0" presId="urn:microsoft.com/office/officeart/2018/2/layout/IconVerticalSolidList"/>
    <dgm:cxn modelId="{70802101-485A-4A2B-998B-C7D7A941827C}" type="presParOf" srcId="{D94AA3F2-3BDF-46A5-B222-049CEDF69589}" destId="{2EA633A8-008E-4175-9578-B6F480C7A062}" srcOrd="2" destOrd="0" presId="urn:microsoft.com/office/officeart/2018/2/layout/IconVerticalSolidList"/>
    <dgm:cxn modelId="{563CCA22-F737-4AAB-A041-0129D698F023}" type="presParOf" srcId="{D94AA3F2-3BDF-46A5-B222-049CEDF69589}" destId="{BB2FE747-A05E-4B4D-AE32-836DAE185CC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A25806-F9B8-4BB1-BE3B-EBC96A4B902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53F45E8-0481-4DCC-818D-76EF5F464E34}">
      <dgm:prSet/>
      <dgm:spPr/>
      <dgm:t>
        <a:bodyPr/>
        <a:lstStyle/>
        <a:p>
          <a:r>
            <a:rPr lang="es-CO"/>
            <a:t>Las materias con mayor peso predictivo fueron </a:t>
          </a:r>
          <a:r>
            <a:rPr lang="es-CO" b="1" i="1"/>
            <a:t>Ecuaciones Diferenciales, Estadística y Álgebra Lineal </a:t>
          </a:r>
          <a:r>
            <a:rPr lang="es-CO"/>
            <a:t>— indicadores tempranos del riesgo de deserción.</a:t>
          </a:r>
          <a:endParaRPr lang="en-US"/>
        </a:p>
      </dgm:t>
    </dgm:pt>
    <dgm:pt modelId="{0802EBD9-575D-413D-903D-EA651331EBDD}" type="parTrans" cxnId="{925C6C64-5298-4012-9648-EFFE6FCBD8E7}">
      <dgm:prSet/>
      <dgm:spPr/>
      <dgm:t>
        <a:bodyPr/>
        <a:lstStyle/>
        <a:p>
          <a:endParaRPr lang="en-US"/>
        </a:p>
      </dgm:t>
    </dgm:pt>
    <dgm:pt modelId="{B816EBA9-1355-48F3-B9F0-A84A99E47CE7}" type="sibTrans" cxnId="{925C6C64-5298-4012-9648-EFFE6FCBD8E7}">
      <dgm:prSet/>
      <dgm:spPr/>
      <dgm:t>
        <a:bodyPr/>
        <a:lstStyle/>
        <a:p>
          <a:endParaRPr lang="en-US"/>
        </a:p>
      </dgm:t>
    </dgm:pt>
    <dgm:pt modelId="{CEADC751-3622-4DF4-886B-41B51BC3DCB0}">
      <dgm:prSet/>
      <dgm:spPr/>
      <dgm:t>
        <a:bodyPr/>
        <a:lstStyle/>
        <a:p>
          <a:r>
            <a:rPr lang="es-CO" b="1" i="1"/>
            <a:t>Física I y Cálculo I </a:t>
          </a:r>
          <a:r>
            <a:rPr lang="es-CO"/>
            <a:t>funcionan como asignaturas de detección temprana, útiles para seguimiento longitudinal.</a:t>
          </a:r>
          <a:endParaRPr lang="en-US"/>
        </a:p>
      </dgm:t>
    </dgm:pt>
    <dgm:pt modelId="{4BB31796-B108-421F-BF89-3D09B9FFCFBE}" type="parTrans" cxnId="{6557BE60-60E2-4D11-9D3C-F06A3C64BF27}">
      <dgm:prSet/>
      <dgm:spPr/>
      <dgm:t>
        <a:bodyPr/>
        <a:lstStyle/>
        <a:p>
          <a:endParaRPr lang="en-US"/>
        </a:p>
      </dgm:t>
    </dgm:pt>
    <dgm:pt modelId="{D977F24B-3AD5-4C3E-B9DF-6AF6606B8375}" type="sibTrans" cxnId="{6557BE60-60E2-4D11-9D3C-F06A3C64BF27}">
      <dgm:prSet/>
      <dgm:spPr/>
      <dgm:t>
        <a:bodyPr/>
        <a:lstStyle/>
        <a:p>
          <a:endParaRPr lang="en-US"/>
        </a:p>
      </dgm:t>
    </dgm:pt>
    <dgm:pt modelId="{BF16D9CA-0F59-4942-BCCA-52763A547C75}">
      <dgm:prSet/>
      <dgm:spPr/>
      <dgm:t>
        <a:bodyPr/>
        <a:lstStyle/>
        <a:p>
          <a:r>
            <a:rPr lang="es-CO" b="1" i="1"/>
            <a:t>El riesgo aumentó entre 2020–2021</a:t>
          </a:r>
          <a:r>
            <a:rPr lang="es-CO"/>
            <a:t>, coincidiendo con la pandemia y la virtualidad.</a:t>
          </a:r>
          <a:endParaRPr lang="en-US"/>
        </a:p>
      </dgm:t>
    </dgm:pt>
    <dgm:pt modelId="{69BBE728-4D05-46BE-A7C9-782F3917022F}" type="parTrans" cxnId="{3C582E46-4EFB-4493-AF4A-728647C87776}">
      <dgm:prSet/>
      <dgm:spPr/>
      <dgm:t>
        <a:bodyPr/>
        <a:lstStyle/>
        <a:p>
          <a:endParaRPr lang="en-US"/>
        </a:p>
      </dgm:t>
    </dgm:pt>
    <dgm:pt modelId="{42BAB71B-9C48-48C1-92BB-BAABEC7F881F}" type="sibTrans" cxnId="{3C582E46-4EFB-4493-AF4A-728647C87776}">
      <dgm:prSet/>
      <dgm:spPr/>
      <dgm:t>
        <a:bodyPr/>
        <a:lstStyle/>
        <a:p>
          <a:endParaRPr lang="en-US"/>
        </a:p>
      </dgm:t>
    </dgm:pt>
    <dgm:pt modelId="{BFF90C76-2A56-4772-98F3-7F436DACF753}">
      <dgm:prSet/>
      <dgm:spPr/>
      <dgm:t>
        <a:bodyPr/>
        <a:lstStyle/>
        <a:p>
          <a:r>
            <a:rPr lang="es-CO"/>
            <a:t>Los programas con </a:t>
          </a:r>
          <a:r>
            <a:rPr lang="es-CO" b="1" i="1"/>
            <a:t>mayor probabilidad de abandono son Ingeniería Agronómica, Sistemas y Mecánica.</a:t>
          </a:r>
          <a:endParaRPr lang="en-US"/>
        </a:p>
      </dgm:t>
    </dgm:pt>
    <dgm:pt modelId="{2548F303-588A-4B7E-B164-D8EDDD1A8FFD}" type="parTrans" cxnId="{C9117140-B848-4730-8BEC-25AC9A1DF425}">
      <dgm:prSet/>
      <dgm:spPr/>
      <dgm:t>
        <a:bodyPr/>
        <a:lstStyle/>
        <a:p>
          <a:endParaRPr lang="en-US"/>
        </a:p>
      </dgm:t>
    </dgm:pt>
    <dgm:pt modelId="{FA028DC8-8AED-42C8-AF6F-EE2C2CC1EDEB}" type="sibTrans" cxnId="{C9117140-B848-4730-8BEC-25AC9A1DF425}">
      <dgm:prSet/>
      <dgm:spPr/>
      <dgm:t>
        <a:bodyPr/>
        <a:lstStyle/>
        <a:p>
          <a:endParaRPr lang="en-US"/>
        </a:p>
      </dgm:t>
    </dgm:pt>
    <dgm:pt modelId="{CE71C5C1-334E-4025-B4FC-5AD2AFCA73F7}">
      <dgm:prSet/>
      <dgm:spPr/>
      <dgm:t>
        <a:bodyPr/>
        <a:lstStyle/>
        <a:p>
          <a:r>
            <a:rPr lang="es-CO"/>
            <a:t>La consistencia entre modelos confirma que </a:t>
          </a:r>
          <a:r>
            <a:rPr lang="es-CO" b="1" i="1"/>
            <a:t>el rendimiento académico inicial es un predictor sólido y replicable.</a:t>
          </a:r>
          <a:endParaRPr lang="en-US"/>
        </a:p>
      </dgm:t>
    </dgm:pt>
    <dgm:pt modelId="{1FED5963-E302-415C-91E3-04CC7154A915}" type="parTrans" cxnId="{92FD3A64-DF8C-4DF9-8A4A-0215FFC18CC9}">
      <dgm:prSet/>
      <dgm:spPr/>
      <dgm:t>
        <a:bodyPr/>
        <a:lstStyle/>
        <a:p>
          <a:endParaRPr lang="en-US"/>
        </a:p>
      </dgm:t>
    </dgm:pt>
    <dgm:pt modelId="{026B529A-5034-49E9-BDAE-8242BFAE9CC2}" type="sibTrans" cxnId="{92FD3A64-DF8C-4DF9-8A4A-0215FFC18CC9}">
      <dgm:prSet/>
      <dgm:spPr/>
      <dgm:t>
        <a:bodyPr/>
        <a:lstStyle/>
        <a:p>
          <a:endParaRPr lang="en-US"/>
        </a:p>
      </dgm:t>
    </dgm:pt>
    <dgm:pt modelId="{2DEAE9B7-FC3C-4AAD-9A47-4C04F8D71EC9}">
      <dgm:prSet/>
      <dgm:spPr/>
      <dgm:t>
        <a:bodyPr/>
        <a:lstStyle/>
        <a:p>
          <a:r>
            <a:rPr lang="es-CO"/>
            <a:t>XGBoost y Random Forest destacan Ecuaciones y Estadística; MLP distribuye la importancia de forma más equilibrada.</a:t>
          </a:r>
          <a:endParaRPr lang="en-US"/>
        </a:p>
      </dgm:t>
    </dgm:pt>
    <dgm:pt modelId="{1877CEC8-4458-4496-9000-692AE2CD6FA3}" type="parTrans" cxnId="{06E7BDB2-13C2-45FC-8AFA-D0F461DC1219}">
      <dgm:prSet/>
      <dgm:spPr/>
      <dgm:t>
        <a:bodyPr/>
        <a:lstStyle/>
        <a:p>
          <a:endParaRPr lang="en-US"/>
        </a:p>
      </dgm:t>
    </dgm:pt>
    <dgm:pt modelId="{5CD30CB4-4331-4894-81EB-431AFC99FE4F}" type="sibTrans" cxnId="{06E7BDB2-13C2-45FC-8AFA-D0F461DC1219}">
      <dgm:prSet/>
      <dgm:spPr/>
      <dgm:t>
        <a:bodyPr/>
        <a:lstStyle/>
        <a:p>
          <a:endParaRPr lang="en-US"/>
        </a:p>
      </dgm:t>
    </dgm:pt>
    <dgm:pt modelId="{CC0C5DC0-E244-4C2E-BFB2-A8A29DC7620C}" type="pres">
      <dgm:prSet presAssocID="{4BA25806-F9B8-4BB1-BE3B-EBC96A4B9028}" presName="linear" presStyleCnt="0">
        <dgm:presLayoutVars>
          <dgm:animLvl val="lvl"/>
          <dgm:resizeHandles val="exact"/>
        </dgm:presLayoutVars>
      </dgm:prSet>
      <dgm:spPr/>
    </dgm:pt>
    <dgm:pt modelId="{7B548DF2-0EBE-4D6A-9793-B4F648761BA6}" type="pres">
      <dgm:prSet presAssocID="{E53F45E8-0481-4DCC-818D-76EF5F464E34}" presName="parentText" presStyleLbl="node1" presStyleIdx="0" presStyleCnt="6">
        <dgm:presLayoutVars>
          <dgm:chMax val="0"/>
          <dgm:bulletEnabled val="1"/>
        </dgm:presLayoutVars>
      </dgm:prSet>
      <dgm:spPr/>
    </dgm:pt>
    <dgm:pt modelId="{75A925E1-065A-4D99-A127-8210B4D31963}" type="pres">
      <dgm:prSet presAssocID="{B816EBA9-1355-48F3-B9F0-A84A99E47CE7}" presName="spacer" presStyleCnt="0"/>
      <dgm:spPr/>
    </dgm:pt>
    <dgm:pt modelId="{D279005E-811F-451B-9D52-0BAB7107E820}" type="pres">
      <dgm:prSet presAssocID="{CEADC751-3622-4DF4-886B-41B51BC3DCB0}" presName="parentText" presStyleLbl="node1" presStyleIdx="1" presStyleCnt="6">
        <dgm:presLayoutVars>
          <dgm:chMax val="0"/>
          <dgm:bulletEnabled val="1"/>
        </dgm:presLayoutVars>
      </dgm:prSet>
      <dgm:spPr/>
    </dgm:pt>
    <dgm:pt modelId="{E9618E9C-736A-4FCE-B3C0-AD5B5B7CCC4E}" type="pres">
      <dgm:prSet presAssocID="{D977F24B-3AD5-4C3E-B9DF-6AF6606B8375}" presName="spacer" presStyleCnt="0"/>
      <dgm:spPr/>
    </dgm:pt>
    <dgm:pt modelId="{4B9BEC95-C317-4859-AB32-FF6D4739EBAB}" type="pres">
      <dgm:prSet presAssocID="{BF16D9CA-0F59-4942-BCCA-52763A547C75}" presName="parentText" presStyleLbl="node1" presStyleIdx="2" presStyleCnt="6">
        <dgm:presLayoutVars>
          <dgm:chMax val="0"/>
          <dgm:bulletEnabled val="1"/>
        </dgm:presLayoutVars>
      </dgm:prSet>
      <dgm:spPr/>
    </dgm:pt>
    <dgm:pt modelId="{5E9D4E8A-7668-4703-AABD-BE8D35B72D28}" type="pres">
      <dgm:prSet presAssocID="{42BAB71B-9C48-48C1-92BB-BAABEC7F881F}" presName="spacer" presStyleCnt="0"/>
      <dgm:spPr/>
    </dgm:pt>
    <dgm:pt modelId="{090009FB-2E85-4BB5-B70A-C59BDB9E42E0}" type="pres">
      <dgm:prSet presAssocID="{BFF90C76-2A56-4772-98F3-7F436DACF753}" presName="parentText" presStyleLbl="node1" presStyleIdx="3" presStyleCnt="6">
        <dgm:presLayoutVars>
          <dgm:chMax val="0"/>
          <dgm:bulletEnabled val="1"/>
        </dgm:presLayoutVars>
      </dgm:prSet>
      <dgm:spPr/>
    </dgm:pt>
    <dgm:pt modelId="{A0E22701-71AA-4F71-A51D-DF84B58C976F}" type="pres">
      <dgm:prSet presAssocID="{FA028DC8-8AED-42C8-AF6F-EE2C2CC1EDEB}" presName="spacer" presStyleCnt="0"/>
      <dgm:spPr/>
    </dgm:pt>
    <dgm:pt modelId="{14438252-D39A-46E0-963F-13E4FD31473C}" type="pres">
      <dgm:prSet presAssocID="{CE71C5C1-334E-4025-B4FC-5AD2AFCA73F7}" presName="parentText" presStyleLbl="node1" presStyleIdx="4" presStyleCnt="6">
        <dgm:presLayoutVars>
          <dgm:chMax val="0"/>
          <dgm:bulletEnabled val="1"/>
        </dgm:presLayoutVars>
      </dgm:prSet>
      <dgm:spPr/>
    </dgm:pt>
    <dgm:pt modelId="{54E7A73F-1CD7-4218-AE42-EB961C921A24}" type="pres">
      <dgm:prSet presAssocID="{026B529A-5034-49E9-BDAE-8242BFAE9CC2}" presName="spacer" presStyleCnt="0"/>
      <dgm:spPr/>
    </dgm:pt>
    <dgm:pt modelId="{DA73269D-36A8-497B-83A2-FAFBA43379A1}" type="pres">
      <dgm:prSet presAssocID="{2DEAE9B7-FC3C-4AAD-9A47-4C04F8D71EC9}" presName="parentText" presStyleLbl="node1" presStyleIdx="5" presStyleCnt="6">
        <dgm:presLayoutVars>
          <dgm:chMax val="0"/>
          <dgm:bulletEnabled val="1"/>
        </dgm:presLayoutVars>
      </dgm:prSet>
      <dgm:spPr/>
    </dgm:pt>
  </dgm:ptLst>
  <dgm:cxnLst>
    <dgm:cxn modelId="{F7F91A17-ED76-4CBD-83F0-B9CC5CCC674F}" type="presOf" srcId="{BFF90C76-2A56-4772-98F3-7F436DACF753}" destId="{090009FB-2E85-4BB5-B70A-C59BDB9E42E0}" srcOrd="0" destOrd="0" presId="urn:microsoft.com/office/officeart/2005/8/layout/vList2"/>
    <dgm:cxn modelId="{8D1BFA38-3C7A-4D7E-A5F4-23DD8ECB323B}" type="presOf" srcId="{4BA25806-F9B8-4BB1-BE3B-EBC96A4B9028}" destId="{CC0C5DC0-E244-4C2E-BFB2-A8A29DC7620C}" srcOrd="0" destOrd="0" presId="urn:microsoft.com/office/officeart/2005/8/layout/vList2"/>
    <dgm:cxn modelId="{C9117140-B848-4730-8BEC-25AC9A1DF425}" srcId="{4BA25806-F9B8-4BB1-BE3B-EBC96A4B9028}" destId="{BFF90C76-2A56-4772-98F3-7F436DACF753}" srcOrd="3" destOrd="0" parTransId="{2548F303-588A-4B7E-B164-D8EDDD1A8FFD}" sibTransId="{FA028DC8-8AED-42C8-AF6F-EE2C2CC1EDEB}"/>
    <dgm:cxn modelId="{6557BE60-60E2-4D11-9D3C-F06A3C64BF27}" srcId="{4BA25806-F9B8-4BB1-BE3B-EBC96A4B9028}" destId="{CEADC751-3622-4DF4-886B-41B51BC3DCB0}" srcOrd="1" destOrd="0" parTransId="{4BB31796-B108-421F-BF89-3D09B9FFCFBE}" sibTransId="{D977F24B-3AD5-4C3E-B9DF-6AF6606B8375}"/>
    <dgm:cxn modelId="{92FD3A64-DF8C-4DF9-8A4A-0215FFC18CC9}" srcId="{4BA25806-F9B8-4BB1-BE3B-EBC96A4B9028}" destId="{CE71C5C1-334E-4025-B4FC-5AD2AFCA73F7}" srcOrd="4" destOrd="0" parTransId="{1FED5963-E302-415C-91E3-04CC7154A915}" sibTransId="{026B529A-5034-49E9-BDAE-8242BFAE9CC2}"/>
    <dgm:cxn modelId="{925C6C64-5298-4012-9648-EFFE6FCBD8E7}" srcId="{4BA25806-F9B8-4BB1-BE3B-EBC96A4B9028}" destId="{E53F45E8-0481-4DCC-818D-76EF5F464E34}" srcOrd="0" destOrd="0" parTransId="{0802EBD9-575D-413D-903D-EA651331EBDD}" sibTransId="{B816EBA9-1355-48F3-B9F0-A84A99E47CE7}"/>
    <dgm:cxn modelId="{3C582E46-4EFB-4493-AF4A-728647C87776}" srcId="{4BA25806-F9B8-4BB1-BE3B-EBC96A4B9028}" destId="{BF16D9CA-0F59-4942-BCCA-52763A547C75}" srcOrd="2" destOrd="0" parTransId="{69BBE728-4D05-46BE-A7C9-782F3917022F}" sibTransId="{42BAB71B-9C48-48C1-92BB-BAABEC7F881F}"/>
    <dgm:cxn modelId="{8FB26148-0133-4418-B105-7468F72F44CE}" type="presOf" srcId="{E53F45E8-0481-4DCC-818D-76EF5F464E34}" destId="{7B548DF2-0EBE-4D6A-9793-B4F648761BA6}" srcOrd="0" destOrd="0" presId="urn:microsoft.com/office/officeart/2005/8/layout/vList2"/>
    <dgm:cxn modelId="{44877E91-F45D-45F1-A1FE-FF66F4FC81AC}" type="presOf" srcId="{CEADC751-3622-4DF4-886B-41B51BC3DCB0}" destId="{D279005E-811F-451B-9D52-0BAB7107E820}" srcOrd="0" destOrd="0" presId="urn:microsoft.com/office/officeart/2005/8/layout/vList2"/>
    <dgm:cxn modelId="{06E7BDB2-13C2-45FC-8AFA-D0F461DC1219}" srcId="{4BA25806-F9B8-4BB1-BE3B-EBC96A4B9028}" destId="{2DEAE9B7-FC3C-4AAD-9A47-4C04F8D71EC9}" srcOrd="5" destOrd="0" parTransId="{1877CEC8-4458-4496-9000-692AE2CD6FA3}" sibTransId="{5CD30CB4-4331-4894-81EB-431AFC99FE4F}"/>
    <dgm:cxn modelId="{E1966BBF-B0BF-404A-94A0-70C87075E9E3}" type="presOf" srcId="{2DEAE9B7-FC3C-4AAD-9A47-4C04F8D71EC9}" destId="{DA73269D-36A8-497B-83A2-FAFBA43379A1}" srcOrd="0" destOrd="0" presId="urn:microsoft.com/office/officeart/2005/8/layout/vList2"/>
    <dgm:cxn modelId="{25EC5AC7-CBA3-4CF9-9416-B103A98CC2E9}" type="presOf" srcId="{BF16D9CA-0F59-4942-BCCA-52763A547C75}" destId="{4B9BEC95-C317-4859-AB32-FF6D4739EBAB}" srcOrd="0" destOrd="0" presId="urn:microsoft.com/office/officeart/2005/8/layout/vList2"/>
    <dgm:cxn modelId="{35CB3BE2-9629-4E74-8C66-2928922BEBED}" type="presOf" srcId="{CE71C5C1-334E-4025-B4FC-5AD2AFCA73F7}" destId="{14438252-D39A-46E0-963F-13E4FD31473C}" srcOrd="0" destOrd="0" presId="urn:microsoft.com/office/officeart/2005/8/layout/vList2"/>
    <dgm:cxn modelId="{B49091A2-E4A3-407B-A151-171B16FF68A3}" type="presParOf" srcId="{CC0C5DC0-E244-4C2E-BFB2-A8A29DC7620C}" destId="{7B548DF2-0EBE-4D6A-9793-B4F648761BA6}" srcOrd="0" destOrd="0" presId="urn:microsoft.com/office/officeart/2005/8/layout/vList2"/>
    <dgm:cxn modelId="{BCB51415-E7D9-465B-94F4-96DC85113346}" type="presParOf" srcId="{CC0C5DC0-E244-4C2E-BFB2-A8A29DC7620C}" destId="{75A925E1-065A-4D99-A127-8210B4D31963}" srcOrd="1" destOrd="0" presId="urn:microsoft.com/office/officeart/2005/8/layout/vList2"/>
    <dgm:cxn modelId="{FF27E2A1-AD4E-4D62-A4C2-E4AEBF7700E6}" type="presParOf" srcId="{CC0C5DC0-E244-4C2E-BFB2-A8A29DC7620C}" destId="{D279005E-811F-451B-9D52-0BAB7107E820}" srcOrd="2" destOrd="0" presId="urn:microsoft.com/office/officeart/2005/8/layout/vList2"/>
    <dgm:cxn modelId="{F3BB3402-729D-4BE0-BE1C-C6D4E53ED50F}" type="presParOf" srcId="{CC0C5DC0-E244-4C2E-BFB2-A8A29DC7620C}" destId="{E9618E9C-736A-4FCE-B3C0-AD5B5B7CCC4E}" srcOrd="3" destOrd="0" presId="urn:microsoft.com/office/officeart/2005/8/layout/vList2"/>
    <dgm:cxn modelId="{B3EDA3AB-4B4B-4899-83E5-C2B1222E6ED9}" type="presParOf" srcId="{CC0C5DC0-E244-4C2E-BFB2-A8A29DC7620C}" destId="{4B9BEC95-C317-4859-AB32-FF6D4739EBAB}" srcOrd="4" destOrd="0" presId="urn:microsoft.com/office/officeart/2005/8/layout/vList2"/>
    <dgm:cxn modelId="{AF0C46A3-E2DF-4AFF-939E-61AA3320240C}" type="presParOf" srcId="{CC0C5DC0-E244-4C2E-BFB2-A8A29DC7620C}" destId="{5E9D4E8A-7668-4703-AABD-BE8D35B72D28}" srcOrd="5" destOrd="0" presId="urn:microsoft.com/office/officeart/2005/8/layout/vList2"/>
    <dgm:cxn modelId="{F1FA45DF-7023-413F-B5EC-5E2296506F09}" type="presParOf" srcId="{CC0C5DC0-E244-4C2E-BFB2-A8A29DC7620C}" destId="{090009FB-2E85-4BB5-B70A-C59BDB9E42E0}" srcOrd="6" destOrd="0" presId="urn:microsoft.com/office/officeart/2005/8/layout/vList2"/>
    <dgm:cxn modelId="{D2F31A71-0701-4E60-A3FF-7D8835AF31B6}" type="presParOf" srcId="{CC0C5DC0-E244-4C2E-BFB2-A8A29DC7620C}" destId="{A0E22701-71AA-4F71-A51D-DF84B58C976F}" srcOrd="7" destOrd="0" presId="urn:microsoft.com/office/officeart/2005/8/layout/vList2"/>
    <dgm:cxn modelId="{E84CB6FD-F1B8-487B-9DD3-7FBDC248A581}" type="presParOf" srcId="{CC0C5DC0-E244-4C2E-BFB2-A8A29DC7620C}" destId="{14438252-D39A-46E0-963F-13E4FD31473C}" srcOrd="8" destOrd="0" presId="urn:microsoft.com/office/officeart/2005/8/layout/vList2"/>
    <dgm:cxn modelId="{C547AA1A-7710-47D1-868C-E9AB2E079515}" type="presParOf" srcId="{CC0C5DC0-E244-4C2E-BFB2-A8A29DC7620C}" destId="{54E7A73F-1CD7-4218-AE42-EB961C921A24}" srcOrd="9" destOrd="0" presId="urn:microsoft.com/office/officeart/2005/8/layout/vList2"/>
    <dgm:cxn modelId="{00CB230F-DBE1-40FE-A092-5BC5F2FBB6CB}" type="presParOf" srcId="{CC0C5DC0-E244-4C2E-BFB2-A8A29DC7620C}" destId="{DA73269D-36A8-497B-83A2-FAFBA43379A1}"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0429C8-F27B-416D-9D88-8476018ED33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009890E-7D82-4E1F-B453-1359AE3285BA}">
      <dgm:prSet/>
      <dgm:spPr/>
      <dgm:t>
        <a:bodyPr/>
        <a:lstStyle/>
        <a:p>
          <a:r>
            <a:rPr lang="en-US"/>
            <a:t>Las materias con mayor carga matemática predicen mejor la deserción.</a:t>
          </a:r>
        </a:p>
      </dgm:t>
    </dgm:pt>
    <dgm:pt modelId="{7493BD51-ABE6-4C82-833B-AECB2906DB52}" type="parTrans" cxnId="{A97E6B13-757F-4D05-B041-B264377AFE8B}">
      <dgm:prSet/>
      <dgm:spPr/>
      <dgm:t>
        <a:bodyPr/>
        <a:lstStyle/>
        <a:p>
          <a:endParaRPr lang="en-US"/>
        </a:p>
      </dgm:t>
    </dgm:pt>
    <dgm:pt modelId="{5CBB9076-43B2-4208-8BF6-6BC45FF5746B}" type="sibTrans" cxnId="{A97E6B13-757F-4D05-B041-B264377AFE8B}">
      <dgm:prSet/>
      <dgm:spPr/>
      <dgm:t>
        <a:bodyPr/>
        <a:lstStyle/>
        <a:p>
          <a:endParaRPr lang="en-US"/>
        </a:p>
      </dgm:t>
    </dgm:pt>
    <dgm:pt modelId="{320FA626-95B8-4C43-8F2D-8A68B5D04730}">
      <dgm:prSet/>
      <dgm:spPr/>
      <dgm:t>
        <a:bodyPr/>
        <a:lstStyle/>
        <a:p>
          <a:r>
            <a:rPr lang="en-US"/>
            <a:t>El bajo rendimiento en primeros semestres incrementa el riesgo.</a:t>
          </a:r>
        </a:p>
      </dgm:t>
    </dgm:pt>
    <dgm:pt modelId="{B74D39B4-F10E-41EB-9ED2-C42DC520C41A}" type="parTrans" cxnId="{3CBF339E-AFFE-430D-90F4-9AB1EF1D0C6E}">
      <dgm:prSet/>
      <dgm:spPr/>
      <dgm:t>
        <a:bodyPr/>
        <a:lstStyle/>
        <a:p>
          <a:endParaRPr lang="en-US"/>
        </a:p>
      </dgm:t>
    </dgm:pt>
    <dgm:pt modelId="{515536B9-4D21-4864-BCD6-4680BB994EA8}" type="sibTrans" cxnId="{3CBF339E-AFFE-430D-90F4-9AB1EF1D0C6E}">
      <dgm:prSet/>
      <dgm:spPr/>
      <dgm:t>
        <a:bodyPr/>
        <a:lstStyle/>
        <a:p>
          <a:endParaRPr lang="en-US"/>
        </a:p>
      </dgm:t>
    </dgm:pt>
    <dgm:pt modelId="{AD542AF6-D276-4908-A374-A546303C546C}">
      <dgm:prSet/>
      <dgm:spPr/>
      <dgm:t>
        <a:bodyPr/>
        <a:lstStyle/>
        <a:p>
          <a:r>
            <a:rPr lang="en-US"/>
            <a:t>Los estudiantes con alto desempeño en estas materias tienen más probabilidad de graduarse.</a:t>
          </a:r>
        </a:p>
      </dgm:t>
    </dgm:pt>
    <dgm:pt modelId="{48B7CA44-9070-4865-87E8-21332F375C08}" type="parTrans" cxnId="{4BE63CC9-76E2-46BF-BC24-634980B6BA2C}">
      <dgm:prSet/>
      <dgm:spPr/>
      <dgm:t>
        <a:bodyPr/>
        <a:lstStyle/>
        <a:p>
          <a:endParaRPr lang="en-US"/>
        </a:p>
      </dgm:t>
    </dgm:pt>
    <dgm:pt modelId="{48ABA5DB-C83C-4BCC-87E5-D7037BD2B6E7}" type="sibTrans" cxnId="{4BE63CC9-76E2-46BF-BC24-634980B6BA2C}">
      <dgm:prSet/>
      <dgm:spPr/>
      <dgm:t>
        <a:bodyPr/>
        <a:lstStyle/>
        <a:p>
          <a:endParaRPr lang="en-US"/>
        </a:p>
      </dgm:t>
    </dgm:pt>
    <dgm:pt modelId="{D53928E8-979C-421A-A4A2-640B5F180FB4}">
      <dgm:prSet/>
      <dgm:spPr/>
      <dgm:t>
        <a:bodyPr/>
        <a:lstStyle/>
        <a:p>
          <a:r>
            <a:rPr lang="en-US"/>
            <a:t>Resultados consistentes entre modelos (correlación alta entre predicciones).</a:t>
          </a:r>
        </a:p>
      </dgm:t>
    </dgm:pt>
    <dgm:pt modelId="{ED2CAA57-1458-4EF4-92D7-3D0F787D12F4}" type="parTrans" cxnId="{D8D8BE45-1B7C-4CA5-AC91-099EF7C33828}">
      <dgm:prSet/>
      <dgm:spPr/>
      <dgm:t>
        <a:bodyPr/>
        <a:lstStyle/>
        <a:p>
          <a:endParaRPr lang="en-US"/>
        </a:p>
      </dgm:t>
    </dgm:pt>
    <dgm:pt modelId="{9735FE16-B2F6-4533-9E20-3702817FE8C3}" type="sibTrans" cxnId="{D8D8BE45-1B7C-4CA5-AC91-099EF7C33828}">
      <dgm:prSet/>
      <dgm:spPr/>
      <dgm:t>
        <a:bodyPr/>
        <a:lstStyle/>
        <a:p>
          <a:endParaRPr lang="en-US"/>
        </a:p>
      </dgm:t>
    </dgm:pt>
    <dgm:pt modelId="{122AAADF-EEB0-460E-9E4F-72BAC7C511C8}" type="pres">
      <dgm:prSet presAssocID="{B80429C8-F27B-416D-9D88-8476018ED332}" presName="root" presStyleCnt="0">
        <dgm:presLayoutVars>
          <dgm:dir/>
          <dgm:resizeHandles val="exact"/>
        </dgm:presLayoutVars>
      </dgm:prSet>
      <dgm:spPr/>
    </dgm:pt>
    <dgm:pt modelId="{5DE0D7F9-ECC1-46EF-AC79-38F537DA92C5}" type="pres">
      <dgm:prSet presAssocID="{E009890E-7D82-4E1F-B453-1359AE3285BA}" presName="compNode" presStyleCnt="0"/>
      <dgm:spPr/>
    </dgm:pt>
    <dgm:pt modelId="{1747BC5E-EA31-49D3-BF62-365924C50B42}" type="pres">
      <dgm:prSet presAssocID="{E009890E-7D82-4E1F-B453-1359AE3285BA}" presName="bgRect" presStyleLbl="bgShp" presStyleIdx="0" presStyleCnt="4"/>
      <dgm:spPr/>
    </dgm:pt>
    <dgm:pt modelId="{60DD509D-2D12-4A13-9A0F-54409372A088}" type="pres">
      <dgm:prSet presAssocID="{E009890E-7D82-4E1F-B453-1359AE3285B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dora"/>
        </a:ext>
      </dgm:extLst>
    </dgm:pt>
    <dgm:pt modelId="{7C11E183-DCBB-402A-86E2-9FBAADBDF8BE}" type="pres">
      <dgm:prSet presAssocID="{E009890E-7D82-4E1F-B453-1359AE3285BA}" presName="spaceRect" presStyleCnt="0"/>
      <dgm:spPr/>
    </dgm:pt>
    <dgm:pt modelId="{FC450944-2CB4-48A8-B17B-9B2D8026AE58}" type="pres">
      <dgm:prSet presAssocID="{E009890E-7D82-4E1F-B453-1359AE3285BA}" presName="parTx" presStyleLbl="revTx" presStyleIdx="0" presStyleCnt="4">
        <dgm:presLayoutVars>
          <dgm:chMax val="0"/>
          <dgm:chPref val="0"/>
        </dgm:presLayoutVars>
      </dgm:prSet>
      <dgm:spPr/>
    </dgm:pt>
    <dgm:pt modelId="{6F37E117-5F28-48C0-8DFA-DBCB4E160C19}" type="pres">
      <dgm:prSet presAssocID="{5CBB9076-43B2-4208-8BF6-6BC45FF5746B}" presName="sibTrans" presStyleCnt="0"/>
      <dgm:spPr/>
    </dgm:pt>
    <dgm:pt modelId="{2D64CACB-2946-4CCB-9A38-3252CA8925E0}" type="pres">
      <dgm:prSet presAssocID="{320FA626-95B8-4C43-8F2D-8A68B5D04730}" presName="compNode" presStyleCnt="0"/>
      <dgm:spPr/>
    </dgm:pt>
    <dgm:pt modelId="{8E7D14C4-2622-4F5D-8BC8-9D0A2020E1DD}" type="pres">
      <dgm:prSet presAssocID="{320FA626-95B8-4C43-8F2D-8A68B5D04730}" presName="bgRect" presStyleLbl="bgShp" presStyleIdx="1" presStyleCnt="4"/>
      <dgm:spPr/>
    </dgm:pt>
    <dgm:pt modelId="{B9CF626D-492A-4095-B30A-1E0BA8AF22E6}" type="pres">
      <dgm:prSet presAssocID="{320FA626-95B8-4C43-8F2D-8A68B5D0473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s clef"/>
        </a:ext>
      </dgm:extLst>
    </dgm:pt>
    <dgm:pt modelId="{7E0763AF-6992-4A9D-8348-CC07C73894AD}" type="pres">
      <dgm:prSet presAssocID="{320FA626-95B8-4C43-8F2D-8A68B5D04730}" presName="spaceRect" presStyleCnt="0"/>
      <dgm:spPr/>
    </dgm:pt>
    <dgm:pt modelId="{7385A36E-2DBA-4D1C-9884-6370ED1A08E9}" type="pres">
      <dgm:prSet presAssocID="{320FA626-95B8-4C43-8F2D-8A68B5D04730}" presName="parTx" presStyleLbl="revTx" presStyleIdx="1" presStyleCnt="4">
        <dgm:presLayoutVars>
          <dgm:chMax val="0"/>
          <dgm:chPref val="0"/>
        </dgm:presLayoutVars>
      </dgm:prSet>
      <dgm:spPr/>
    </dgm:pt>
    <dgm:pt modelId="{2EFC240B-F222-448F-8FFD-D94DBCAF1D11}" type="pres">
      <dgm:prSet presAssocID="{515536B9-4D21-4864-BCD6-4680BB994EA8}" presName="sibTrans" presStyleCnt="0"/>
      <dgm:spPr/>
    </dgm:pt>
    <dgm:pt modelId="{AF51D22F-4702-459C-84DB-99AF47C2B7CC}" type="pres">
      <dgm:prSet presAssocID="{AD542AF6-D276-4908-A374-A546303C546C}" presName="compNode" presStyleCnt="0"/>
      <dgm:spPr/>
    </dgm:pt>
    <dgm:pt modelId="{C238E591-1ECA-475C-AF25-C62107CFE83A}" type="pres">
      <dgm:prSet presAssocID="{AD542AF6-D276-4908-A374-A546303C546C}" presName="bgRect" presStyleLbl="bgShp" presStyleIdx="2" presStyleCnt="4"/>
      <dgm:spPr/>
    </dgm:pt>
    <dgm:pt modelId="{0C91F4F1-A46D-4D36-B2EF-5AAF737060AB}" type="pres">
      <dgm:prSet presAssocID="{AD542AF6-D276-4908-A374-A546303C546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ula de clases"/>
        </a:ext>
      </dgm:extLst>
    </dgm:pt>
    <dgm:pt modelId="{73A4CFFC-7AE0-45B0-AE54-4875C3A12351}" type="pres">
      <dgm:prSet presAssocID="{AD542AF6-D276-4908-A374-A546303C546C}" presName="spaceRect" presStyleCnt="0"/>
      <dgm:spPr/>
    </dgm:pt>
    <dgm:pt modelId="{A8B54486-2101-4D91-9ACB-333CC6D1C740}" type="pres">
      <dgm:prSet presAssocID="{AD542AF6-D276-4908-A374-A546303C546C}" presName="parTx" presStyleLbl="revTx" presStyleIdx="2" presStyleCnt="4">
        <dgm:presLayoutVars>
          <dgm:chMax val="0"/>
          <dgm:chPref val="0"/>
        </dgm:presLayoutVars>
      </dgm:prSet>
      <dgm:spPr/>
    </dgm:pt>
    <dgm:pt modelId="{69D05D80-0078-4585-B827-90086C0EB2A1}" type="pres">
      <dgm:prSet presAssocID="{48ABA5DB-C83C-4BCC-87E5-D7037BD2B6E7}" presName="sibTrans" presStyleCnt="0"/>
      <dgm:spPr/>
    </dgm:pt>
    <dgm:pt modelId="{2E4B7CF9-34D3-43C4-B187-B7D48D7324C6}" type="pres">
      <dgm:prSet presAssocID="{D53928E8-979C-421A-A4A2-640B5F180FB4}" presName="compNode" presStyleCnt="0"/>
      <dgm:spPr/>
    </dgm:pt>
    <dgm:pt modelId="{51F3C3FE-719F-460A-B3AF-AB61B5051BD9}" type="pres">
      <dgm:prSet presAssocID="{D53928E8-979C-421A-A4A2-640B5F180FB4}" presName="bgRect" presStyleLbl="bgShp" presStyleIdx="3" presStyleCnt="4"/>
      <dgm:spPr/>
    </dgm:pt>
    <dgm:pt modelId="{BB76397E-C103-424E-A624-D33BCF909E3F}" type="pres">
      <dgm:prSet presAssocID="{D53928E8-979C-421A-A4A2-640B5F180FB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stadísticas"/>
        </a:ext>
      </dgm:extLst>
    </dgm:pt>
    <dgm:pt modelId="{23CA638C-CF2B-470B-9036-838BB5F527FA}" type="pres">
      <dgm:prSet presAssocID="{D53928E8-979C-421A-A4A2-640B5F180FB4}" presName="spaceRect" presStyleCnt="0"/>
      <dgm:spPr/>
    </dgm:pt>
    <dgm:pt modelId="{AB86069B-F104-4CB9-83BA-D9C5ADCBD9CA}" type="pres">
      <dgm:prSet presAssocID="{D53928E8-979C-421A-A4A2-640B5F180FB4}" presName="parTx" presStyleLbl="revTx" presStyleIdx="3" presStyleCnt="4">
        <dgm:presLayoutVars>
          <dgm:chMax val="0"/>
          <dgm:chPref val="0"/>
        </dgm:presLayoutVars>
      </dgm:prSet>
      <dgm:spPr/>
    </dgm:pt>
  </dgm:ptLst>
  <dgm:cxnLst>
    <dgm:cxn modelId="{A97E6B13-757F-4D05-B041-B264377AFE8B}" srcId="{B80429C8-F27B-416D-9D88-8476018ED332}" destId="{E009890E-7D82-4E1F-B453-1359AE3285BA}" srcOrd="0" destOrd="0" parTransId="{7493BD51-ABE6-4C82-833B-AECB2906DB52}" sibTransId="{5CBB9076-43B2-4208-8BF6-6BC45FF5746B}"/>
    <dgm:cxn modelId="{D8D8BE45-1B7C-4CA5-AC91-099EF7C33828}" srcId="{B80429C8-F27B-416D-9D88-8476018ED332}" destId="{D53928E8-979C-421A-A4A2-640B5F180FB4}" srcOrd="3" destOrd="0" parTransId="{ED2CAA57-1458-4EF4-92D7-3D0F787D12F4}" sibTransId="{9735FE16-B2F6-4533-9E20-3702817FE8C3}"/>
    <dgm:cxn modelId="{B709EE48-E5E7-439B-92F5-B61A245AAC9D}" type="presOf" srcId="{AD542AF6-D276-4908-A374-A546303C546C}" destId="{A8B54486-2101-4D91-9ACB-333CC6D1C740}" srcOrd="0" destOrd="0" presId="urn:microsoft.com/office/officeart/2018/2/layout/IconVerticalSolidList"/>
    <dgm:cxn modelId="{A90AB057-3018-4ED7-8180-7EF7BC0B3FA1}" type="presOf" srcId="{B80429C8-F27B-416D-9D88-8476018ED332}" destId="{122AAADF-EEB0-460E-9E4F-72BAC7C511C8}" srcOrd="0" destOrd="0" presId="urn:microsoft.com/office/officeart/2018/2/layout/IconVerticalSolidList"/>
    <dgm:cxn modelId="{3FE7E687-EE33-42D4-BDB2-98EF2693C816}" type="presOf" srcId="{320FA626-95B8-4C43-8F2D-8A68B5D04730}" destId="{7385A36E-2DBA-4D1C-9884-6370ED1A08E9}" srcOrd="0" destOrd="0" presId="urn:microsoft.com/office/officeart/2018/2/layout/IconVerticalSolidList"/>
    <dgm:cxn modelId="{3CBF339E-AFFE-430D-90F4-9AB1EF1D0C6E}" srcId="{B80429C8-F27B-416D-9D88-8476018ED332}" destId="{320FA626-95B8-4C43-8F2D-8A68B5D04730}" srcOrd="1" destOrd="0" parTransId="{B74D39B4-F10E-41EB-9ED2-C42DC520C41A}" sibTransId="{515536B9-4D21-4864-BCD6-4680BB994EA8}"/>
    <dgm:cxn modelId="{36A1E8BF-BCDE-402E-B396-BD77D34742E3}" type="presOf" srcId="{E009890E-7D82-4E1F-B453-1359AE3285BA}" destId="{FC450944-2CB4-48A8-B17B-9B2D8026AE58}" srcOrd="0" destOrd="0" presId="urn:microsoft.com/office/officeart/2018/2/layout/IconVerticalSolidList"/>
    <dgm:cxn modelId="{C540CCC7-6FEE-4517-A3C1-8F20062573C8}" type="presOf" srcId="{D53928E8-979C-421A-A4A2-640B5F180FB4}" destId="{AB86069B-F104-4CB9-83BA-D9C5ADCBD9CA}" srcOrd="0" destOrd="0" presId="urn:microsoft.com/office/officeart/2018/2/layout/IconVerticalSolidList"/>
    <dgm:cxn modelId="{4BE63CC9-76E2-46BF-BC24-634980B6BA2C}" srcId="{B80429C8-F27B-416D-9D88-8476018ED332}" destId="{AD542AF6-D276-4908-A374-A546303C546C}" srcOrd="2" destOrd="0" parTransId="{48B7CA44-9070-4865-87E8-21332F375C08}" sibTransId="{48ABA5DB-C83C-4BCC-87E5-D7037BD2B6E7}"/>
    <dgm:cxn modelId="{859DBF5F-13CF-4A28-B004-DA6F96BEEEE0}" type="presParOf" srcId="{122AAADF-EEB0-460E-9E4F-72BAC7C511C8}" destId="{5DE0D7F9-ECC1-46EF-AC79-38F537DA92C5}" srcOrd="0" destOrd="0" presId="urn:microsoft.com/office/officeart/2018/2/layout/IconVerticalSolidList"/>
    <dgm:cxn modelId="{49517406-520A-44CD-AE4C-9BCE4AECB82D}" type="presParOf" srcId="{5DE0D7F9-ECC1-46EF-AC79-38F537DA92C5}" destId="{1747BC5E-EA31-49D3-BF62-365924C50B42}" srcOrd="0" destOrd="0" presId="urn:microsoft.com/office/officeart/2018/2/layout/IconVerticalSolidList"/>
    <dgm:cxn modelId="{4863A6EA-C669-4CBA-86DB-92E33D622571}" type="presParOf" srcId="{5DE0D7F9-ECC1-46EF-AC79-38F537DA92C5}" destId="{60DD509D-2D12-4A13-9A0F-54409372A088}" srcOrd="1" destOrd="0" presId="urn:microsoft.com/office/officeart/2018/2/layout/IconVerticalSolidList"/>
    <dgm:cxn modelId="{F6143C3C-652B-464E-B25B-0E28623DEC6B}" type="presParOf" srcId="{5DE0D7F9-ECC1-46EF-AC79-38F537DA92C5}" destId="{7C11E183-DCBB-402A-86E2-9FBAADBDF8BE}" srcOrd="2" destOrd="0" presId="urn:microsoft.com/office/officeart/2018/2/layout/IconVerticalSolidList"/>
    <dgm:cxn modelId="{D8B3FC26-386A-49F9-977E-DF014A857290}" type="presParOf" srcId="{5DE0D7F9-ECC1-46EF-AC79-38F537DA92C5}" destId="{FC450944-2CB4-48A8-B17B-9B2D8026AE58}" srcOrd="3" destOrd="0" presId="urn:microsoft.com/office/officeart/2018/2/layout/IconVerticalSolidList"/>
    <dgm:cxn modelId="{31A1A5BC-341A-49C6-BC15-FAD4C69E1FEE}" type="presParOf" srcId="{122AAADF-EEB0-460E-9E4F-72BAC7C511C8}" destId="{6F37E117-5F28-48C0-8DFA-DBCB4E160C19}" srcOrd="1" destOrd="0" presId="urn:microsoft.com/office/officeart/2018/2/layout/IconVerticalSolidList"/>
    <dgm:cxn modelId="{9B65386E-4B21-4855-A8F8-1F345F6076CA}" type="presParOf" srcId="{122AAADF-EEB0-460E-9E4F-72BAC7C511C8}" destId="{2D64CACB-2946-4CCB-9A38-3252CA8925E0}" srcOrd="2" destOrd="0" presId="urn:microsoft.com/office/officeart/2018/2/layout/IconVerticalSolidList"/>
    <dgm:cxn modelId="{B5A4B17A-E0F9-4157-B4DF-3271ECF72B3D}" type="presParOf" srcId="{2D64CACB-2946-4CCB-9A38-3252CA8925E0}" destId="{8E7D14C4-2622-4F5D-8BC8-9D0A2020E1DD}" srcOrd="0" destOrd="0" presId="urn:microsoft.com/office/officeart/2018/2/layout/IconVerticalSolidList"/>
    <dgm:cxn modelId="{E970986F-295A-44A7-9A4F-31478F1EAEE1}" type="presParOf" srcId="{2D64CACB-2946-4CCB-9A38-3252CA8925E0}" destId="{B9CF626D-492A-4095-B30A-1E0BA8AF22E6}" srcOrd="1" destOrd="0" presId="urn:microsoft.com/office/officeart/2018/2/layout/IconVerticalSolidList"/>
    <dgm:cxn modelId="{EF993BFC-ECB8-4735-9290-6B83998D2FBB}" type="presParOf" srcId="{2D64CACB-2946-4CCB-9A38-3252CA8925E0}" destId="{7E0763AF-6992-4A9D-8348-CC07C73894AD}" srcOrd="2" destOrd="0" presId="urn:microsoft.com/office/officeart/2018/2/layout/IconVerticalSolidList"/>
    <dgm:cxn modelId="{A830DA42-3C15-4B48-8828-2ABE8645ACE4}" type="presParOf" srcId="{2D64CACB-2946-4CCB-9A38-3252CA8925E0}" destId="{7385A36E-2DBA-4D1C-9884-6370ED1A08E9}" srcOrd="3" destOrd="0" presId="urn:microsoft.com/office/officeart/2018/2/layout/IconVerticalSolidList"/>
    <dgm:cxn modelId="{229FF0E2-3637-40EB-8940-EED0EF93BFD7}" type="presParOf" srcId="{122AAADF-EEB0-460E-9E4F-72BAC7C511C8}" destId="{2EFC240B-F222-448F-8FFD-D94DBCAF1D11}" srcOrd="3" destOrd="0" presId="urn:microsoft.com/office/officeart/2018/2/layout/IconVerticalSolidList"/>
    <dgm:cxn modelId="{2FE299B7-AF39-4823-A6BF-3C318C7DB883}" type="presParOf" srcId="{122AAADF-EEB0-460E-9E4F-72BAC7C511C8}" destId="{AF51D22F-4702-459C-84DB-99AF47C2B7CC}" srcOrd="4" destOrd="0" presId="urn:microsoft.com/office/officeart/2018/2/layout/IconVerticalSolidList"/>
    <dgm:cxn modelId="{142BA529-48E1-44D2-A294-71D15443367F}" type="presParOf" srcId="{AF51D22F-4702-459C-84DB-99AF47C2B7CC}" destId="{C238E591-1ECA-475C-AF25-C62107CFE83A}" srcOrd="0" destOrd="0" presId="urn:microsoft.com/office/officeart/2018/2/layout/IconVerticalSolidList"/>
    <dgm:cxn modelId="{E48607E0-6823-4909-A4BC-D16540AEC054}" type="presParOf" srcId="{AF51D22F-4702-459C-84DB-99AF47C2B7CC}" destId="{0C91F4F1-A46D-4D36-B2EF-5AAF737060AB}" srcOrd="1" destOrd="0" presId="urn:microsoft.com/office/officeart/2018/2/layout/IconVerticalSolidList"/>
    <dgm:cxn modelId="{16B94C85-031A-4264-8EB0-D37E79F1689D}" type="presParOf" srcId="{AF51D22F-4702-459C-84DB-99AF47C2B7CC}" destId="{73A4CFFC-7AE0-45B0-AE54-4875C3A12351}" srcOrd="2" destOrd="0" presId="urn:microsoft.com/office/officeart/2018/2/layout/IconVerticalSolidList"/>
    <dgm:cxn modelId="{A3281D21-602D-4824-A15C-2E837BB05E45}" type="presParOf" srcId="{AF51D22F-4702-459C-84DB-99AF47C2B7CC}" destId="{A8B54486-2101-4D91-9ACB-333CC6D1C740}" srcOrd="3" destOrd="0" presId="urn:microsoft.com/office/officeart/2018/2/layout/IconVerticalSolidList"/>
    <dgm:cxn modelId="{1E55B5DC-C1FF-49C9-B701-4C093F0F1480}" type="presParOf" srcId="{122AAADF-EEB0-460E-9E4F-72BAC7C511C8}" destId="{69D05D80-0078-4585-B827-90086C0EB2A1}" srcOrd="5" destOrd="0" presId="urn:microsoft.com/office/officeart/2018/2/layout/IconVerticalSolidList"/>
    <dgm:cxn modelId="{9BFD5244-C304-4428-B720-076C964909AB}" type="presParOf" srcId="{122AAADF-EEB0-460E-9E4F-72BAC7C511C8}" destId="{2E4B7CF9-34D3-43C4-B187-B7D48D7324C6}" srcOrd="6" destOrd="0" presId="urn:microsoft.com/office/officeart/2018/2/layout/IconVerticalSolidList"/>
    <dgm:cxn modelId="{B5A8101C-B291-49C8-92C4-F40A171FFAD6}" type="presParOf" srcId="{2E4B7CF9-34D3-43C4-B187-B7D48D7324C6}" destId="{51F3C3FE-719F-460A-B3AF-AB61B5051BD9}" srcOrd="0" destOrd="0" presId="urn:microsoft.com/office/officeart/2018/2/layout/IconVerticalSolidList"/>
    <dgm:cxn modelId="{CB241C67-033F-4D90-869B-E4836D4F54D8}" type="presParOf" srcId="{2E4B7CF9-34D3-43C4-B187-B7D48D7324C6}" destId="{BB76397E-C103-424E-A624-D33BCF909E3F}" srcOrd="1" destOrd="0" presId="urn:microsoft.com/office/officeart/2018/2/layout/IconVerticalSolidList"/>
    <dgm:cxn modelId="{5ABAD05F-9F4F-4461-908D-B631F0E46BEA}" type="presParOf" srcId="{2E4B7CF9-34D3-43C4-B187-B7D48D7324C6}" destId="{23CA638C-CF2B-470B-9036-838BB5F527FA}" srcOrd="2" destOrd="0" presId="urn:microsoft.com/office/officeart/2018/2/layout/IconVerticalSolidList"/>
    <dgm:cxn modelId="{2B0A05FC-6372-43CA-9F69-847DB796EB0D}" type="presParOf" srcId="{2E4B7CF9-34D3-43C4-B187-B7D48D7324C6}" destId="{AB86069B-F104-4CB9-83BA-D9C5ADCBD9C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53A1D5-3D33-41FA-9E12-ED36D838A06E}" type="doc">
      <dgm:prSet loTypeId="urn:microsoft.com/office/officeart/2005/8/layout/default" loCatId="list" qsTypeId="urn:microsoft.com/office/officeart/2005/8/quickstyle/simple4" qsCatId="simple" csTypeId="urn:microsoft.com/office/officeart/2005/8/colors/colorful2" csCatId="colorful" phldr="1"/>
      <dgm:spPr/>
      <dgm:t>
        <a:bodyPr/>
        <a:lstStyle/>
        <a:p>
          <a:endParaRPr lang="en-US"/>
        </a:p>
      </dgm:t>
    </dgm:pt>
    <dgm:pt modelId="{9BD7FA7D-8920-486C-AB03-7E75064110C5}">
      <dgm:prSet/>
      <dgm:spPr/>
      <dgm:t>
        <a:bodyPr/>
        <a:lstStyle/>
        <a:p>
          <a:r>
            <a:rPr lang="es-CO"/>
            <a:t>Se usaron solo variables académicas cuantitativas de cinco materias, sin incluir factores personales o socioeconómicos.</a:t>
          </a:r>
          <a:endParaRPr lang="en-US"/>
        </a:p>
      </dgm:t>
    </dgm:pt>
    <dgm:pt modelId="{676A19F4-26E9-4E48-9EB1-D519C06285B2}" type="parTrans" cxnId="{5857E4E3-4071-47B8-BC76-91FC91E7D4AB}">
      <dgm:prSet/>
      <dgm:spPr/>
      <dgm:t>
        <a:bodyPr/>
        <a:lstStyle/>
        <a:p>
          <a:endParaRPr lang="en-US"/>
        </a:p>
      </dgm:t>
    </dgm:pt>
    <dgm:pt modelId="{C88EC61B-DF2C-419B-87B3-663F69467AAA}" type="sibTrans" cxnId="{5857E4E3-4071-47B8-BC76-91FC91E7D4AB}">
      <dgm:prSet/>
      <dgm:spPr/>
      <dgm:t>
        <a:bodyPr/>
        <a:lstStyle/>
        <a:p>
          <a:endParaRPr lang="en-US"/>
        </a:p>
      </dgm:t>
    </dgm:pt>
    <dgm:pt modelId="{B0795CE7-298C-4C13-B930-A3D58F8B7016}">
      <dgm:prSet/>
      <dgm:spPr/>
      <dgm:t>
        <a:bodyPr/>
        <a:lstStyle/>
        <a:p>
          <a:r>
            <a:rPr lang="es-CO"/>
            <a:t>El enfoque se centró en el rendimiento temprano, sin contemplar causas de deserción de mediano o largo plazo.</a:t>
          </a:r>
          <a:endParaRPr lang="en-US"/>
        </a:p>
      </dgm:t>
    </dgm:pt>
    <dgm:pt modelId="{3F99D2DD-8B18-4315-BA47-BE183AE25357}" type="parTrans" cxnId="{F46CC7B0-3845-4A64-9459-74A1D6423485}">
      <dgm:prSet/>
      <dgm:spPr/>
      <dgm:t>
        <a:bodyPr/>
        <a:lstStyle/>
        <a:p>
          <a:endParaRPr lang="en-US"/>
        </a:p>
      </dgm:t>
    </dgm:pt>
    <dgm:pt modelId="{98EF65A2-33C6-433F-A6FE-A3FEC01963DA}" type="sibTrans" cxnId="{F46CC7B0-3845-4A64-9459-74A1D6423485}">
      <dgm:prSet/>
      <dgm:spPr/>
      <dgm:t>
        <a:bodyPr/>
        <a:lstStyle/>
        <a:p>
          <a:endParaRPr lang="en-US"/>
        </a:p>
      </dgm:t>
    </dgm:pt>
    <dgm:pt modelId="{0BF1EA06-B2F7-4009-894B-1CD764D93188}">
      <dgm:prSet/>
      <dgm:spPr/>
      <dgm:t>
        <a:bodyPr/>
        <a:lstStyle/>
        <a:p>
          <a:r>
            <a:rPr lang="es-CO"/>
            <a:t>No se aplicó imputación de datos faltantes, lo que preserva la integridad pero reduce representatividad.</a:t>
          </a:r>
          <a:endParaRPr lang="en-US"/>
        </a:p>
      </dgm:t>
    </dgm:pt>
    <dgm:pt modelId="{8AEB5EA9-AEFF-45C4-9A53-2CC07A45C10E}" type="parTrans" cxnId="{48C0A063-F291-4A93-996C-B7E283AED2C2}">
      <dgm:prSet/>
      <dgm:spPr/>
      <dgm:t>
        <a:bodyPr/>
        <a:lstStyle/>
        <a:p>
          <a:endParaRPr lang="en-US"/>
        </a:p>
      </dgm:t>
    </dgm:pt>
    <dgm:pt modelId="{4AE6678D-E7B2-4198-A5B1-C19B1A68F4B2}" type="sibTrans" cxnId="{48C0A063-F291-4A93-996C-B7E283AED2C2}">
      <dgm:prSet/>
      <dgm:spPr/>
      <dgm:t>
        <a:bodyPr/>
        <a:lstStyle/>
        <a:p>
          <a:endParaRPr lang="en-US"/>
        </a:p>
      </dgm:t>
    </dgm:pt>
    <dgm:pt modelId="{C1C567F1-1032-413A-B014-A87DAB3A8994}">
      <dgm:prSet/>
      <dgm:spPr/>
      <dgm:t>
        <a:bodyPr/>
        <a:lstStyle/>
        <a:p>
          <a:r>
            <a:rPr lang="es-CO"/>
            <a:t>Validación basada en una sola división temporal (2010–2018 / 2019+); se sugiere aplicar validación cruzada en futuros estudios.</a:t>
          </a:r>
          <a:endParaRPr lang="en-US"/>
        </a:p>
      </dgm:t>
    </dgm:pt>
    <dgm:pt modelId="{20FF3CF9-0C95-4E78-9E20-7FA57F9B8FBD}" type="parTrans" cxnId="{AA8DFDE1-8E80-44F2-9617-3DC178344B63}">
      <dgm:prSet/>
      <dgm:spPr/>
      <dgm:t>
        <a:bodyPr/>
        <a:lstStyle/>
        <a:p>
          <a:endParaRPr lang="en-US"/>
        </a:p>
      </dgm:t>
    </dgm:pt>
    <dgm:pt modelId="{551BC02F-62D6-467D-96A5-3AED8A0E6E88}" type="sibTrans" cxnId="{AA8DFDE1-8E80-44F2-9617-3DC178344B63}">
      <dgm:prSet/>
      <dgm:spPr/>
      <dgm:t>
        <a:bodyPr/>
        <a:lstStyle/>
        <a:p>
          <a:endParaRPr lang="en-US"/>
        </a:p>
      </dgm:t>
    </dgm:pt>
    <dgm:pt modelId="{7F0979E9-9064-4EF4-9670-3C8279DF3D7E}">
      <dgm:prSet/>
      <dgm:spPr/>
      <dgm:t>
        <a:bodyPr/>
        <a:lstStyle/>
        <a:p>
          <a:r>
            <a:rPr lang="es-CO"/>
            <a:t>Las métricas son internamente válidas, pero la generalización externa requiere replicar el modelo en otras instituciones.</a:t>
          </a:r>
          <a:endParaRPr lang="en-US"/>
        </a:p>
      </dgm:t>
    </dgm:pt>
    <dgm:pt modelId="{1549134E-F8D7-48A2-9BD2-9397E60B853E}" type="parTrans" cxnId="{DF50EEBA-7CCE-4210-B465-300950C00AAA}">
      <dgm:prSet/>
      <dgm:spPr/>
      <dgm:t>
        <a:bodyPr/>
        <a:lstStyle/>
        <a:p>
          <a:endParaRPr lang="en-US"/>
        </a:p>
      </dgm:t>
    </dgm:pt>
    <dgm:pt modelId="{E1AD53D5-987E-4BFB-92F8-F35003EA9C34}" type="sibTrans" cxnId="{DF50EEBA-7CCE-4210-B465-300950C00AAA}">
      <dgm:prSet/>
      <dgm:spPr/>
      <dgm:t>
        <a:bodyPr/>
        <a:lstStyle/>
        <a:p>
          <a:endParaRPr lang="en-US"/>
        </a:p>
      </dgm:t>
    </dgm:pt>
    <dgm:pt modelId="{59140D19-70DC-487C-A37D-345AF5561162}" type="pres">
      <dgm:prSet presAssocID="{E753A1D5-3D33-41FA-9E12-ED36D838A06E}" presName="diagram" presStyleCnt="0">
        <dgm:presLayoutVars>
          <dgm:dir/>
          <dgm:resizeHandles val="exact"/>
        </dgm:presLayoutVars>
      </dgm:prSet>
      <dgm:spPr/>
    </dgm:pt>
    <dgm:pt modelId="{0A3F531C-15C2-41F5-9F05-0F90E39A7853}" type="pres">
      <dgm:prSet presAssocID="{9BD7FA7D-8920-486C-AB03-7E75064110C5}" presName="node" presStyleLbl="node1" presStyleIdx="0" presStyleCnt="5">
        <dgm:presLayoutVars>
          <dgm:bulletEnabled val="1"/>
        </dgm:presLayoutVars>
      </dgm:prSet>
      <dgm:spPr/>
    </dgm:pt>
    <dgm:pt modelId="{18CE104A-AD37-4B3D-9CAC-1E7609BA06B6}" type="pres">
      <dgm:prSet presAssocID="{C88EC61B-DF2C-419B-87B3-663F69467AAA}" presName="sibTrans" presStyleCnt="0"/>
      <dgm:spPr/>
    </dgm:pt>
    <dgm:pt modelId="{65B68946-7A22-4A1A-BA4C-FEB8DAE2B207}" type="pres">
      <dgm:prSet presAssocID="{B0795CE7-298C-4C13-B930-A3D58F8B7016}" presName="node" presStyleLbl="node1" presStyleIdx="1" presStyleCnt="5">
        <dgm:presLayoutVars>
          <dgm:bulletEnabled val="1"/>
        </dgm:presLayoutVars>
      </dgm:prSet>
      <dgm:spPr/>
    </dgm:pt>
    <dgm:pt modelId="{689CFC8C-AFBB-49A5-BAE4-8CCF2AAC915B}" type="pres">
      <dgm:prSet presAssocID="{98EF65A2-33C6-433F-A6FE-A3FEC01963DA}" presName="sibTrans" presStyleCnt="0"/>
      <dgm:spPr/>
    </dgm:pt>
    <dgm:pt modelId="{024D8076-BA1D-460D-B362-63676781C5F0}" type="pres">
      <dgm:prSet presAssocID="{0BF1EA06-B2F7-4009-894B-1CD764D93188}" presName="node" presStyleLbl="node1" presStyleIdx="2" presStyleCnt="5">
        <dgm:presLayoutVars>
          <dgm:bulletEnabled val="1"/>
        </dgm:presLayoutVars>
      </dgm:prSet>
      <dgm:spPr/>
    </dgm:pt>
    <dgm:pt modelId="{F5A8F7F5-EE83-408A-B5D9-E8ADCBC8F22B}" type="pres">
      <dgm:prSet presAssocID="{4AE6678D-E7B2-4198-A5B1-C19B1A68F4B2}" presName="sibTrans" presStyleCnt="0"/>
      <dgm:spPr/>
    </dgm:pt>
    <dgm:pt modelId="{057B3C24-20F6-49BB-8B1F-3084406E4189}" type="pres">
      <dgm:prSet presAssocID="{C1C567F1-1032-413A-B014-A87DAB3A8994}" presName="node" presStyleLbl="node1" presStyleIdx="3" presStyleCnt="5">
        <dgm:presLayoutVars>
          <dgm:bulletEnabled val="1"/>
        </dgm:presLayoutVars>
      </dgm:prSet>
      <dgm:spPr/>
    </dgm:pt>
    <dgm:pt modelId="{B2B30871-0527-40A6-AB62-ECFEF7FD30EE}" type="pres">
      <dgm:prSet presAssocID="{551BC02F-62D6-467D-96A5-3AED8A0E6E88}" presName="sibTrans" presStyleCnt="0"/>
      <dgm:spPr/>
    </dgm:pt>
    <dgm:pt modelId="{B5D76959-E37A-4708-838A-799C06A9153F}" type="pres">
      <dgm:prSet presAssocID="{7F0979E9-9064-4EF4-9670-3C8279DF3D7E}" presName="node" presStyleLbl="node1" presStyleIdx="4" presStyleCnt="5">
        <dgm:presLayoutVars>
          <dgm:bulletEnabled val="1"/>
        </dgm:presLayoutVars>
      </dgm:prSet>
      <dgm:spPr/>
    </dgm:pt>
  </dgm:ptLst>
  <dgm:cxnLst>
    <dgm:cxn modelId="{72432600-8936-485C-866D-B61AA0D5560B}" type="presOf" srcId="{7F0979E9-9064-4EF4-9670-3C8279DF3D7E}" destId="{B5D76959-E37A-4708-838A-799C06A9153F}" srcOrd="0" destOrd="0" presId="urn:microsoft.com/office/officeart/2005/8/layout/default"/>
    <dgm:cxn modelId="{8A720604-2F35-431F-B172-630B37359EAD}" type="presOf" srcId="{9BD7FA7D-8920-486C-AB03-7E75064110C5}" destId="{0A3F531C-15C2-41F5-9F05-0F90E39A7853}" srcOrd="0" destOrd="0" presId="urn:microsoft.com/office/officeart/2005/8/layout/default"/>
    <dgm:cxn modelId="{48C0A063-F291-4A93-996C-B7E283AED2C2}" srcId="{E753A1D5-3D33-41FA-9E12-ED36D838A06E}" destId="{0BF1EA06-B2F7-4009-894B-1CD764D93188}" srcOrd="2" destOrd="0" parTransId="{8AEB5EA9-AEFF-45C4-9A53-2CC07A45C10E}" sibTransId="{4AE6678D-E7B2-4198-A5B1-C19B1A68F4B2}"/>
    <dgm:cxn modelId="{80A3A563-459F-4D99-98B6-B03D7499ECB4}" type="presOf" srcId="{0BF1EA06-B2F7-4009-894B-1CD764D93188}" destId="{024D8076-BA1D-460D-B362-63676781C5F0}" srcOrd="0" destOrd="0" presId="urn:microsoft.com/office/officeart/2005/8/layout/default"/>
    <dgm:cxn modelId="{5696E880-3AB1-407E-89C7-D127F45CEDD0}" type="presOf" srcId="{B0795CE7-298C-4C13-B930-A3D58F8B7016}" destId="{65B68946-7A22-4A1A-BA4C-FEB8DAE2B207}" srcOrd="0" destOrd="0" presId="urn:microsoft.com/office/officeart/2005/8/layout/default"/>
    <dgm:cxn modelId="{80FD68B0-CD65-4077-9FC3-F01EEE6A2EA8}" type="presOf" srcId="{E753A1D5-3D33-41FA-9E12-ED36D838A06E}" destId="{59140D19-70DC-487C-A37D-345AF5561162}" srcOrd="0" destOrd="0" presId="urn:microsoft.com/office/officeart/2005/8/layout/default"/>
    <dgm:cxn modelId="{F46CC7B0-3845-4A64-9459-74A1D6423485}" srcId="{E753A1D5-3D33-41FA-9E12-ED36D838A06E}" destId="{B0795CE7-298C-4C13-B930-A3D58F8B7016}" srcOrd="1" destOrd="0" parTransId="{3F99D2DD-8B18-4315-BA47-BE183AE25357}" sibTransId="{98EF65A2-33C6-433F-A6FE-A3FEC01963DA}"/>
    <dgm:cxn modelId="{4D4D3FB8-5815-40F5-96AD-071B622D4973}" type="presOf" srcId="{C1C567F1-1032-413A-B014-A87DAB3A8994}" destId="{057B3C24-20F6-49BB-8B1F-3084406E4189}" srcOrd="0" destOrd="0" presId="urn:microsoft.com/office/officeart/2005/8/layout/default"/>
    <dgm:cxn modelId="{DF50EEBA-7CCE-4210-B465-300950C00AAA}" srcId="{E753A1D5-3D33-41FA-9E12-ED36D838A06E}" destId="{7F0979E9-9064-4EF4-9670-3C8279DF3D7E}" srcOrd="4" destOrd="0" parTransId="{1549134E-F8D7-48A2-9BD2-9397E60B853E}" sibTransId="{E1AD53D5-987E-4BFB-92F8-F35003EA9C34}"/>
    <dgm:cxn modelId="{AA8DFDE1-8E80-44F2-9617-3DC178344B63}" srcId="{E753A1D5-3D33-41FA-9E12-ED36D838A06E}" destId="{C1C567F1-1032-413A-B014-A87DAB3A8994}" srcOrd="3" destOrd="0" parTransId="{20FF3CF9-0C95-4E78-9E20-7FA57F9B8FBD}" sibTransId="{551BC02F-62D6-467D-96A5-3AED8A0E6E88}"/>
    <dgm:cxn modelId="{5857E4E3-4071-47B8-BC76-91FC91E7D4AB}" srcId="{E753A1D5-3D33-41FA-9E12-ED36D838A06E}" destId="{9BD7FA7D-8920-486C-AB03-7E75064110C5}" srcOrd="0" destOrd="0" parTransId="{676A19F4-26E9-4E48-9EB1-D519C06285B2}" sibTransId="{C88EC61B-DF2C-419B-87B3-663F69467AAA}"/>
    <dgm:cxn modelId="{4F01C56D-A4AB-4166-B957-8169F31C8B23}" type="presParOf" srcId="{59140D19-70DC-487C-A37D-345AF5561162}" destId="{0A3F531C-15C2-41F5-9F05-0F90E39A7853}" srcOrd="0" destOrd="0" presId="urn:microsoft.com/office/officeart/2005/8/layout/default"/>
    <dgm:cxn modelId="{182A3DA0-2287-42A6-BB12-054ED364B6F4}" type="presParOf" srcId="{59140D19-70DC-487C-A37D-345AF5561162}" destId="{18CE104A-AD37-4B3D-9CAC-1E7609BA06B6}" srcOrd="1" destOrd="0" presId="urn:microsoft.com/office/officeart/2005/8/layout/default"/>
    <dgm:cxn modelId="{41275CA0-40FD-40B6-A867-377AC51651DF}" type="presParOf" srcId="{59140D19-70DC-487C-A37D-345AF5561162}" destId="{65B68946-7A22-4A1A-BA4C-FEB8DAE2B207}" srcOrd="2" destOrd="0" presId="urn:microsoft.com/office/officeart/2005/8/layout/default"/>
    <dgm:cxn modelId="{E7DE74F8-91ED-41BB-8EC5-FFF12DE7A600}" type="presParOf" srcId="{59140D19-70DC-487C-A37D-345AF5561162}" destId="{689CFC8C-AFBB-49A5-BAE4-8CCF2AAC915B}" srcOrd="3" destOrd="0" presId="urn:microsoft.com/office/officeart/2005/8/layout/default"/>
    <dgm:cxn modelId="{0EB6ADAB-2B18-44B7-8EE3-3720C3C6E402}" type="presParOf" srcId="{59140D19-70DC-487C-A37D-345AF5561162}" destId="{024D8076-BA1D-460D-B362-63676781C5F0}" srcOrd="4" destOrd="0" presId="urn:microsoft.com/office/officeart/2005/8/layout/default"/>
    <dgm:cxn modelId="{98F1D558-D4E3-4A08-9F8C-4E6EE9C5BBEC}" type="presParOf" srcId="{59140D19-70DC-487C-A37D-345AF5561162}" destId="{F5A8F7F5-EE83-408A-B5D9-E8ADCBC8F22B}" srcOrd="5" destOrd="0" presId="urn:microsoft.com/office/officeart/2005/8/layout/default"/>
    <dgm:cxn modelId="{91D9E178-8857-4AC4-973B-B6888E12ACAD}" type="presParOf" srcId="{59140D19-70DC-487C-A37D-345AF5561162}" destId="{057B3C24-20F6-49BB-8B1F-3084406E4189}" srcOrd="6" destOrd="0" presId="urn:microsoft.com/office/officeart/2005/8/layout/default"/>
    <dgm:cxn modelId="{53E16D7F-DCF0-4696-BA4F-1AFC3AB63A52}" type="presParOf" srcId="{59140D19-70DC-487C-A37D-345AF5561162}" destId="{B2B30871-0527-40A6-AB62-ECFEF7FD30EE}" srcOrd="7" destOrd="0" presId="urn:microsoft.com/office/officeart/2005/8/layout/default"/>
    <dgm:cxn modelId="{2116AA7D-678A-459E-BC32-DBE3D05681E1}" type="presParOf" srcId="{59140D19-70DC-487C-A37D-345AF5561162}" destId="{B5D76959-E37A-4708-838A-799C06A9153F}"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BB6854-C2FB-4A32-B080-574B69C71C89}">
      <dsp:nvSpPr>
        <dsp:cNvPr id="0" name=""/>
        <dsp:cNvSpPr/>
      </dsp:nvSpPr>
      <dsp:spPr>
        <a:xfrm>
          <a:off x="0" y="4098"/>
          <a:ext cx="4793456" cy="87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D8CA27-A610-44D0-9767-51D857B5D821}">
      <dsp:nvSpPr>
        <dsp:cNvPr id="0" name=""/>
        <dsp:cNvSpPr/>
      </dsp:nvSpPr>
      <dsp:spPr>
        <a:xfrm>
          <a:off x="264107" y="200542"/>
          <a:ext cx="480194" cy="480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28CDAB-3C14-4A4A-ADAB-0015B71832E0}">
      <dsp:nvSpPr>
        <dsp:cNvPr id="0" name=""/>
        <dsp:cNvSpPr/>
      </dsp:nvSpPr>
      <dsp:spPr>
        <a:xfrm>
          <a:off x="1008409" y="4098"/>
          <a:ext cx="3785046"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kern="1200"/>
            <a:t>Fuente: base institucional anonimizada (EAFIT, 2000–2025).</a:t>
          </a:r>
        </a:p>
      </dsp:txBody>
      <dsp:txXfrm>
        <a:off x="1008409" y="4098"/>
        <a:ext cx="3785046" cy="873081"/>
      </dsp:txXfrm>
    </dsp:sp>
    <dsp:sp modelId="{7E515846-66CE-4021-933C-48ACA6FE488E}">
      <dsp:nvSpPr>
        <dsp:cNvPr id="0" name=""/>
        <dsp:cNvSpPr/>
      </dsp:nvSpPr>
      <dsp:spPr>
        <a:xfrm>
          <a:off x="0" y="1095450"/>
          <a:ext cx="4793456" cy="87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9A1147-328E-495F-8F38-6CBD1C3D36CA}">
      <dsp:nvSpPr>
        <dsp:cNvPr id="0" name=""/>
        <dsp:cNvSpPr/>
      </dsp:nvSpPr>
      <dsp:spPr>
        <a:xfrm>
          <a:off x="264107" y="1291894"/>
          <a:ext cx="480194" cy="480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A8651A-663F-4FD9-8554-42B0FB7FF650}">
      <dsp:nvSpPr>
        <dsp:cNvPr id="0" name=""/>
        <dsp:cNvSpPr/>
      </dsp:nvSpPr>
      <dsp:spPr>
        <a:xfrm>
          <a:off x="1008409" y="1095450"/>
          <a:ext cx="3785046"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kern="1200"/>
            <a:t>Registros: 2.19 millones</a:t>
          </a:r>
        </a:p>
      </dsp:txBody>
      <dsp:txXfrm>
        <a:off x="1008409" y="1095450"/>
        <a:ext cx="3785046" cy="873081"/>
      </dsp:txXfrm>
    </dsp:sp>
    <dsp:sp modelId="{1DA2FBD0-78F2-47A7-871A-45E26DE0EBCD}">
      <dsp:nvSpPr>
        <dsp:cNvPr id="0" name=""/>
        <dsp:cNvSpPr/>
      </dsp:nvSpPr>
      <dsp:spPr>
        <a:xfrm>
          <a:off x="0" y="2186802"/>
          <a:ext cx="4793456" cy="87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032A2-348E-4C01-88B0-DD479A6AD0E2}">
      <dsp:nvSpPr>
        <dsp:cNvPr id="0" name=""/>
        <dsp:cNvSpPr/>
      </dsp:nvSpPr>
      <dsp:spPr>
        <a:xfrm>
          <a:off x="264107" y="2383246"/>
          <a:ext cx="480194" cy="4801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D0364E4-988B-4CFA-A7A7-F11E7B2F690D}">
      <dsp:nvSpPr>
        <dsp:cNvPr id="0" name=""/>
        <dsp:cNvSpPr/>
      </dsp:nvSpPr>
      <dsp:spPr>
        <a:xfrm>
          <a:off x="1008409" y="2186802"/>
          <a:ext cx="3785046"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kern="1200"/>
            <a:t>Estudiantes: 58,406</a:t>
          </a:r>
        </a:p>
      </dsp:txBody>
      <dsp:txXfrm>
        <a:off x="1008409" y="2186802"/>
        <a:ext cx="3785046" cy="873081"/>
      </dsp:txXfrm>
    </dsp:sp>
    <dsp:sp modelId="{0284FA4E-40DD-4B3C-A1F4-CCC5696E2080}">
      <dsp:nvSpPr>
        <dsp:cNvPr id="0" name=""/>
        <dsp:cNvSpPr/>
      </dsp:nvSpPr>
      <dsp:spPr>
        <a:xfrm>
          <a:off x="0" y="3278154"/>
          <a:ext cx="4793456" cy="87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BF4024-3A80-4310-BF23-3BDD1EF5F05D}">
      <dsp:nvSpPr>
        <dsp:cNvPr id="0" name=""/>
        <dsp:cNvSpPr/>
      </dsp:nvSpPr>
      <dsp:spPr>
        <a:xfrm>
          <a:off x="264107" y="3474597"/>
          <a:ext cx="480194" cy="4801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12F50E4-CEE7-4376-A885-6C7DB2D18BD6}">
      <dsp:nvSpPr>
        <dsp:cNvPr id="0" name=""/>
        <dsp:cNvSpPr/>
      </dsp:nvSpPr>
      <dsp:spPr>
        <a:xfrm>
          <a:off x="1008409" y="3278154"/>
          <a:ext cx="3785046"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kern="1200"/>
            <a:t>Programas: 32, Escuelas: 5</a:t>
          </a:r>
        </a:p>
      </dsp:txBody>
      <dsp:txXfrm>
        <a:off x="1008409" y="3278154"/>
        <a:ext cx="3785046" cy="873081"/>
      </dsp:txXfrm>
    </dsp:sp>
    <dsp:sp modelId="{B8BA2668-FB2B-4DB7-B400-D101EF1CE4D4}">
      <dsp:nvSpPr>
        <dsp:cNvPr id="0" name=""/>
        <dsp:cNvSpPr/>
      </dsp:nvSpPr>
      <dsp:spPr>
        <a:xfrm>
          <a:off x="0" y="4369506"/>
          <a:ext cx="4793456" cy="87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B8BFEB-8CA5-43EC-ABCF-00D4429A32AD}">
      <dsp:nvSpPr>
        <dsp:cNvPr id="0" name=""/>
        <dsp:cNvSpPr/>
      </dsp:nvSpPr>
      <dsp:spPr>
        <a:xfrm>
          <a:off x="264107" y="4565949"/>
          <a:ext cx="480194" cy="48019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B2FE747-A05E-4B4D-AE32-836DAE185CC0}">
      <dsp:nvSpPr>
        <dsp:cNvPr id="0" name=""/>
        <dsp:cNvSpPr/>
      </dsp:nvSpPr>
      <dsp:spPr>
        <a:xfrm>
          <a:off x="1008409" y="4369506"/>
          <a:ext cx="3785046"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kern="1200"/>
            <a:t>Variables: 36 (notas, créditos, estrato, condición socioeconómica)</a:t>
          </a:r>
        </a:p>
      </dsp:txBody>
      <dsp:txXfrm>
        <a:off x="1008409" y="4369506"/>
        <a:ext cx="3785046" cy="8730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548DF2-0EBE-4D6A-9793-B4F648761BA6}">
      <dsp:nvSpPr>
        <dsp:cNvPr id="0" name=""/>
        <dsp:cNvSpPr/>
      </dsp:nvSpPr>
      <dsp:spPr>
        <a:xfrm>
          <a:off x="0" y="339503"/>
          <a:ext cx="4793456" cy="73008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CO" sz="1300" kern="1200"/>
            <a:t>Las materias con mayor peso predictivo fueron </a:t>
          </a:r>
          <a:r>
            <a:rPr lang="es-CO" sz="1300" b="1" i="1" kern="1200"/>
            <a:t>Ecuaciones Diferenciales, Estadística y Álgebra Lineal </a:t>
          </a:r>
          <a:r>
            <a:rPr lang="es-CO" sz="1300" kern="1200"/>
            <a:t>— indicadores tempranos del riesgo de deserción.</a:t>
          </a:r>
          <a:endParaRPr lang="en-US" sz="1300" kern="1200"/>
        </a:p>
      </dsp:txBody>
      <dsp:txXfrm>
        <a:off x="35640" y="375143"/>
        <a:ext cx="4722176" cy="658800"/>
      </dsp:txXfrm>
    </dsp:sp>
    <dsp:sp modelId="{D279005E-811F-451B-9D52-0BAB7107E820}">
      <dsp:nvSpPr>
        <dsp:cNvPr id="0" name=""/>
        <dsp:cNvSpPr/>
      </dsp:nvSpPr>
      <dsp:spPr>
        <a:xfrm>
          <a:off x="0" y="1107023"/>
          <a:ext cx="4793456" cy="730080"/>
        </a:xfrm>
        <a:prstGeom prst="roundRect">
          <a:avLst/>
        </a:prstGeom>
        <a:solidFill>
          <a:schemeClr val="accent2">
            <a:hueOff val="-3953144"/>
            <a:satOff val="18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CO" sz="1300" b="1" i="1" kern="1200"/>
            <a:t>Física I y Cálculo I </a:t>
          </a:r>
          <a:r>
            <a:rPr lang="es-CO" sz="1300" kern="1200"/>
            <a:t>funcionan como asignaturas de detección temprana, útiles para seguimiento longitudinal.</a:t>
          </a:r>
          <a:endParaRPr lang="en-US" sz="1300" kern="1200"/>
        </a:p>
      </dsp:txBody>
      <dsp:txXfrm>
        <a:off x="35640" y="1142663"/>
        <a:ext cx="4722176" cy="658800"/>
      </dsp:txXfrm>
    </dsp:sp>
    <dsp:sp modelId="{4B9BEC95-C317-4859-AB32-FF6D4739EBAB}">
      <dsp:nvSpPr>
        <dsp:cNvPr id="0" name=""/>
        <dsp:cNvSpPr/>
      </dsp:nvSpPr>
      <dsp:spPr>
        <a:xfrm>
          <a:off x="0" y="1874543"/>
          <a:ext cx="4793456" cy="730080"/>
        </a:xfrm>
        <a:prstGeom prst="roundRect">
          <a:avLst/>
        </a:prstGeom>
        <a:solidFill>
          <a:schemeClr val="accent2">
            <a:hueOff val="-7906288"/>
            <a:satOff val="36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CO" sz="1300" b="1" i="1" kern="1200"/>
            <a:t>El riesgo aumentó entre 2020–2021</a:t>
          </a:r>
          <a:r>
            <a:rPr lang="es-CO" sz="1300" kern="1200"/>
            <a:t>, coincidiendo con la pandemia y la virtualidad.</a:t>
          </a:r>
          <a:endParaRPr lang="en-US" sz="1300" kern="1200"/>
        </a:p>
      </dsp:txBody>
      <dsp:txXfrm>
        <a:off x="35640" y="1910183"/>
        <a:ext cx="4722176" cy="658800"/>
      </dsp:txXfrm>
    </dsp:sp>
    <dsp:sp modelId="{090009FB-2E85-4BB5-B70A-C59BDB9E42E0}">
      <dsp:nvSpPr>
        <dsp:cNvPr id="0" name=""/>
        <dsp:cNvSpPr/>
      </dsp:nvSpPr>
      <dsp:spPr>
        <a:xfrm>
          <a:off x="0" y="2642063"/>
          <a:ext cx="4793456" cy="730080"/>
        </a:xfrm>
        <a:prstGeom prst="roundRect">
          <a:avLst/>
        </a:prstGeom>
        <a:solidFill>
          <a:schemeClr val="accent2">
            <a:hueOff val="-11859433"/>
            <a:satOff val="54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CO" sz="1300" kern="1200"/>
            <a:t>Los programas con </a:t>
          </a:r>
          <a:r>
            <a:rPr lang="es-CO" sz="1300" b="1" i="1" kern="1200"/>
            <a:t>mayor probabilidad de abandono son Ingeniería Agronómica, Sistemas y Mecánica.</a:t>
          </a:r>
          <a:endParaRPr lang="en-US" sz="1300" kern="1200"/>
        </a:p>
      </dsp:txBody>
      <dsp:txXfrm>
        <a:off x="35640" y="2677703"/>
        <a:ext cx="4722176" cy="658800"/>
      </dsp:txXfrm>
    </dsp:sp>
    <dsp:sp modelId="{14438252-D39A-46E0-963F-13E4FD31473C}">
      <dsp:nvSpPr>
        <dsp:cNvPr id="0" name=""/>
        <dsp:cNvSpPr/>
      </dsp:nvSpPr>
      <dsp:spPr>
        <a:xfrm>
          <a:off x="0" y="3409583"/>
          <a:ext cx="4793456" cy="730080"/>
        </a:xfrm>
        <a:prstGeom prst="roundRect">
          <a:avLst/>
        </a:prstGeom>
        <a:solidFill>
          <a:schemeClr val="accent2">
            <a:hueOff val="-15812576"/>
            <a:satOff val="72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CO" sz="1300" kern="1200"/>
            <a:t>La consistencia entre modelos confirma que </a:t>
          </a:r>
          <a:r>
            <a:rPr lang="es-CO" sz="1300" b="1" i="1" kern="1200"/>
            <a:t>el rendimiento académico inicial es un predictor sólido y replicable.</a:t>
          </a:r>
          <a:endParaRPr lang="en-US" sz="1300" kern="1200"/>
        </a:p>
      </dsp:txBody>
      <dsp:txXfrm>
        <a:off x="35640" y="3445223"/>
        <a:ext cx="4722176" cy="658800"/>
      </dsp:txXfrm>
    </dsp:sp>
    <dsp:sp modelId="{DA73269D-36A8-497B-83A2-FAFBA43379A1}">
      <dsp:nvSpPr>
        <dsp:cNvPr id="0" name=""/>
        <dsp:cNvSpPr/>
      </dsp:nvSpPr>
      <dsp:spPr>
        <a:xfrm>
          <a:off x="0" y="4177103"/>
          <a:ext cx="4793456" cy="730080"/>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CO" sz="1300" kern="1200"/>
            <a:t>XGBoost y Random Forest destacan Ecuaciones y Estadística; MLP distribuye la importancia de forma más equilibrada.</a:t>
          </a:r>
          <a:endParaRPr lang="en-US" sz="1300" kern="1200"/>
        </a:p>
      </dsp:txBody>
      <dsp:txXfrm>
        <a:off x="35640" y="4212743"/>
        <a:ext cx="4722176" cy="658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47BC5E-EA31-49D3-BF62-365924C50B42}">
      <dsp:nvSpPr>
        <dsp:cNvPr id="0" name=""/>
        <dsp:cNvSpPr/>
      </dsp:nvSpPr>
      <dsp:spPr>
        <a:xfrm>
          <a:off x="0" y="2177"/>
          <a:ext cx="4793456" cy="110364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D509D-2D12-4A13-9A0F-54409372A088}">
      <dsp:nvSpPr>
        <dsp:cNvPr id="0" name=""/>
        <dsp:cNvSpPr/>
      </dsp:nvSpPr>
      <dsp:spPr>
        <a:xfrm>
          <a:off x="333853" y="250498"/>
          <a:ext cx="607006" cy="6070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C450944-2CB4-48A8-B17B-9B2D8026AE58}">
      <dsp:nvSpPr>
        <dsp:cNvPr id="0" name=""/>
        <dsp:cNvSpPr/>
      </dsp:nvSpPr>
      <dsp:spPr>
        <a:xfrm>
          <a:off x="1274714" y="2177"/>
          <a:ext cx="3518741" cy="1103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03" tIns="116803" rIns="116803" bIns="116803" numCol="1" spcCol="1270" anchor="ctr" anchorCtr="0">
          <a:noAutofit/>
        </a:bodyPr>
        <a:lstStyle/>
        <a:p>
          <a:pPr marL="0" lvl="0" indent="0" algn="l" defTabSz="666750">
            <a:lnSpc>
              <a:spcPct val="90000"/>
            </a:lnSpc>
            <a:spcBef>
              <a:spcPct val="0"/>
            </a:spcBef>
            <a:spcAft>
              <a:spcPct val="35000"/>
            </a:spcAft>
            <a:buNone/>
          </a:pPr>
          <a:r>
            <a:rPr lang="en-US" sz="1500" kern="1200"/>
            <a:t>Las materias con mayor carga matemática predicen mejor la deserción.</a:t>
          </a:r>
        </a:p>
      </dsp:txBody>
      <dsp:txXfrm>
        <a:off x="1274714" y="2177"/>
        <a:ext cx="3518741" cy="1103648"/>
      </dsp:txXfrm>
    </dsp:sp>
    <dsp:sp modelId="{8E7D14C4-2622-4F5D-8BC8-9D0A2020E1DD}">
      <dsp:nvSpPr>
        <dsp:cNvPr id="0" name=""/>
        <dsp:cNvSpPr/>
      </dsp:nvSpPr>
      <dsp:spPr>
        <a:xfrm>
          <a:off x="0" y="1381738"/>
          <a:ext cx="4793456" cy="110364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CF626D-492A-4095-B30A-1E0BA8AF22E6}">
      <dsp:nvSpPr>
        <dsp:cNvPr id="0" name=""/>
        <dsp:cNvSpPr/>
      </dsp:nvSpPr>
      <dsp:spPr>
        <a:xfrm>
          <a:off x="333853" y="1630059"/>
          <a:ext cx="607006" cy="6070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385A36E-2DBA-4D1C-9884-6370ED1A08E9}">
      <dsp:nvSpPr>
        <dsp:cNvPr id="0" name=""/>
        <dsp:cNvSpPr/>
      </dsp:nvSpPr>
      <dsp:spPr>
        <a:xfrm>
          <a:off x="1274714" y="1381738"/>
          <a:ext cx="3518741" cy="1103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03" tIns="116803" rIns="116803" bIns="116803" numCol="1" spcCol="1270" anchor="ctr" anchorCtr="0">
          <a:noAutofit/>
        </a:bodyPr>
        <a:lstStyle/>
        <a:p>
          <a:pPr marL="0" lvl="0" indent="0" algn="l" defTabSz="666750">
            <a:lnSpc>
              <a:spcPct val="90000"/>
            </a:lnSpc>
            <a:spcBef>
              <a:spcPct val="0"/>
            </a:spcBef>
            <a:spcAft>
              <a:spcPct val="35000"/>
            </a:spcAft>
            <a:buNone/>
          </a:pPr>
          <a:r>
            <a:rPr lang="en-US" sz="1500" kern="1200"/>
            <a:t>El bajo rendimiento en primeros semestres incrementa el riesgo.</a:t>
          </a:r>
        </a:p>
      </dsp:txBody>
      <dsp:txXfrm>
        <a:off x="1274714" y="1381738"/>
        <a:ext cx="3518741" cy="1103648"/>
      </dsp:txXfrm>
    </dsp:sp>
    <dsp:sp modelId="{C238E591-1ECA-475C-AF25-C62107CFE83A}">
      <dsp:nvSpPr>
        <dsp:cNvPr id="0" name=""/>
        <dsp:cNvSpPr/>
      </dsp:nvSpPr>
      <dsp:spPr>
        <a:xfrm>
          <a:off x="0" y="2761299"/>
          <a:ext cx="4793456" cy="110364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1F4F1-A46D-4D36-B2EF-5AAF737060AB}">
      <dsp:nvSpPr>
        <dsp:cNvPr id="0" name=""/>
        <dsp:cNvSpPr/>
      </dsp:nvSpPr>
      <dsp:spPr>
        <a:xfrm>
          <a:off x="333853" y="3009620"/>
          <a:ext cx="607006" cy="6070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8B54486-2101-4D91-9ACB-333CC6D1C740}">
      <dsp:nvSpPr>
        <dsp:cNvPr id="0" name=""/>
        <dsp:cNvSpPr/>
      </dsp:nvSpPr>
      <dsp:spPr>
        <a:xfrm>
          <a:off x="1274714" y="2761299"/>
          <a:ext cx="3518741" cy="1103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03" tIns="116803" rIns="116803" bIns="116803" numCol="1" spcCol="1270" anchor="ctr" anchorCtr="0">
          <a:noAutofit/>
        </a:bodyPr>
        <a:lstStyle/>
        <a:p>
          <a:pPr marL="0" lvl="0" indent="0" algn="l" defTabSz="666750">
            <a:lnSpc>
              <a:spcPct val="90000"/>
            </a:lnSpc>
            <a:spcBef>
              <a:spcPct val="0"/>
            </a:spcBef>
            <a:spcAft>
              <a:spcPct val="35000"/>
            </a:spcAft>
            <a:buNone/>
          </a:pPr>
          <a:r>
            <a:rPr lang="en-US" sz="1500" kern="1200"/>
            <a:t>Los estudiantes con alto desempeño en estas materias tienen más probabilidad de graduarse.</a:t>
          </a:r>
        </a:p>
      </dsp:txBody>
      <dsp:txXfrm>
        <a:off x="1274714" y="2761299"/>
        <a:ext cx="3518741" cy="1103648"/>
      </dsp:txXfrm>
    </dsp:sp>
    <dsp:sp modelId="{51F3C3FE-719F-460A-B3AF-AB61B5051BD9}">
      <dsp:nvSpPr>
        <dsp:cNvPr id="0" name=""/>
        <dsp:cNvSpPr/>
      </dsp:nvSpPr>
      <dsp:spPr>
        <a:xfrm>
          <a:off x="0" y="4140860"/>
          <a:ext cx="4793456" cy="110364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76397E-C103-424E-A624-D33BCF909E3F}">
      <dsp:nvSpPr>
        <dsp:cNvPr id="0" name=""/>
        <dsp:cNvSpPr/>
      </dsp:nvSpPr>
      <dsp:spPr>
        <a:xfrm>
          <a:off x="333853" y="4389181"/>
          <a:ext cx="607006" cy="6070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B86069B-F104-4CB9-83BA-D9C5ADCBD9CA}">
      <dsp:nvSpPr>
        <dsp:cNvPr id="0" name=""/>
        <dsp:cNvSpPr/>
      </dsp:nvSpPr>
      <dsp:spPr>
        <a:xfrm>
          <a:off x="1274714" y="4140860"/>
          <a:ext cx="3518741" cy="1103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03" tIns="116803" rIns="116803" bIns="116803" numCol="1" spcCol="1270" anchor="ctr" anchorCtr="0">
          <a:noAutofit/>
        </a:bodyPr>
        <a:lstStyle/>
        <a:p>
          <a:pPr marL="0" lvl="0" indent="0" algn="l" defTabSz="666750">
            <a:lnSpc>
              <a:spcPct val="90000"/>
            </a:lnSpc>
            <a:spcBef>
              <a:spcPct val="0"/>
            </a:spcBef>
            <a:spcAft>
              <a:spcPct val="35000"/>
            </a:spcAft>
            <a:buNone/>
          </a:pPr>
          <a:r>
            <a:rPr lang="en-US" sz="1500" kern="1200"/>
            <a:t>Resultados consistentes entre modelos (correlación alta entre predicciones).</a:t>
          </a:r>
        </a:p>
      </dsp:txBody>
      <dsp:txXfrm>
        <a:off x="1274714" y="4140860"/>
        <a:ext cx="3518741" cy="11036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3F531C-15C2-41F5-9F05-0F90E39A7853}">
      <dsp:nvSpPr>
        <dsp:cNvPr id="0" name=""/>
        <dsp:cNvSpPr/>
      </dsp:nvSpPr>
      <dsp:spPr>
        <a:xfrm>
          <a:off x="0" y="244974"/>
          <a:ext cx="2255949" cy="1353569"/>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a:t>Se usaron solo variables académicas cuantitativas de cinco materias, sin incluir factores personales o socioeconómicos.</a:t>
          </a:r>
          <a:endParaRPr lang="en-US" sz="1300" kern="1200"/>
        </a:p>
      </dsp:txBody>
      <dsp:txXfrm>
        <a:off x="0" y="244974"/>
        <a:ext cx="2255949" cy="1353569"/>
      </dsp:txXfrm>
    </dsp:sp>
    <dsp:sp modelId="{65B68946-7A22-4A1A-BA4C-FEB8DAE2B207}">
      <dsp:nvSpPr>
        <dsp:cNvPr id="0" name=""/>
        <dsp:cNvSpPr/>
      </dsp:nvSpPr>
      <dsp:spPr>
        <a:xfrm>
          <a:off x="2481543" y="244974"/>
          <a:ext cx="2255949" cy="1353569"/>
        </a:xfrm>
        <a:prstGeom prst="rect">
          <a:avLst/>
        </a:prstGeom>
        <a:gradFill rotWithShape="0">
          <a:gsLst>
            <a:gs pos="0">
              <a:schemeClr val="accent2">
                <a:hueOff val="-4941430"/>
                <a:satOff val="225"/>
                <a:lumOff val="0"/>
                <a:alphaOff val="0"/>
                <a:tint val="98000"/>
                <a:lumMod val="114000"/>
              </a:schemeClr>
            </a:gs>
            <a:gs pos="100000">
              <a:schemeClr val="accent2">
                <a:hueOff val="-4941430"/>
                <a:satOff val="225"/>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a:t>El enfoque se centró en el rendimiento temprano, sin contemplar causas de deserción de mediano o largo plazo.</a:t>
          </a:r>
          <a:endParaRPr lang="en-US" sz="1300" kern="1200"/>
        </a:p>
      </dsp:txBody>
      <dsp:txXfrm>
        <a:off x="2481543" y="244974"/>
        <a:ext cx="2255949" cy="1353569"/>
      </dsp:txXfrm>
    </dsp:sp>
    <dsp:sp modelId="{024D8076-BA1D-460D-B362-63676781C5F0}">
      <dsp:nvSpPr>
        <dsp:cNvPr id="0" name=""/>
        <dsp:cNvSpPr/>
      </dsp:nvSpPr>
      <dsp:spPr>
        <a:xfrm>
          <a:off x="4963087" y="244974"/>
          <a:ext cx="2255949" cy="1353569"/>
        </a:xfrm>
        <a:prstGeom prst="rect">
          <a:avLst/>
        </a:prstGeom>
        <a:gradFill rotWithShape="0">
          <a:gsLst>
            <a:gs pos="0">
              <a:schemeClr val="accent2">
                <a:hueOff val="-9882860"/>
                <a:satOff val="451"/>
                <a:lumOff val="0"/>
                <a:alphaOff val="0"/>
                <a:tint val="98000"/>
                <a:lumMod val="114000"/>
              </a:schemeClr>
            </a:gs>
            <a:gs pos="100000">
              <a:schemeClr val="accent2">
                <a:hueOff val="-9882860"/>
                <a:satOff val="45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a:t>No se aplicó imputación de datos faltantes, lo que preserva la integridad pero reduce representatividad.</a:t>
          </a:r>
          <a:endParaRPr lang="en-US" sz="1300" kern="1200"/>
        </a:p>
      </dsp:txBody>
      <dsp:txXfrm>
        <a:off x="4963087" y="244974"/>
        <a:ext cx="2255949" cy="1353569"/>
      </dsp:txXfrm>
    </dsp:sp>
    <dsp:sp modelId="{057B3C24-20F6-49BB-8B1F-3084406E4189}">
      <dsp:nvSpPr>
        <dsp:cNvPr id="0" name=""/>
        <dsp:cNvSpPr/>
      </dsp:nvSpPr>
      <dsp:spPr>
        <a:xfrm>
          <a:off x="1240771" y="1824138"/>
          <a:ext cx="2255949" cy="1353569"/>
        </a:xfrm>
        <a:prstGeom prst="rect">
          <a:avLst/>
        </a:prstGeom>
        <a:gradFill rotWithShape="0">
          <a:gsLst>
            <a:gs pos="0">
              <a:schemeClr val="accent2">
                <a:hueOff val="-14824290"/>
                <a:satOff val="676"/>
                <a:lumOff val="0"/>
                <a:alphaOff val="0"/>
                <a:tint val="98000"/>
                <a:lumMod val="114000"/>
              </a:schemeClr>
            </a:gs>
            <a:gs pos="100000">
              <a:schemeClr val="accent2">
                <a:hueOff val="-14824290"/>
                <a:satOff val="676"/>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a:t>Validación basada en una sola división temporal (2010–2018 / 2019+); se sugiere aplicar validación cruzada en futuros estudios.</a:t>
          </a:r>
          <a:endParaRPr lang="en-US" sz="1300" kern="1200"/>
        </a:p>
      </dsp:txBody>
      <dsp:txXfrm>
        <a:off x="1240771" y="1824138"/>
        <a:ext cx="2255949" cy="1353569"/>
      </dsp:txXfrm>
    </dsp:sp>
    <dsp:sp modelId="{B5D76959-E37A-4708-838A-799C06A9153F}">
      <dsp:nvSpPr>
        <dsp:cNvPr id="0" name=""/>
        <dsp:cNvSpPr/>
      </dsp:nvSpPr>
      <dsp:spPr>
        <a:xfrm>
          <a:off x="3722315" y="1824138"/>
          <a:ext cx="2255949" cy="1353569"/>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a:t>Las métricas son internamente válidas, pero la generalización externa requiere replicar el modelo en otras instituciones.</a:t>
          </a:r>
          <a:endParaRPr lang="en-US" sz="1300" kern="1200"/>
        </a:p>
      </dsp:txBody>
      <dsp:txXfrm>
        <a:off x="3722315" y="1824138"/>
        <a:ext cx="2255949" cy="135356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971463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849716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539951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s-ES"/>
              <a:t>Haga clic para modificar el estilo de título del patrón</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4266526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127638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490715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081274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906798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451527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n panorámica con descripció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049980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s-ES"/>
              <a:t>Haga clic para modificar el estilo de título del patrón</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10919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s-ES"/>
              <a:t>Haga clic para modificar el estilo de título del patrón</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390476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8654208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0724312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54268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693298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4275490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txBody>
            <a:bodyPr/>
            <a:lstStyle/>
            <a:p>
              <a:endParaRPr lang="es-CO"/>
            </a:p>
          </p:txBody>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CO"/>
            </a:p>
          </p:txBody>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‹Nº›</a:t>
            </a:fld>
            <a:endParaRPr lang="en-US"/>
          </a:p>
        </p:txBody>
      </p:sp>
      <p:sp>
        <p:nvSpPr>
          <p:cNvPr id="7" name="CuadroTexto 6">
            <a:extLst>
              <a:ext uri="{FF2B5EF4-FFF2-40B4-BE49-F238E27FC236}">
                <a16:creationId xmlns:a16="http://schemas.microsoft.com/office/drawing/2014/main" id="{EA4387CB-4FE1-F500-E9C4-8E7F34F8636A}"/>
              </a:ext>
            </a:extLst>
          </p:cNvPr>
          <p:cNvSpPr txBox="1"/>
          <p:nvPr userDrawn="1">
            <p:extLst>
              <p:ext uri="{1162E1C5-73C7-4A58-AE30-91384D911F3F}">
                <p184:classification xmlns:p184="http://schemas.microsoft.com/office/powerpoint/2018/4/main" val="ftr"/>
              </p:ext>
            </p:extLst>
          </p:nvPr>
        </p:nvSpPr>
        <p:spPr>
          <a:xfrm>
            <a:off x="8467725" y="6687820"/>
            <a:ext cx="633413" cy="106680"/>
          </a:xfrm>
          <a:prstGeom prst="rect">
            <a:avLst/>
          </a:prstGeom>
        </p:spPr>
        <p:txBody>
          <a:bodyPr horzOverflow="overflow" lIns="0" tIns="0" rIns="0" bIns="0">
            <a:spAutoFit/>
          </a:bodyPr>
          <a:lstStyle/>
          <a:p>
            <a:pPr algn="l"/>
            <a:r>
              <a:rPr lang="es-CO" sz="7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ESSITY INTERNAL</a:t>
            </a:r>
          </a:p>
        </p:txBody>
      </p:sp>
    </p:spTree>
    <p:extLst>
      <p:ext uri="{BB962C8B-B14F-4D97-AF65-F5344CB8AC3E}">
        <p14:creationId xmlns:p14="http://schemas.microsoft.com/office/powerpoint/2010/main" val="3848648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20"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CO"/>
            </a:p>
          </p:txBody>
        </p:sp>
      </p:grpSp>
      <p:sp>
        <p:nvSpPr>
          <p:cNvPr id="2" name="Title 1"/>
          <p:cNvSpPr>
            <a:spLocks noGrp="1"/>
          </p:cNvSpPr>
          <p:nvPr>
            <p:ph type="title"/>
          </p:nvPr>
        </p:nvSpPr>
        <p:spPr>
          <a:xfrm>
            <a:off x="400717" y="1085549"/>
            <a:ext cx="2979615" cy="4686903"/>
          </a:xfrm>
        </p:spPr>
        <p:txBody>
          <a:bodyPr anchor="ctr">
            <a:normAutofit/>
          </a:bodyPr>
          <a:lstStyle/>
          <a:p>
            <a:pPr algn="ctr"/>
            <a:r>
              <a:rPr lang="es-CO" sz="3600" b="1" dirty="0">
                <a:solidFill>
                  <a:schemeClr val="tx1"/>
                </a:solidFill>
              </a:rPr>
              <a:t>Predicción de la Deserción Universitaria con Machine </a:t>
            </a:r>
            <a:r>
              <a:rPr lang="es-CO" sz="3600" b="1" dirty="0" err="1">
                <a:solidFill>
                  <a:schemeClr val="tx1"/>
                </a:solidFill>
              </a:rPr>
              <a:t>Learning</a:t>
            </a:r>
            <a:endParaRPr lang="es-CO" sz="3600" b="1" dirty="0">
              <a:solidFill>
                <a:schemeClr val="tx1"/>
              </a:solidFill>
            </a:endParaRPr>
          </a:p>
        </p:txBody>
      </p:sp>
      <p:cxnSp>
        <p:nvCxnSpPr>
          <p:cNvPr id="21"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81049" y="1085549"/>
            <a:ext cx="4184780" cy="4686903"/>
          </a:xfrm>
        </p:spPr>
        <p:txBody>
          <a:bodyPr anchor="ctr">
            <a:normAutofit/>
          </a:bodyPr>
          <a:lstStyle/>
          <a:p>
            <a:pPr marL="0" indent="0">
              <a:lnSpc>
                <a:spcPct val="90000"/>
              </a:lnSpc>
              <a:buNone/>
            </a:pPr>
            <a:endParaRPr lang="es-CO" sz="1700" dirty="0">
              <a:solidFill>
                <a:schemeClr val="tx1"/>
              </a:solidFill>
            </a:endParaRPr>
          </a:p>
          <a:p>
            <a:pPr marL="0" indent="0">
              <a:lnSpc>
                <a:spcPct val="90000"/>
              </a:lnSpc>
              <a:buNone/>
            </a:pPr>
            <a:endParaRPr lang="es-CO" sz="1700" dirty="0">
              <a:solidFill>
                <a:schemeClr val="tx1"/>
              </a:solidFill>
            </a:endParaRPr>
          </a:p>
          <a:p>
            <a:pPr marL="0" indent="0">
              <a:lnSpc>
                <a:spcPct val="90000"/>
              </a:lnSpc>
              <a:buNone/>
            </a:pPr>
            <a:endParaRPr lang="es-CO" sz="1700" dirty="0">
              <a:solidFill>
                <a:schemeClr val="tx1"/>
              </a:solidFill>
            </a:endParaRPr>
          </a:p>
          <a:p>
            <a:pPr marL="0" indent="0">
              <a:lnSpc>
                <a:spcPct val="90000"/>
              </a:lnSpc>
              <a:buNone/>
            </a:pPr>
            <a:r>
              <a:rPr lang="es-CO" sz="1700" b="1" dirty="0">
                <a:solidFill>
                  <a:schemeClr val="tx1"/>
                </a:solidFill>
              </a:rPr>
              <a:t>María Paula Castro Hoyos </a:t>
            </a:r>
          </a:p>
          <a:p>
            <a:pPr marL="0" indent="0">
              <a:lnSpc>
                <a:spcPct val="90000"/>
              </a:lnSpc>
              <a:buNone/>
            </a:pPr>
            <a:r>
              <a:rPr lang="es-CO" sz="1700" b="1" dirty="0">
                <a:solidFill>
                  <a:schemeClr val="tx1"/>
                </a:solidFill>
              </a:rPr>
              <a:t>Magda Carolina Rodríguez </a:t>
            </a:r>
          </a:p>
          <a:p>
            <a:pPr marL="0" indent="0">
              <a:lnSpc>
                <a:spcPct val="90000"/>
              </a:lnSpc>
              <a:buNone/>
            </a:pPr>
            <a:r>
              <a:rPr lang="es-CO" sz="1700" b="1" dirty="0">
                <a:solidFill>
                  <a:schemeClr val="tx1"/>
                </a:solidFill>
              </a:rPr>
              <a:t>Santiago Giraldo Ramírez </a:t>
            </a:r>
          </a:p>
          <a:p>
            <a:pPr marL="0" indent="0">
              <a:lnSpc>
                <a:spcPct val="90000"/>
              </a:lnSpc>
              <a:buNone/>
            </a:pPr>
            <a:endParaRPr lang="es-CO" sz="1700" dirty="0">
              <a:solidFill>
                <a:schemeClr val="tx1"/>
              </a:solidFill>
            </a:endParaRPr>
          </a:p>
          <a:p>
            <a:pPr marL="0" indent="0">
              <a:lnSpc>
                <a:spcPct val="90000"/>
              </a:lnSpc>
              <a:buNone/>
            </a:pPr>
            <a:r>
              <a:rPr lang="es-CO" sz="1700" b="1" dirty="0">
                <a:solidFill>
                  <a:schemeClr val="tx1"/>
                </a:solidFill>
              </a:rPr>
              <a:t>Proyecto de Aprendizaje de Máquina Aplicado</a:t>
            </a:r>
          </a:p>
          <a:p>
            <a:pPr marL="0" indent="0">
              <a:lnSpc>
                <a:spcPct val="90000"/>
              </a:lnSpc>
              <a:buNone/>
            </a:pPr>
            <a:r>
              <a:rPr lang="es-CO" sz="1700" b="1" dirty="0">
                <a:solidFill>
                  <a:schemeClr val="tx1"/>
                </a:solidFill>
              </a:rPr>
              <a:t>Periodo 2025-2</a:t>
            </a:r>
          </a:p>
          <a:p>
            <a:pPr marL="0" indent="0">
              <a:lnSpc>
                <a:spcPct val="90000"/>
              </a:lnSpc>
              <a:buNone/>
            </a:pPr>
            <a:r>
              <a:rPr lang="es-CO" sz="1700" b="1" dirty="0">
                <a:solidFill>
                  <a:schemeClr val="tx1"/>
                </a:solidFill>
              </a:rPr>
              <a:t>Universidad EAFIT</a:t>
            </a:r>
          </a:p>
          <a:p>
            <a:pPr marL="0" indent="0">
              <a:lnSpc>
                <a:spcPct val="90000"/>
              </a:lnSpc>
              <a:buNone/>
            </a:pPr>
            <a:r>
              <a:rPr lang="es-CO" sz="1700" b="1" dirty="0">
                <a:solidFill>
                  <a:schemeClr val="tx1"/>
                </a:solidFill>
              </a:rPr>
              <a:t>Escuela de Ingeniería</a:t>
            </a:r>
          </a:p>
          <a:p>
            <a:pPr>
              <a:lnSpc>
                <a:spcPct val="90000"/>
              </a:lnSpc>
            </a:pPr>
            <a:endParaRPr lang="es-CO" sz="1700" dirty="0">
              <a:solidFill>
                <a:schemeClr val="tx1"/>
              </a:solidFill>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a:extLst>
            <a:ext uri="{FF2B5EF4-FFF2-40B4-BE49-F238E27FC236}">
              <a16:creationId xmlns:a16="http://schemas.microsoft.com/office/drawing/2014/main" id="{3408E990-14D8-73BD-63E3-97D456E42436}"/>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pSp>
        <p:nvGrpSpPr>
          <p:cNvPr id="13" name="Group 12">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useBgFill="1">
          <p:nvSpPr>
            <p:cNvPr id="14" name="Rectangle 13">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5"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s-CO"/>
            </a:p>
          </p:txBody>
        </p:sp>
      </p:grpSp>
      <p:sp>
        <p:nvSpPr>
          <p:cNvPr id="2" name="Título 1">
            <a:extLst>
              <a:ext uri="{FF2B5EF4-FFF2-40B4-BE49-F238E27FC236}">
                <a16:creationId xmlns:a16="http://schemas.microsoft.com/office/drawing/2014/main" id="{1F38472A-DE49-E2B5-1C82-790A2C27D082}"/>
              </a:ext>
            </a:extLst>
          </p:cNvPr>
          <p:cNvSpPr>
            <a:spLocks noGrp="1"/>
          </p:cNvSpPr>
          <p:nvPr>
            <p:ph type="title"/>
          </p:nvPr>
        </p:nvSpPr>
        <p:spPr>
          <a:xfrm>
            <a:off x="1262378" y="1169773"/>
            <a:ext cx="6619243" cy="2870161"/>
          </a:xfrm>
        </p:spPr>
        <p:txBody>
          <a:bodyPr vert="horz" lIns="91440" tIns="45720" rIns="91440" bIns="45720" rtlCol="0" anchor="b">
            <a:normAutofit/>
          </a:bodyPr>
          <a:lstStyle/>
          <a:p>
            <a:pPr algn="ctr"/>
            <a:r>
              <a:rPr lang="en-US" sz="5400">
                <a:solidFill>
                  <a:schemeClr val="tx1"/>
                </a:solidFill>
              </a:rPr>
              <a:t>FUNDAMENTOS CONCEPTUALES Y METODOLOGÍA</a:t>
            </a:r>
          </a:p>
        </p:txBody>
      </p:sp>
      <p:cxnSp>
        <p:nvCxnSpPr>
          <p:cNvPr id="17" name="Straight Connector 16">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18686" y="4166888"/>
            <a:ext cx="506627"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0203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39CB8B-369C-85B0-0F19-4A3F25137E1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CO"/>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122264" y="751601"/>
            <a:ext cx="6053670" cy="5354799"/>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s-CO"/>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sp>
        <p:nvSpPr>
          <p:cNvPr id="2" name="Title 1">
            <a:extLst>
              <a:ext uri="{FF2B5EF4-FFF2-40B4-BE49-F238E27FC236}">
                <a16:creationId xmlns:a16="http://schemas.microsoft.com/office/drawing/2014/main" id="{1B7DE162-7B90-1483-4EAE-B1578E839E8A}"/>
              </a:ext>
            </a:extLst>
          </p:cNvPr>
          <p:cNvSpPr>
            <a:spLocks noGrp="1"/>
          </p:cNvSpPr>
          <p:nvPr>
            <p:ph type="title"/>
          </p:nvPr>
        </p:nvSpPr>
        <p:spPr>
          <a:xfrm>
            <a:off x="745565" y="1130603"/>
            <a:ext cx="2506831" cy="4596794"/>
          </a:xfrm>
        </p:spPr>
        <p:txBody>
          <a:bodyPr anchor="ctr">
            <a:normAutofit/>
          </a:bodyPr>
          <a:lstStyle/>
          <a:p>
            <a:r>
              <a:rPr lang="es-CO" sz="2800">
                <a:solidFill>
                  <a:srgbClr val="EBEBEB"/>
                </a:solidFill>
              </a:rPr>
              <a:t>Contexto y Motivación</a:t>
            </a:r>
          </a:p>
        </p:txBody>
      </p:sp>
      <p:sp>
        <p:nvSpPr>
          <p:cNvPr id="3" name="Content Placeholder 2">
            <a:extLst>
              <a:ext uri="{FF2B5EF4-FFF2-40B4-BE49-F238E27FC236}">
                <a16:creationId xmlns:a16="http://schemas.microsoft.com/office/drawing/2014/main" id="{D98169D7-8F26-592E-26E9-84D4B8472ABB}"/>
              </a:ext>
            </a:extLst>
          </p:cNvPr>
          <p:cNvSpPr>
            <a:spLocks noGrp="1"/>
          </p:cNvSpPr>
          <p:nvPr>
            <p:ph idx="1"/>
          </p:nvPr>
        </p:nvSpPr>
        <p:spPr>
          <a:xfrm>
            <a:off x="3967557" y="437513"/>
            <a:ext cx="4858942" cy="5954325"/>
          </a:xfrm>
        </p:spPr>
        <p:txBody>
          <a:bodyPr anchor="ctr">
            <a:normAutofit/>
          </a:bodyPr>
          <a:lstStyle/>
          <a:p>
            <a:pPr>
              <a:lnSpc>
                <a:spcPct val="90000"/>
              </a:lnSpc>
            </a:pPr>
            <a:r>
              <a:rPr lang="es-CO" sz="1300" dirty="0"/>
              <a:t>Qué es deserción: "La deserción es un evento individual de interrupción o desvinculación de la trayectoria académica institucional resultado de uno o varios procesos en el plano personal, institucional o social." </a:t>
            </a:r>
          </a:p>
          <a:p>
            <a:pPr>
              <a:lnSpc>
                <a:spcPct val="90000"/>
              </a:lnSpc>
            </a:pPr>
            <a:r>
              <a:rPr lang="es-CO" sz="1300" dirty="0"/>
              <a:t>La deserción universitaria en Colombia supera el 45%; no es atribuible a una única causa, sino al entrecruce de múltiples factores. En el plano individual, el bajo rendimiento académico, la escasa motivación, y las dificultades para adaptarse al entorno universitario son recurrentes</a:t>
            </a:r>
          </a:p>
          <a:p>
            <a:pPr>
              <a:lnSpc>
                <a:spcPct val="90000"/>
              </a:lnSpc>
            </a:pPr>
            <a:r>
              <a:rPr lang="es-CO" sz="1300" dirty="0"/>
              <a:t>El rendimiento académico temprano emerge como el predictor más robusto de deserción. Los estudios identifican variables académicas clave:</a:t>
            </a:r>
          </a:p>
          <a:p>
            <a:pPr lvl="0">
              <a:lnSpc>
                <a:spcPct val="90000"/>
              </a:lnSpc>
            </a:pPr>
            <a:r>
              <a:rPr lang="es-CO" sz="1300" dirty="0"/>
              <a:t>Rendimiento en primeras semanas/primer semestre: Predictor fuerte de permanencia</a:t>
            </a:r>
          </a:p>
          <a:p>
            <a:pPr lvl="0">
              <a:lnSpc>
                <a:spcPct val="90000"/>
              </a:lnSpc>
            </a:pPr>
            <a:r>
              <a:rPr lang="es-CO" sz="1300" dirty="0"/>
              <a:t>Puntaje en pruebas de ingreso: Correlación con éxito académico posterior</a:t>
            </a:r>
          </a:p>
          <a:p>
            <a:pPr lvl="0">
              <a:lnSpc>
                <a:spcPct val="90000"/>
              </a:lnSpc>
            </a:pPr>
            <a:r>
              <a:rPr lang="es-CO" sz="1300" dirty="0"/>
              <a:t>Resultados en matemáticas: Área crítica para múltiples carreras</a:t>
            </a:r>
          </a:p>
          <a:p>
            <a:pPr lvl="0">
              <a:lnSpc>
                <a:spcPct val="90000"/>
              </a:lnSpc>
            </a:pPr>
            <a:r>
              <a:rPr lang="es-CO" sz="1300" dirty="0"/>
              <a:t>Adaptación académica: Transición de educación secundaria a universitaria</a:t>
            </a:r>
          </a:p>
        </p:txBody>
      </p:sp>
    </p:spTree>
    <p:extLst>
      <p:ext uri="{BB962C8B-B14F-4D97-AF65-F5344CB8AC3E}">
        <p14:creationId xmlns:p14="http://schemas.microsoft.com/office/powerpoint/2010/main" val="376989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CO"/>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122264" y="751601"/>
            <a:ext cx="6053670" cy="5354799"/>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s-CO"/>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sp>
        <p:nvSpPr>
          <p:cNvPr id="2" name="Title 1"/>
          <p:cNvSpPr>
            <a:spLocks noGrp="1"/>
          </p:cNvSpPr>
          <p:nvPr>
            <p:ph type="title"/>
          </p:nvPr>
        </p:nvSpPr>
        <p:spPr>
          <a:xfrm>
            <a:off x="745565" y="1130603"/>
            <a:ext cx="2506831" cy="4596794"/>
          </a:xfrm>
        </p:spPr>
        <p:txBody>
          <a:bodyPr anchor="ctr">
            <a:normAutofit/>
          </a:bodyPr>
          <a:lstStyle/>
          <a:p>
            <a:r>
              <a:rPr lang="es-CO" sz="2800">
                <a:solidFill>
                  <a:srgbClr val="EBEBEB"/>
                </a:solidFill>
              </a:rPr>
              <a:t>Contexto y Motivación</a:t>
            </a:r>
          </a:p>
        </p:txBody>
      </p:sp>
      <p:sp>
        <p:nvSpPr>
          <p:cNvPr id="3" name="Content Placeholder 2"/>
          <p:cNvSpPr>
            <a:spLocks noGrp="1"/>
          </p:cNvSpPr>
          <p:nvPr>
            <p:ph idx="1"/>
          </p:nvPr>
        </p:nvSpPr>
        <p:spPr>
          <a:xfrm>
            <a:off x="3967557" y="437513"/>
            <a:ext cx="4858942" cy="5954325"/>
          </a:xfrm>
        </p:spPr>
        <p:txBody>
          <a:bodyPr anchor="ctr">
            <a:normAutofit/>
          </a:bodyPr>
          <a:lstStyle/>
          <a:p>
            <a:r>
              <a:rPr lang="es-CO" sz="1700" dirty="0"/>
              <a:t>El análisis de la deserción universitaria en Colombia ha evolucionado en la última década. Inicialmente, las investigaciones se centraban en enfoques cualitativos, sustentados en encuestas, entrevistas o análisis estadísticos convencionales. Pero con la incorporación de técnicas avanzadas de ciencia de datos, se han abierto nuevas posibilidades para comprender el fenómeno desde una perspectiva más precisa, predictiva y adaptativa. </a:t>
            </a:r>
          </a:p>
          <a:p>
            <a:r>
              <a:rPr lang="es-CO" sz="1700" dirty="0"/>
              <a:t>La ciencia de datos ha permitido pasar de un enfoque explicativo a uno preventivo, en el que las decisiones institucionales pueden anticiparse al comportamiento de los estudiante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Objetivos del Estudio</a:t>
            </a:r>
          </a:p>
        </p:txBody>
      </p:sp>
      <p:sp>
        <p:nvSpPr>
          <p:cNvPr id="3" name="Content Placeholder 2"/>
          <p:cNvSpPr>
            <a:spLocks noGrp="1"/>
          </p:cNvSpPr>
          <p:nvPr>
            <p:ph idx="1"/>
          </p:nvPr>
        </p:nvSpPr>
        <p:spPr>
          <a:xfrm>
            <a:off x="864381" y="2489200"/>
            <a:ext cx="7661551" cy="3530600"/>
          </a:xfrm>
        </p:spPr>
        <p:txBody>
          <a:bodyPr>
            <a:normAutofit/>
          </a:bodyPr>
          <a:lstStyle/>
          <a:p>
            <a:pPr marL="0" indent="0">
              <a:buNone/>
            </a:pPr>
            <a:r>
              <a:rPr b="1" dirty="0" err="1"/>
              <a:t>Objetivo</a:t>
            </a:r>
            <a:r>
              <a:rPr b="1" dirty="0"/>
              <a:t> general:</a:t>
            </a:r>
          </a:p>
          <a:p>
            <a:pPr algn="just"/>
            <a:r>
              <a:rPr dirty="0" err="1"/>
              <a:t>Desarrollar</a:t>
            </a:r>
            <a:r>
              <a:rPr dirty="0"/>
              <a:t> un </a:t>
            </a:r>
            <a:r>
              <a:rPr dirty="0" err="1"/>
              <a:t>modelo</a:t>
            </a:r>
            <a:r>
              <a:rPr dirty="0"/>
              <a:t> </a:t>
            </a:r>
            <a:r>
              <a:rPr dirty="0" err="1"/>
              <a:t>predictivo</a:t>
            </a:r>
            <a:r>
              <a:rPr dirty="0"/>
              <a:t> para </a:t>
            </a:r>
            <a:r>
              <a:rPr dirty="0" err="1"/>
              <a:t>identificar</a:t>
            </a:r>
            <a:r>
              <a:rPr dirty="0"/>
              <a:t> </a:t>
            </a:r>
            <a:r>
              <a:rPr dirty="0" err="1"/>
              <a:t>estudiantes</a:t>
            </a:r>
            <a:r>
              <a:rPr dirty="0"/>
              <a:t> en </a:t>
            </a:r>
            <a:r>
              <a:rPr dirty="0" err="1"/>
              <a:t>riesgo</a:t>
            </a:r>
            <a:r>
              <a:rPr lang="es-MX" dirty="0"/>
              <a:t> de </a:t>
            </a:r>
            <a:r>
              <a:rPr lang="es-CO" dirty="0"/>
              <a:t>deserción universitaria en la Universidad EAFIT en Medellín</a:t>
            </a:r>
            <a:endParaRPr dirty="0"/>
          </a:p>
          <a:p>
            <a:endParaRPr dirty="0"/>
          </a:p>
          <a:p>
            <a:pPr marL="0" indent="0">
              <a:buNone/>
            </a:pPr>
            <a:r>
              <a:rPr b="1" dirty="0" err="1"/>
              <a:t>Objetivos</a:t>
            </a:r>
            <a:r>
              <a:rPr b="1" dirty="0"/>
              <a:t> </a:t>
            </a:r>
            <a:r>
              <a:rPr b="1" dirty="0" err="1"/>
              <a:t>específicos</a:t>
            </a:r>
            <a:r>
              <a:rPr b="1" dirty="0"/>
              <a:t>:</a:t>
            </a:r>
          </a:p>
          <a:p>
            <a:pPr algn="just"/>
            <a:r>
              <a:rPr lang="es-CO" dirty="0"/>
              <a:t>Realizar un análisis exploratorio de datos (EDA) para describir el comportamiento de las variables </a:t>
            </a:r>
          </a:p>
          <a:p>
            <a:pPr algn="just"/>
            <a:r>
              <a:rPr dirty="0" err="1"/>
              <a:t>Evaluar</a:t>
            </a:r>
            <a:r>
              <a:rPr dirty="0"/>
              <a:t> y </a:t>
            </a:r>
            <a:r>
              <a:rPr dirty="0" err="1"/>
              <a:t>comparar</a:t>
            </a:r>
            <a:r>
              <a:rPr dirty="0"/>
              <a:t> </a:t>
            </a:r>
            <a:r>
              <a:rPr dirty="0" err="1"/>
              <a:t>distintos</a:t>
            </a:r>
            <a:r>
              <a:rPr dirty="0"/>
              <a:t> </a:t>
            </a:r>
            <a:r>
              <a:rPr dirty="0" err="1"/>
              <a:t>algoritmos</a:t>
            </a:r>
            <a:r>
              <a:rPr dirty="0"/>
              <a:t> de Machine Learning.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a:extLst>
            <a:ext uri="{FF2B5EF4-FFF2-40B4-BE49-F238E27FC236}">
              <a16:creationId xmlns:a16="http://schemas.microsoft.com/office/drawing/2014/main" id="{9C9F8B2C-A486-C801-1F52-F6B9E522BD32}"/>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pSp>
        <p:nvGrpSpPr>
          <p:cNvPr id="13" name="Group 12">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useBgFill="1">
          <p:nvSpPr>
            <p:cNvPr id="14" name="Rectangle 13">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5"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s-CO"/>
            </a:p>
          </p:txBody>
        </p:sp>
      </p:grpSp>
      <p:sp>
        <p:nvSpPr>
          <p:cNvPr id="2" name="Título 1">
            <a:extLst>
              <a:ext uri="{FF2B5EF4-FFF2-40B4-BE49-F238E27FC236}">
                <a16:creationId xmlns:a16="http://schemas.microsoft.com/office/drawing/2014/main" id="{1A7C639B-3D8B-722B-30FE-DFA125167D6F}"/>
              </a:ext>
            </a:extLst>
          </p:cNvPr>
          <p:cNvSpPr>
            <a:spLocks noGrp="1"/>
          </p:cNvSpPr>
          <p:nvPr>
            <p:ph type="title"/>
          </p:nvPr>
        </p:nvSpPr>
        <p:spPr>
          <a:xfrm>
            <a:off x="1262378" y="1169773"/>
            <a:ext cx="6619243" cy="2870161"/>
          </a:xfrm>
        </p:spPr>
        <p:txBody>
          <a:bodyPr vert="horz" lIns="91440" tIns="45720" rIns="91440" bIns="45720" rtlCol="0" anchor="b">
            <a:normAutofit/>
          </a:bodyPr>
          <a:lstStyle/>
          <a:p>
            <a:pPr algn="ctr"/>
            <a:r>
              <a:rPr lang="en-US" sz="5400">
                <a:solidFill>
                  <a:schemeClr val="tx1"/>
                </a:solidFill>
              </a:rPr>
              <a:t>EDA</a:t>
            </a:r>
          </a:p>
        </p:txBody>
      </p:sp>
      <p:cxnSp>
        <p:nvCxnSpPr>
          <p:cNvPr id="17" name="Straight Connector 16">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18686" y="4166888"/>
            <a:ext cx="506627"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71730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CO"/>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grpSp>
      <p:sp>
        <p:nvSpPr>
          <p:cNvPr id="2" name="Title 1"/>
          <p:cNvSpPr>
            <a:spLocks noGrp="1"/>
          </p:cNvSpPr>
          <p:nvPr>
            <p:ph type="title"/>
          </p:nvPr>
        </p:nvSpPr>
        <p:spPr>
          <a:xfrm>
            <a:off x="866216" y="973667"/>
            <a:ext cx="2206657" cy="4833745"/>
          </a:xfrm>
        </p:spPr>
        <p:txBody>
          <a:bodyPr>
            <a:normAutofit/>
          </a:bodyPr>
          <a:lstStyle/>
          <a:p>
            <a:r>
              <a:rPr lang="es-CO">
                <a:solidFill>
                  <a:srgbClr val="EBEBEB"/>
                </a:solidFill>
              </a:rPr>
              <a:t>Datos Utilizados</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aphicFrame>
        <p:nvGraphicFramePr>
          <p:cNvPr id="5" name="Content Placeholder 2">
            <a:extLst>
              <a:ext uri="{FF2B5EF4-FFF2-40B4-BE49-F238E27FC236}">
                <a16:creationId xmlns:a16="http://schemas.microsoft.com/office/drawing/2014/main" id="{62CD3510-9F2A-ABBB-F3F2-F2C1478DBEA6}"/>
              </a:ext>
            </a:extLst>
          </p:cNvPr>
          <p:cNvGraphicFramePr>
            <a:graphicFrameLocks noGrp="1"/>
          </p:cNvGraphicFramePr>
          <p:nvPr>
            <p:ph idx="1"/>
            <p:extLst>
              <p:ext uri="{D42A27DB-BD31-4B8C-83A1-F6EECF244321}">
                <p14:modId xmlns:p14="http://schemas.microsoft.com/office/powerpoint/2010/main" val="3946242591"/>
              </p:ext>
            </p:extLst>
          </p:nvPr>
        </p:nvGraphicFramePr>
        <p:xfrm>
          <a:off x="3895725" y="808038"/>
          <a:ext cx="4793456"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Análisis Exploratorio (EDA)</a:t>
            </a:r>
          </a:p>
        </p:txBody>
      </p:sp>
      <p:sp>
        <p:nvSpPr>
          <p:cNvPr id="3" name="Content Placeholder 2"/>
          <p:cNvSpPr>
            <a:spLocks noGrp="1"/>
          </p:cNvSpPr>
          <p:nvPr>
            <p:ph idx="1"/>
          </p:nvPr>
        </p:nvSpPr>
        <p:spPr>
          <a:xfrm>
            <a:off x="4853577" y="2449568"/>
            <a:ext cx="7493000" cy="4525963"/>
          </a:xfrm>
        </p:spPr>
        <p:txBody>
          <a:bodyPr>
            <a:normAutofit/>
          </a:bodyPr>
          <a:lstStyle/>
          <a:p>
            <a:r>
              <a:rPr sz="1800" dirty="0"/>
              <a:t>Nota </a:t>
            </a:r>
            <a:r>
              <a:rPr sz="1800" dirty="0" err="1"/>
              <a:t>promedio</a:t>
            </a:r>
            <a:r>
              <a:rPr sz="1800" dirty="0"/>
              <a:t> general: 3.86.</a:t>
            </a:r>
          </a:p>
          <a:p>
            <a:pPr lvl="0"/>
            <a:r>
              <a:rPr lang="es-CO" sz="1800" dirty="0"/>
              <a:t>Tasa de deserción: 32.97% </a:t>
            </a:r>
          </a:p>
          <a:p>
            <a:pPr lvl="0"/>
            <a:r>
              <a:rPr lang="es-CO" sz="1800" dirty="0"/>
              <a:t>Tasa de graduación: 51.56%</a:t>
            </a:r>
          </a:p>
          <a:p>
            <a:pPr lvl="0"/>
            <a:r>
              <a:rPr lang="es-CO" sz="1800" dirty="0"/>
              <a:t>Estudiantes activos: 14,97%</a:t>
            </a:r>
          </a:p>
          <a:p>
            <a:pPr lvl="0"/>
            <a:r>
              <a:rPr lang="es-MX" sz="1800" dirty="0"/>
              <a:t>Distribución por escuela:</a:t>
            </a:r>
          </a:p>
        </p:txBody>
      </p:sp>
      <p:sp>
        <p:nvSpPr>
          <p:cNvPr id="7" name="CuadroTexto 6">
            <a:extLst>
              <a:ext uri="{FF2B5EF4-FFF2-40B4-BE49-F238E27FC236}">
                <a16:creationId xmlns:a16="http://schemas.microsoft.com/office/drawing/2014/main" id="{96FE3D3F-E5DD-0223-B750-C099C4EC5546}"/>
              </a:ext>
            </a:extLst>
          </p:cNvPr>
          <p:cNvSpPr txBox="1"/>
          <p:nvPr/>
        </p:nvSpPr>
        <p:spPr>
          <a:xfrm>
            <a:off x="543923" y="5126191"/>
            <a:ext cx="8056154" cy="1384995"/>
          </a:xfrm>
          <a:prstGeom prst="rect">
            <a:avLst/>
          </a:prstGeom>
          <a:noFill/>
        </p:spPr>
        <p:txBody>
          <a:bodyPr wrap="square">
            <a:spAutoFit/>
          </a:bodyPr>
          <a:lstStyle/>
          <a:p>
            <a:pPr indent="183515" algn="just">
              <a:buNone/>
            </a:pPr>
            <a:r>
              <a:rPr lang="es-CO" sz="1200" dirty="0">
                <a:effectLst/>
                <a:latin typeface="+mj-lt"/>
                <a:ea typeface="SimSun" panose="02010600030101010101" pitchFamily="2" charset="-122"/>
              </a:rPr>
              <a:t>El conjunto de datos evidencia una concentración significativa de estudiantes en las escuelas de </a:t>
            </a:r>
            <a:r>
              <a:rPr lang="es-CO" sz="1200" i="1" dirty="0">
                <a:effectLst/>
                <a:latin typeface="+mj-lt"/>
                <a:ea typeface="SimSun" panose="02010600030101010101" pitchFamily="2" charset="-122"/>
              </a:rPr>
              <a:t>Administración</a:t>
            </a:r>
            <a:r>
              <a:rPr lang="es-CO" sz="1200" dirty="0">
                <a:effectLst/>
                <a:latin typeface="+mj-lt"/>
                <a:ea typeface="SimSun" panose="02010600030101010101" pitchFamily="2" charset="-122"/>
              </a:rPr>
              <a:t> (26.579 estudiantes únicos) y </a:t>
            </a:r>
            <a:r>
              <a:rPr lang="es-CO" sz="1200" i="1" dirty="0">
                <a:effectLst/>
                <a:latin typeface="+mj-lt"/>
                <a:ea typeface="SimSun" panose="02010600030101010101" pitchFamily="2" charset="-122"/>
              </a:rPr>
              <a:t>Ciencias Aplicadas e Ingeniería</a:t>
            </a:r>
            <a:r>
              <a:rPr lang="es-CO" sz="1200" dirty="0">
                <a:effectLst/>
                <a:latin typeface="+mj-lt"/>
                <a:ea typeface="SimSun" panose="02010600030101010101" pitchFamily="2" charset="-122"/>
              </a:rPr>
              <a:t> (21.826), que en conjunto representan más del 70% del total. En contraste, las escuelas de </a:t>
            </a:r>
            <a:r>
              <a:rPr lang="es-CO" sz="1200" i="1" dirty="0">
                <a:effectLst/>
                <a:latin typeface="+mj-lt"/>
                <a:ea typeface="SimSun" panose="02010600030101010101" pitchFamily="2" charset="-122"/>
              </a:rPr>
              <a:t>Derecho</a:t>
            </a:r>
            <a:r>
              <a:rPr lang="es-CO" sz="1200" dirty="0">
                <a:effectLst/>
                <a:latin typeface="+mj-lt"/>
                <a:ea typeface="SimSun" panose="02010600030101010101" pitchFamily="2" charset="-122"/>
              </a:rPr>
              <a:t> (3.633), </a:t>
            </a:r>
            <a:r>
              <a:rPr lang="es-CO" sz="1200" i="1" dirty="0">
                <a:effectLst/>
                <a:latin typeface="+mj-lt"/>
                <a:ea typeface="SimSun" panose="02010600030101010101" pitchFamily="2" charset="-122"/>
              </a:rPr>
              <a:t>Finanzas, Economía y Gobierno</a:t>
            </a:r>
            <a:r>
              <a:rPr lang="es-CO" sz="1200" dirty="0">
                <a:effectLst/>
                <a:latin typeface="+mj-lt"/>
                <a:ea typeface="SimSun" panose="02010600030101010101" pitchFamily="2" charset="-122"/>
              </a:rPr>
              <a:t> (4.512) y </a:t>
            </a:r>
            <a:r>
              <a:rPr lang="es-CO" sz="1200" i="1" dirty="0">
                <a:effectLst/>
                <a:latin typeface="+mj-lt"/>
                <a:ea typeface="SimSun" panose="02010600030101010101" pitchFamily="2" charset="-122"/>
              </a:rPr>
              <a:t>Artes y Humanidades</a:t>
            </a:r>
            <a:r>
              <a:rPr lang="es-CO" sz="1200" dirty="0">
                <a:effectLst/>
                <a:latin typeface="+mj-lt"/>
                <a:ea typeface="SimSun" panose="02010600030101010101" pitchFamily="2" charset="-122"/>
              </a:rPr>
              <a:t> (5.110) agrupan una menor proporción de estudiantes, lo cual refleja una distribución heterogénea en la matrícula según el área del conocimiento.  Este comportamiento se aprecia en la Figura 14, donde la </a:t>
            </a:r>
            <a:r>
              <a:rPr lang="es-CO" sz="1200" i="1" dirty="0">
                <a:effectLst/>
                <a:latin typeface="+mj-lt"/>
                <a:ea typeface="SimSun" panose="02010600030101010101" pitchFamily="2" charset="-122"/>
              </a:rPr>
              <a:t>Escuela de Administración</a:t>
            </a:r>
            <a:r>
              <a:rPr lang="es-CO" sz="1200" dirty="0">
                <a:effectLst/>
                <a:latin typeface="+mj-lt"/>
                <a:ea typeface="SimSun" panose="02010600030101010101" pitchFamily="2" charset="-122"/>
              </a:rPr>
              <a:t> ocupa la mayor proporción en la distribución total.</a:t>
            </a:r>
          </a:p>
        </p:txBody>
      </p:sp>
      <p:pic>
        <p:nvPicPr>
          <p:cNvPr id="6" name="Imagen 5">
            <a:extLst>
              <a:ext uri="{FF2B5EF4-FFF2-40B4-BE49-F238E27FC236}">
                <a16:creationId xmlns:a16="http://schemas.microsoft.com/office/drawing/2014/main" id="{BC44730A-FF92-160D-2264-431843BB75FD}"/>
              </a:ext>
            </a:extLst>
          </p:cNvPr>
          <p:cNvPicPr>
            <a:picLocks noChangeAspect="1"/>
          </p:cNvPicPr>
          <p:nvPr/>
        </p:nvPicPr>
        <p:blipFill>
          <a:blip r:embed="rId2"/>
          <a:stretch>
            <a:fillRect/>
          </a:stretch>
        </p:blipFill>
        <p:spPr>
          <a:xfrm>
            <a:off x="1017282" y="2445100"/>
            <a:ext cx="3462020" cy="2387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67858-24C1-401A-F2E2-275882471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BD4C8-341D-7084-5770-9691399172CB}"/>
              </a:ext>
            </a:extLst>
          </p:cNvPr>
          <p:cNvSpPr>
            <a:spLocks noGrp="1"/>
          </p:cNvSpPr>
          <p:nvPr>
            <p:ph type="title"/>
          </p:nvPr>
        </p:nvSpPr>
        <p:spPr/>
        <p:txBody>
          <a:bodyPr/>
          <a:lstStyle/>
          <a:p>
            <a:r>
              <a:t>Análisis Exploratorio (EDA)</a:t>
            </a:r>
          </a:p>
        </p:txBody>
      </p:sp>
      <p:sp>
        <p:nvSpPr>
          <p:cNvPr id="9" name="CuadroTexto 8">
            <a:extLst>
              <a:ext uri="{FF2B5EF4-FFF2-40B4-BE49-F238E27FC236}">
                <a16:creationId xmlns:a16="http://schemas.microsoft.com/office/drawing/2014/main" id="{FDC44FEC-8A78-30FE-7694-34291D0724FC}"/>
              </a:ext>
            </a:extLst>
          </p:cNvPr>
          <p:cNvSpPr txBox="1"/>
          <p:nvPr/>
        </p:nvSpPr>
        <p:spPr>
          <a:xfrm>
            <a:off x="5020733" y="2557700"/>
            <a:ext cx="4007989" cy="3648691"/>
          </a:xfrm>
          <a:prstGeom prst="rect">
            <a:avLst/>
          </a:prstGeom>
          <a:noFill/>
        </p:spPr>
        <p:txBody>
          <a:bodyPr wrap="square">
            <a:spAutoFit/>
          </a:bodyPr>
          <a:lstStyle/>
          <a:p>
            <a:pPr indent="183515" algn="just">
              <a:lnSpc>
                <a:spcPct val="95000"/>
              </a:lnSpc>
              <a:spcAft>
                <a:spcPts val="600"/>
              </a:spcAft>
              <a:buNone/>
              <a:tabLst>
                <a:tab pos="182880" algn="l"/>
              </a:tabLst>
            </a:pPr>
            <a:r>
              <a:rPr lang="x-none" sz="1400" spc="-5" dirty="0">
                <a:effectLst/>
                <a:latin typeface="+mj-lt"/>
                <a:ea typeface="SimSun" panose="02010600030101010101" pitchFamily="2" charset="-122"/>
              </a:rPr>
              <a:t>El análisis estadístico muestra que las calificaciones presentan una media de 3.86, una mediana de 4.00 y una desviación estándar de 0.82, con valores mínimos y máximos de 0.0 y 5.0, respectivamente. Esto sugiere una distribución sesgada hacia calificaciones altas, lo cual es indicativo de un rendimiento académico general positivo entre los estudiantes de pregrado.</a:t>
            </a:r>
            <a:endParaRPr lang="es-CO" sz="1400" spc="-5" dirty="0">
              <a:latin typeface="+mj-lt"/>
              <a:ea typeface="SimSun" panose="02010600030101010101" pitchFamily="2" charset="-122"/>
            </a:endParaRPr>
          </a:p>
          <a:p>
            <a:pPr indent="183515" algn="just">
              <a:lnSpc>
                <a:spcPct val="95000"/>
              </a:lnSpc>
              <a:spcAft>
                <a:spcPts val="600"/>
              </a:spcAft>
              <a:buNone/>
              <a:tabLst>
                <a:tab pos="182880" algn="l"/>
              </a:tabLst>
            </a:pPr>
            <a:r>
              <a:rPr lang="es-CO" sz="1400" spc="-5" dirty="0">
                <a:effectLst/>
                <a:latin typeface="+mj-lt"/>
                <a:ea typeface="SimSun" panose="02010600030101010101" pitchFamily="2" charset="-122"/>
              </a:rPr>
              <a:t>Se </a:t>
            </a:r>
            <a:r>
              <a:rPr lang="x-none" sz="1400" spc="-5" dirty="0">
                <a:effectLst/>
                <a:latin typeface="+mj-lt"/>
                <a:ea typeface="SimSun" panose="02010600030101010101" pitchFamily="2" charset="-122"/>
              </a:rPr>
              <a:t>muestra el histograma de distribución de notas, donde se observa que la mayoría de las calificaciones se concentran entre 3 y 5, con un pico alrededor de la nota 4.0. Este comportamiento refleja que una gran proporción de estudiantes mantiene un rendimiento por encima del umbral de aprobación.</a:t>
            </a:r>
            <a:endParaRPr lang="es-CO" sz="1400" spc="-5" dirty="0">
              <a:effectLst/>
              <a:latin typeface="+mj-lt"/>
              <a:ea typeface="SimSun" panose="02010600030101010101" pitchFamily="2" charset="-122"/>
            </a:endParaRPr>
          </a:p>
        </p:txBody>
      </p:sp>
      <p:pic>
        <p:nvPicPr>
          <p:cNvPr id="5" name="Imagen 4">
            <a:extLst>
              <a:ext uri="{FF2B5EF4-FFF2-40B4-BE49-F238E27FC236}">
                <a16:creationId xmlns:a16="http://schemas.microsoft.com/office/drawing/2014/main" id="{F30B7DCE-F4BF-9310-29EF-EB22801D500C}"/>
              </a:ext>
            </a:extLst>
          </p:cNvPr>
          <p:cNvPicPr>
            <a:picLocks noChangeAspect="1"/>
          </p:cNvPicPr>
          <p:nvPr/>
        </p:nvPicPr>
        <p:blipFill>
          <a:blip r:embed="rId2"/>
          <a:stretch>
            <a:fillRect/>
          </a:stretch>
        </p:blipFill>
        <p:spPr>
          <a:xfrm>
            <a:off x="482544" y="2889090"/>
            <a:ext cx="4428123" cy="2627388"/>
          </a:xfrm>
          <a:prstGeom prst="rect">
            <a:avLst/>
          </a:prstGeom>
        </p:spPr>
      </p:pic>
    </p:spTree>
    <p:extLst>
      <p:ext uri="{BB962C8B-B14F-4D97-AF65-F5344CB8AC3E}">
        <p14:creationId xmlns:p14="http://schemas.microsoft.com/office/powerpoint/2010/main" val="2084230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0326-2BE9-6F1C-AD97-89D183F0F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64E1F-E3C1-956F-602D-5D50BC902091}"/>
              </a:ext>
            </a:extLst>
          </p:cNvPr>
          <p:cNvSpPr>
            <a:spLocks noGrp="1"/>
          </p:cNvSpPr>
          <p:nvPr>
            <p:ph type="title"/>
          </p:nvPr>
        </p:nvSpPr>
        <p:spPr/>
        <p:txBody>
          <a:bodyPr/>
          <a:lstStyle/>
          <a:p>
            <a:r>
              <a:t>Análisis Exploratorio (EDA)</a:t>
            </a:r>
          </a:p>
        </p:txBody>
      </p:sp>
      <p:sp>
        <p:nvSpPr>
          <p:cNvPr id="8" name="CuadroTexto 7">
            <a:extLst>
              <a:ext uri="{FF2B5EF4-FFF2-40B4-BE49-F238E27FC236}">
                <a16:creationId xmlns:a16="http://schemas.microsoft.com/office/drawing/2014/main" id="{74760CFE-1561-2F6E-6C2E-2BB4249634EE}"/>
              </a:ext>
            </a:extLst>
          </p:cNvPr>
          <p:cNvSpPr txBox="1"/>
          <p:nvPr/>
        </p:nvSpPr>
        <p:spPr>
          <a:xfrm>
            <a:off x="592667" y="2734153"/>
            <a:ext cx="3704597" cy="3416320"/>
          </a:xfrm>
          <a:prstGeom prst="rect">
            <a:avLst/>
          </a:prstGeom>
          <a:noFill/>
        </p:spPr>
        <p:txBody>
          <a:bodyPr wrap="square">
            <a:spAutoFit/>
          </a:bodyPr>
          <a:lstStyle/>
          <a:p>
            <a:pPr indent="183515" algn="just">
              <a:buNone/>
            </a:pPr>
            <a:r>
              <a:rPr lang="es-CO" sz="1200" dirty="0">
                <a:effectLst/>
                <a:latin typeface="+mj-lt"/>
                <a:ea typeface="SimSun" panose="02010600030101010101" pitchFamily="2" charset="-122"/>
              </a:rPr>
              <a:t>Para facilitar la interpretación, las calificaciones se agruparon en cinco categorías: </a:t>
            </a:r>
            <a:r>
              <a:rPr lang="es-CO" sz="1200" i="1" dirty="0">
                <a:effectLst/>
                <a:latin typeface="+mj-lt"/>
                <a:ea typeface="SimSun" panose="02010600030101010101" pitchFamily="2" charset="-122"/>
              </a:rPr>
              <a:t>Muy Bajo (0–2.5)</a:t>
            </a:r>
            <a:r>
              <a:rPr lang="es-CO" sz="1200" dirty="0">
                <a:effectLst/>
                <a:latin typeface="+mj-lt"/>
                <a:ea typeface="SimSun" panose="02010600030101010101" pitchFamily="2" charset="-122"/>
              </a:rPr>
              <a:t>, </a:t>
            </a:r>
            <a:r>
              <a:rPr lang="es-CO" sz="1200" i="1" dirty="0">
                <a:effectLst/>
                <a:latin typeface="+mj-lt"/>
                <a:ea typeface="SimSun" panose="02010600030101010101" pitchFamily="2" charset="-122"/>
              </a:rPr>
              <a:t>Bajo (2.5–3.0)</a:t>
            </a:r>
            <a:r>
              <a:rPr lang="es-CO" sz="1200" dirty="0">
                <a:effectLst/>
                <a:latin typeface="+mj-lt"/>
                <a:ea typeface="SimSun" panose="02010600030101010101" pitchFamily="2" charset="-122"/>
              </a:rPr>
              <a:t>, </a:t>
            </a:r>
            <a:r>
              <a:rPr lang="es-CO" sz="1200" i="1" dirty="0">
                <a:effectLst/>
                <a:latin typeface="+mj-lt"/>
                <a:ea typeface="SimSun" panose="02010600030101010101" pitchFamily="2" charset="-122"/>
              </a:rPr>
              <a:t>Medio (3.0–3.5)</a:t>
            </a:r>
            <a:r>
              <a:rPr lang="es-CO" sz="1200" dirty="0">
                <a:effectLst/>
                <a:latin typeface="+mj-lt"/>
                <a:ea typeface="SimSun" panose="02010600030101010101" pitchFamily="2" charset="-122"/>
              </a:rPr>
              <a:t>, </a:t>
            </a:r>
            <a:r>
              <a:rPr lang="es-CO" sz="1200" i="1" dirty="0">
                <a:effectLst/>
                <a:latin typeface="+mj-lt"/>
                <a:ea typeface="SimSun" panose="02010600030101010101" pitchFamily="2" charset="-122"/>
              </a:rPr>
              <a:t>Bueno (3.5–4.0)</a:t>
            </a:r>
            <a:r>
              <a:rPr lang="es-CO" sz="1200" dirty="0">
                <a:effectLst/>
                <a:latin typeface="+mj-lt"/>
                <a:ea typeface="SimSun" panose="02010600030101010101" pitchFamily="2" charset="-122"/>
              </a:rPr>
              <a:t> y </a:t>
            </a:r>
            <a:r>
              <a:rPr lang="es-CO" sz="1200" i="1" dirty="0">
                <a:effectLst/>
                <a:latin typeface="+mj-lt"/>
                <a:ea typeface="SimSun" panose="02010600030101010101" pitchFamily="2" charset="-122"/>
              </a:rPr>
              <a:t>Excelente (4.0–5.0)</a:t>
            </a:r>
            <a:r>
              <a:rPr lang="es-CO" sz="1200" dirty="0">
                <a:effectLst/>
                <a:latin typeface="+mj-lt"/>
                <a:ea typeface="SimSun" panose="02010600030101010101" pitchFamily="2" charset="-122"/>
              </a:rPr>
              <a:t>. La distribución resultante (Figura 9) muestra que la mayor proporción de registros se concentra en las categorías “Bueno” y “Excelente”, lo cual respalda la tendencia general hacia calificaciones altas observada en el análisis descriptivo.</a:t>
            </a:r>
          </a:p>
          <a:p>
            <a:pPr indent="183515" algn="just">
              <a:buNone/>
            </a:pPr>
            <a:endParaRPr lang="es-CO" sz="1200" dirty="0">
              <a:latin typeface="+mj-lt"/>
              <a:ea typeface="SimSun" panose="02010600030101010101" pitchFamily="2" charset="-122"/>
            </a:endParaRPr>
          </a:p>
          <a:p>
            <a:pPr indent="183515" algn="just"/>
            <a:r>
              <a:rPr lang="es-CO" sz="1200" dirty="0">
                <a:latin typeface="+mj-lt"/>
                <a:ea typeface="SimSun" panose="02010600030101010101" pitchFamily="2" charset="-122"/>
              </a:rPr>
              <a:t>Se estimó la tasa general de aprobación, considerando los criterios definidos por el sistema de calificación de cada materia. El resultado indica que más del 80% de las materias fueron aprobadas, mientras que cerca del 20% fueron reprobadas.</a:t>
            </a:r>
          </a:p>
          <a:p>
            <a:pPr indent="183515" algn="just">
              <a:buNone/>
            </a:pPr>
            <a:endParaRPr lang="es-CO" sz="1200" dirty="0">
              <a:effectLst/>
              <a:latin typeface="+mj-lt"/>
              <a:ea typeface="SimSun" panose="02010600030101010101" pitchFamily="2" charset="-122"/>
            </a:endParaRPr>
          </a:p>
        </p:txBody>
      </p:sp>
      <p:pic>
        <p:nvPicPr>
          <p:cNvPr id="5" name="Imagen 4">
            <a:extLst>
              <a:ext uri="{FF2B5EF4-FFF2-40B4-BE49-F238E27FC236}">
                <a16:creationId xmlns:a16="http://schemas.microsoft.com/office/drawing/2014/main" id="{CE86D97D-7868-03B8-12DF-82344D9BAC1E}"/>
              </a:ext>
            </a:extLst>
          </p:cNvPr>
          <p:cNvPicPr>
            <a:picLocks noChangeAspect="1"/>
          </p:cNvPicPr>
          <p:nvPr/>
        </p:nvPicPr>
        <p:blipFill>
          <a:blip r:embed="rId2"/>
          <a:stretch>
            <a:fillRect/>
          </a:stretch>
        </p:blipFill>
        <p:spPr>
          <a:xfrm>
            <a:off x="4572000" y="2884251"/>
            <a:ext cx="4142911" cy="3116123"/>
          </a:xfrm>
          <a:prstGeom prst="rect">
            <a:avLst/>
          </a:prstGeom>
        </p:spPr>
      </p:pic>
    </p:spTree>
    <p:extLst>
      <p:ext uri="{BB962C8B-B14F-4D97-AF65-F5344CB8AC3E}">
        <p14:creationId xmlns:p14="http://schemas.microsoft.com/office/powerpoint/2010/main" val="3121262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E8ACC-32C7-0970-33D3-AD49F072D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C94F2-37BA-FA4E-73CA-B2F7752A1D02}"/>
              </a:ext>
            </a:extLst>
          </p:cNvPr>
          <p:cNvSpPr>
            <a:spLocks noGrp="1"/>
          </p:cNvSpPr>
          <p:nvPr>
            <p:ph type="title"/>
          </p:nvPr>
        </p:nvSpPr>
        <p:spPr/>
        <p:txBody>
          <a:bodyPr/>
          <a:lstStyle/>
          <a:p>
            <a:r>
              <a:t>Análisis Exploratorio (EDA)</a:t>
            </a:r>
          </a:p>
        </p:txBody>
      </p:sp>
      <p:sp>
        <p:nvSpPr>
          <p:cNvPr id="6" name="CuadroTexto 5">
            <a:extLst>
              <a:ext uri="{FF2B5EF4-FFF2-40B4-BE49-F238E27FC236}">
                <a16:creationId xmlns:a16="http://schemas.microsoft.com/office/drawing/2014/main" id="{3BED8CC6-37AE-62CB-1C54-84FF092DC112}"/>
              </a:ext>
            </a:extLst>
          </p:cNvPr>
          <p:cNvSpPr txBox="1"/>
          <p:nvPr/>
        </p:nvSpPr>
        <p:spPr>
          <a:xfrm>
            <a:off x="695444" y="5484626"/>
            <a:ext cx="7753112" cy="892552"/>
          </a:xfrm>
          <a:prstGeom prst="rect">
            <a:avLst/>
          </a:prstGeom>
          <a:noFill/>
        </p:spPr>
        <p:txBody>
          <a:bodyPr wrap="square">
            <a:spAutoFit/>
          </a:bodyPr>
          <a:lstStyle/>
          <a:p>
            <a:pPr algn="just"/>
            <a:r>
              <a:rPr lang="es-CO" sz="1300" dirty="0">
                <a:effectLst/>
                <a:latin typeface="+mj-lt"/>
                <a:ea typeface="SimSun" panose="02010600030101010101" pitchFamily="2" charset="-122"/>
              </a:rPr>
              <a:t>A partir de 2019, se observa una ligera disminución progresiva, estabilizándose alrededor de 9.000 estudiantes en los semestres posteriores a 2021. El descenso más pronunciado se registra en 2025-2 (167 estudiantes), lo cual indica un semestre aún en desarrollo o con datos incompletos</a:t>
            </a:r>
            <a:endParaRPr lang="es-CO" sz="1300" dirty="0">
              <a:latin typeface="+mj-lt"/>
            </a:endParaRPr>
          </a:p>
        </p:txBody>
      </p:sp>
      <p:pic>
        <p:nvPicPr>
          <p:cNvPr id="5" name="Imagen 4">
            <a:extLst>
              <a:ext uri="{FF2B5EF4-FFF2-40B4-BE49-F238E27FC236}">
                <a16:creationId xmlns:a16="http://schemas.microsoft.com/office/drawing/2014/main" id="{2E000B61-21DE-3655-3A3B-26CB3577CB70}"/>
              </a:ext>
            </a:extLst>
          </p:cNvPr>
          <p:cNvPicPr>
            <a:picLocks noChangeAspect="1"/>
          </p:cNvPicPr>
          <p:nvPr/>
        </p:nvPicPr>
        <p:blipFill>
          <a:blip r:embed="rId2"/>
          <a:stretch>
            <a:fillRect/>
          </a:stretch>
        </p:blipFill>
        <p:spPr>
          <a:xfrm>
            <a:off x="436033" y="2347637"/>
            <a:ext cx="8271933" cy="3001713"/>
          </a:xfrm>
          <a:prstGeom prst="rect">
            <a:avLst/>
          </a:prstGeom>
        </p:spPr>
      </p:pic>
    </p:spTree>
    <p:extLst>
      <p:ext uri="{BB962C8B-B14F-4D97-AF65-F5344CB8AC3E}">
        <p14:creationId xmlns:p14="http://schemas.microsoft.com/office/powerpoint/2010/main" val="3462423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656683-4667-60B2-9CBC-0F0E4AC543DF}"/>
              </a:ext>
            </a:extLst>
          </p:cNvPr>
          <p:cNvSpPr>
            <a:spLocks noGrp="1"/>
          </p:cNvSpPr>
          <p:nvPr>
            <p:ph type="title"/>
          </p:nvPr>
        </p:nvSpPr>
        <p:spPr/>
        <p:txBody>
          <a:bodyPr/>
          <a:lstStyle/>
          <a:p>
            <a:r>
              <a:rPr lang="es-MX" dirty="0"/>
              <a:t>EDA</a:t>
            </a:r>
            <a:endParaRPr lang="es-CO" dirty="0"/>
          </a:p>
        </p:txBody>
      </p:sp>
      <p:pic>
        <p:nvPicPr>
          <p:cNvPr id="4" name="Marcador de contenido 3" descr="Gráfico, Gráfico de barras&#10;&#10;El contenido generado por IA puede ser incorrecto.">
            <a:extLst>
              <a:ext uri="{FF2B5EF4-FFF2-40B4-BE49-F238E27FC236}">
                <a16:creationId xmlns:a16="http://schemas.microsoft.com/office/drawing/2014/main" id="{F1FCB877-BFD8-7FE8-AE77-FD95DA988FD9}"/>
              </a:ext>
            </a:extLst>
          </p:cNvPr>
          <p:cNvPicPr>
            <a:picLocks noGrp="1" noChangeAspect="1"/>
          </p:cNvPicPr>
          <p:nvPr>
            <p:ph idx="1"/>
          </p:nvPr>
        </p:nvPicPr>
        <p:blipFill>
          <a:blip r:embed="rId2"/>
          <a:stretch>
            <a:fillRect/>
          </a:stretch>
        </p:blipFill>
        <p:spPr>
          <a:xfrm>
            <a:off x="2577322" y="2331387"/>
            <a:ext cx="4238344" cy="2884081"/>
          </a:xfrm>
          <a:prstGeom prst="rect">
            <a:avLst/>
          </a:prstGeom>
        </p:spPr>
      </p:pic>
      <p:sp>
        <p:nvSpPr>
          <p:cNvPr id="6" name="CuadroTexto 5">
            <a:extLst>
              <a:ext uri="{FF2B5EF4-FFF2-40B4-BE49-F238E27FC236}">
                <a16:creationId xmlns:a16="http://schemas.microsoft.com/office/drawing/2014/main" id="{7E53D45A-08BD-1F75-70E3-80DA12DB5A1B}"/>
              </a:ext>
            </a:extLst>
          </p:cNvPr>
          <p:cNvSpPr txBox="1"/>
          <p:nvPr/>
        </p:nvSpPr>
        <p:spPr>
          <a:xfrm>
            <a:off x="442220" y="5497272"/>
            <a:ext cx="8259559" cy="830997"/>
          </a:xfrm>
          <a:prstGeom prst="rect">
            <a:avLst/>
          </a:prstGeom>
          <a:noFill/>
        </p:spPr>
        <p:txBody>
          <a:bodyPr wrap="square">
            <a:spAutoFit/>
          </a:bodyPr>
          <a:lstStyle/>
          <a:p>
            <a:pPr indent="183515" algn="just">
              <a:buNone/>
            </a:pPr>
            <a:r>
              <a:rPr lang="es-CO" sz="1600" dirty="0">
                <a:effectLst/>
                <a:latin typeface="+mj-lt"/>
                <a:ea typeface="SimSun" panose="02010600030101010101" pitchFamily="2" charset="-122"/>
              </a:rPr>
              <a:t> La población estudiantil se concentra mayoritariamente en los estratos 5 (19,12%) y 6 (18,75%), seguidos de los estratos 4 (13,18%) y 3 (13,09%), mientras que los estratos 1 y 2 representan solo un 7,15% del total.</a:t>
            </a:r>
          </a:p>
        </p:txBody>
      </p:sp>
    </p:spTree>
    <p:extLst>
      <p:ext uri="{BB962C8B-B14F-4D97-AF65-F5344CB8AC3E}">
        <p14:creationId xmlns:p14="http://schemas.microsoft.com/office/powerpoint/2010/main" val="2893715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C7180E-E568-4327-F26E-65BB046CD14A}"/>
              </a:ext>
            </a:extLst>
          </p:cNvPr>
          <p:cNvSpPr>
            <a:spLocks noGrp="1"/>
          </p:cNvSpPr>
          <p:nvPr>
            <p:ph type="title"/>
          </p:nvPr>
        </p:nvSpPr>
        <p:spPr/>
        <p:txBody>
          <a:bodyPr/>
          <a:lstStyle/>
          <a:p>
            <a:r>
              <a:rPr lang="es-MX" dirty="0"/>
              <a:t>EDA</a:t>
            </a:r>
            <a:endParaRPr lang="es-CO" dirty="0"/>
          </a:p>
        </p:txBody>
      </p:sp>
      <p:pic>
        <p:nvPicPr>
          <p:cNvPr id="5" name="Imagen 4">
            <a:extLst>
              <a:ext uri="{FF2B5EF4-FFF2-40B4-BE49-F238E27FC236}">
                <a16:creationId xmlns:a16="http://schemas.microsoft.com/office/drawing/2014/main" id="{2853DA10-79A5-0E4A-85C4-B54B4FA9CAD8}"/>
              </a:ext>
            </a:extLst>
          </p:cNvPr>
          <p:cNvPicPr>
            <a:picLocks noChangeAspect="1"/>
          </p:cNvPicPr>
          <p:nvPr/>
        </p:nvPicPr>
        <p:blipFill>
          <a:blip r:embed="rId2"/>
          <a:stretch>
            <a:fillRect/>
          </a:stretch>
        </p:blipFill>
        <p:spPr>
          <a:xfrm>
            <a:off x="577774" y="2571706"/>
            <a:ext cx="2959252" cy="1714588"/>
          </a:xfrm>
          <a:prstGeom prst="rect">
            <a:avLst/>
          </a:prstGeom>
        </p:spPr>
      </p:pic>
      <p:pic>
        <p:nvPicPr>
          <p:cNvPr id="4" name="Imagen 3">
            <a:extLst>
              <a:ext uri="{FF2B5EF4-FFF2-40B4-BE49-F238E27FC236}">
                <a16:creationId xmlns:a16="http://schemas.microsoft.com/office/drawing/2014/main" id="{CDB10374-B779-049B-B003-5A712DF022D9}"/>
              </a:ext>
            </a:extLst>
          </p:cNvPr>
          <p:cNvPicPr>
            <a:picLocks noChangeAspect="1"/>
          </p:cNvPicPr>
          <p:nvPr/>
        </p:nvPicPr>
        <p:blipFill>
          <a:blip r:embed="rId3"/>
          <a:stretch>
            <a:fillRect/>
          </a:stretch>
        </p:blipFill>
        <p:spPr>
          <a:xfrm>
            <a:off x="4803039" y="2674788"/>
            <a:ext cx="3245017" cy="1066855"/>
          </a:xfrm>
          <a:prstGeom prst="rect">
            <a:avLst/>
          </a:prstGeom>
        </p:spPr>
      </p:pic>
      <p:pic>
        <p:nvPicPr>
          <p:cNvPr id="7" name="Imagen 6">
            <a:extLst>
              <a:ext uri="{FF2B5EF4-FFF2-40B4-BE49-F238E27FC236}">
                <a16:creationId xmlns:a16="http://schemas.microsoft.com/office/drawing/2014/main" id="{C4E97921-5ABB-A6BD-FC49-7030D36FD51E}"/>
              </a:ext>
            </a:extLst>
          </p:cNvPr>
          <p:cNvPicPr>
            <a:picLocks noChangeAspect="1"/>
          </p:cNvPicPr>
          <p:nvPr/>
        </p:nvPicPr>
        <p:blipFill>
          <a:blip r:embed="rId4"/>
          <a:stretch>
            <a:fillRect/>
          </a:stretch>
        </p:blipFill>
        <p:spPr>
          <a:xfrm>
            <a:off x="2532797" y="4796379"/>
            <a:ext cx="3892750" cy="863644"/>
          </a:xfrm>
          <a:prstGeom prst="rect">
            <a:avLst/>
          </a:prstGeom>
        </p:spPr>
      </p:pic>
    </p:spTree>
    <p:extLst>
      <p:ext uri="{BB962C8B-B14F-4D97-AF65-F5344CB8AC3E}">
        <p14:creationId xmlns:p14="http://schemas.microsoft.com/office/powerpoint/2010/main" val="2247056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393F8-DB01-75B8-BC5A-ED34D2E8CB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DF084E-747C-A3A0-DBCD-19521D1CE8A4}"/>
              </a:ext>
            </a:extLst>
          </p:cNvPr>
          <p:cNvSpPr>
            <a:spLocks noGrp="1"/>
          </p:cNvSpPr>
          <p:nvPr>
            <p:ph type="title"/>
          </p:nvPr>
        </p:nvSpPr>
        <p:spPr/>
        <p:txBody>
          <a:bodyPr/>
          <a:lstStyle/>
          <a:p>
            <a:r>
              <a:rPr lang="es-MX" dirty="0"/>
              <a:t>EDA</a:t>
            </a:r>
            <a:endParaRPr lang="es-CO" dirty="0"/>
          </a:p>
        </p:txBody>
      </p:sp>
      <p:sp>
        <p:nvSpPr>
          <p:cNvPr id="8" name="CuadroTexto 7">
            <a:extLst>
              <a:ext uri="{FF2B5EF4-FFF2-40B4-BE49-F238E27FC236}">
                <a16:creationId xmlns:a16="http://schemas.microsoft.com/office/drawing/2014/main" id="{E7496E45-9247-C92A-52CB-98377DE88B3C}"/>
              </a:ext>
            </a:extLst>
          </p:cNvPr>
          <p:cNvSpPr txBox="1"/>
          <p:nvPr/>
        </p:nvSpPr>
        <p:spPr>
          <a:xfrm>
            <a:off x="478366" y="5489502"/>
            <a:ext cx="8187267" cy="1015663"/>
          </a:xfrm>
          <a:prstGeom prst="rect">
            <a:avLst/>
          </a:prstGeom>
          <a:noFill/>
        </p:spPr>
        <p:txBody>
          <a:bodyPr wrap="square">
            <a:spAutoFit/>
          </a:bodyPr>
          <a:lstStyle/>
          <a:p>
            <a:pPr algn="just"/>
            <a:r>
              <a:rPr lang="es-CO" sz="1200" dirty="0">
                <a:effectLst/>
                <a:latin typeface="+mj-lt"/>
                <a:ea typeface="SimSun" panose="02010600030101010101" pitchFamily="2" charset="-122"/>
              </a:rPr>
              <a:t>En la Figura 22 se observa la nota promedio por estado académico, donde los graduados y estudiantes activos presentan valores muy similares (3,96 y 3,99, respectivamente), mientras que los desertores registran un promedio inferior (3,14). Este resultado sugiere una correlación positiva entre el rendimiento académico y la permanencia: los estudiantes con mejores promedios tienden a culminar su programa o a mantenerse activos, mientras que los de menor desempeño presentan mayor propensión a desertar</a:t>
            </a:r>
            <a:endParaRPr lang="es-CO" sz="1200" dirty="0">
              <a:latin typeface="+mj-lt"/>
            </a:endParaRPr>
          </a:p>
        </p:txBody>
      </p:sp>
      <p:pic>
        <p:nvPicPr>
          <p:cNvPr id="4" name="Imagen 3">
            <a:extLst>
              <a:ext uri="{FF2B5EF4-FFF2-40B4-BE49-F238E27FC236}">
                <a16:creationId xmlns:a16="http://schemas.microsoft.com/office/drawing/2014/main" id="{94FCDBF4-FFB2-15B1-8BC2-932263E0DF0C}"/>
              </a:ext>
            </a:extLst>
          </p:cNvPr>
          <p:cNvPicPr>
            <a:picLocks noChangeAspect="1"/>
          </p:cNvPicPr>
          <p:nvPr/>
        </p:nvPicPr>
        <p:blipFill>
          <a:blip r:embed="rId2"/>
          <a:stretch>
            <a:fillRect/>
          </a:stretch>
        </p:blipFill>
        <p:spPr>
          <a:xfrm>
            <a:off x="2614024" y="2390069"/>
            <a:ext cx="3915951" cy="2936963"/>
          </a:xfrm>
          <a:prstGeom prst="rect">
            <a:avLst/>
          </a:prstGeom>
        </p:spPr>
      </p:pic>
    </p:spTree>
    <p:extLst>
      <p:ext uri="{BB962C8B-B14F-4D97-AF65-F5344CB8AC3E}">
        <p14:creationId xmlns:p14="http://schemas.microsoft.com/office/powerpoint/2010/main" val="414022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D61F9BAE-D8DC-5CE7-F60D-E6FFDB7DE96B}"/>
              </a:ext>
            </a:extLst>
          </p:cNvPr>
          <p:cNvSpPr txBox="1"/>
          <p:nvPr/>
        </p:nvSpPr>
        <p:spPr>
          <a:xfrm>
            <a:off x="579965" y="4779073"/>
            <a:ext cx="7984067" cy="1754326"/>
          </a:xfrm>
          <a:prstGeom prst="rect">
            <a:avLst/>
          </a:prstGeom>
          <a:noFill/>
        </p:spPr>
        <p:txBody>
          <a:bodyPr wrap="square">
            <a:spAutoFit/>
          </a:bodyPr>
          <a:lstStyle/>
          <a:p>
            <a:pPr indent="183515" algn="just"/>
            <a:r>
              <a:rPr lang="es-CO" sz="1200" dirty="0">
                <a:effectLst/>
                <a:latin typeface="+mj-lt"/>
                <a:ea typeface="SimSun" panose="02010600030101010101" pitchFamily="2" charset="-122"/>
              </a:rPr>
              <a:t>La evolución temporal del comportamiento académico, representada en la Figura 23, permite observar la distribución de estudiantes por cohorte y estado. En las cohortes más antiguas (anteriores al año 2000), se aprecia una mayor proporción de graduados, con tasas de graduación cercanas al 90%. Sin embargo, entre las cohortes del 2000 al 2010 se evidencia un incremento gradual en la deserción, alcanzando valores superiores al 40% en algunos periodos.</a:t>
            </a:r>
            <a:br>
              <a:rPr lang="es-CO" sz="1200" dirty="0">
                <a:latin typeface="+mj-lt"/>
                <a:ea typeface="SimSun" panose="02010600030101010101" pitchFamily="2" charset="-122"/>
              </a:rPr>
            </a:br>
            <a:br>
              <a:rPr lang="es-CO" sz="1200" dirty="0">
                <a:latin typeface="+mj-lt"/>
                <a:ea typeface="SimSun" panose="02010600030101010101" pitchFamily="2" charset="-122"/>
              </a:rPr>
            </a:br>
            <a:r>
              <a:rPr lang="es-CO" sz="1200" dirty="0">
                <a:latin typeface="+mj-lt"/>
                <a:ea typeface="SimSun" panose="02010600030101010101" pitchFamily="2" charset="-122"/>
              </a:rPr>
              <a:t>A partir de 2021, se observa un aumento importante de estudiantes activos, lo que responde al carácter reciente de estas cohortes, que aún no han completado su proceso académico. </a:t>
            </a:r>
            <a:endParaRPr lang="es-CO" sz="1200" dirty="0">
              <a:latin typeface="+mj-lt"/>
            </a:endParaRPr>
          </a:p>
          <a:p>
            <a:pPr indent="183515" algn="just">
              <a:buNone/>
            </a:pPr>
            <a:endParaRPr lang="es-CO" sz="1200" dirty="0">
              <a:effectLst/>
              <a:latin typeface="+mj-lt"/>
              <a:ea typeface="SimSun" panose="02010600030101010101" pitchFamily="2" charset="-122"/>
            </a:endParaRPr>
          </a:p>
        </p:txBody>
      </p:sp>
      <p:pic>
        <p:nvPicPr>
          <p:cNvPr id="9" name="Imagen 8">
            <a:extLst>
              <a:ext uri="{FF2B5EF4-FFF2-40B4-BE49-F238E27FC236}">
                <a16:creationId xmlns:a16="http://schemas.microsoft.com/office/drawing/2014/main" id="{874888CC-8758-5462-C51E-A2CDA6786ABA}"/>
              </a:ext>
            </a:extLst>
          </p:cNvPr>
          <p:cNvPicPr>
            <a:picLocks noChangeAspect="1"/>
          </p:cNvPicPr>
          <p:nvPr/>
        </p:nvPicPr>
        <p:blipFill>
          <a:blip r:embed="rId2"/>
          <a:stretch>
            <a:fillRect/>
          </a:stretch>
        </p:blipFill>
        <p:spPr>
          <a:xfrm>
            <a:off x="1706033" y="2351230"/>
            <a:ext cx="5731933" cy="2155540"/>
          </a:xfrm>
          <a:prstGeom prst="rect">
            <a:avLst/>
          </a:prstGeom>
        </p:spPr>
      </p:pic>
      <p:sp>
        <p:nvSpPr>
          <p:cNvPr id="3" name="Título 1">
            <a:extLst>
              <a:ext uri="{FF2B5EF4-FFF2-40B4-BE49-F238E27FC236}">
                <a16:creationId xmlns:a16="http://schemas.microsoft.com/office/drawing/2014/main" id="{F7900E54-528A-7AC8-A7EE-D147924B3D8F}"/>
              </a:ext>
            </a:extLst>
          </p:cNvPr>
          <p:cNvSpPr>
            <a:spLocks noGrp="1"/>
          </p:cNvSpPr>
          <p:nvPr>
            <p:ph type="title"/>
          </p:nvPr>
        </p:nvSpPr>
        <p:spPr>
          <a:xfrm>
            <a:off x="865970" y="927098"/>
            <a:ext cx="6343672" cy="709865"/>
          </a:xfrm>
        </p:spPr>
        <p:txBody>
          <a:bodyPr/>
          <a:lstStyle/>
          <a:p>
            <a:r>
              <a:rPr lang="es-MX" dirty="0"/>
              <a:t>EDA</a:t>
            </a:r>
            <a:endParaRPr lang="es-CO" dirty="0"/>
          </a:p>
        </p:txBody>
      </p:sp>
    </p:spTree>
    <p:extLst>
      <p:ext uri="{BB962C8B-B14F-4D97-AF65-F5344CB8AC3E}">
        <p14:creationId xmlns:p14="http://schemas.microsoft.com/office/powerpoint/2010/main" val="342000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F5B447-8CBB-2139-A5C5-A9DA6C14ECCF}"/>
              </a:ext>
            </a:extLst>
          </p:cNvPr>
          <p:cNvSpPr>
            <a:spLocks noGrp="1"/>
          </p:cNvSpPr>
          <p:nvPr>
            <p:ph type="title"/>
          </p:nvPr>
        </p:nvSpPr>
        <p:spPr/>
        <p:txBody>
          <a:bodyPr/>
          <a:lstStyle/>
          <a:p>
            <a:r>
              <a:rPr lang="es-MX" dirty="0"/>
              <a:t>Preprocesamiento</a:t>
            </a:r>
            <a:endParaRPr lang="es-CO" dirty="0"/>
          </a:p>
        </p:txBody>
      </p:sp>
      <p:sp>
        <p:nvSpPr>
          <p:cNvPr id="3" name="Marcador de contenido 2">
            <a:extLst>
              <a:ext uri="{FF2B5EF4-FFF2-40B4-BE49-F238E27FC236}">
                <a16:creationId xmlns:a16="http://schemas.microsoft.com/office/drawing/2014/main" id="{10DBFD00-B433-E222-19DD-71E60301738D}"/>
              </a:ext>
            </a:extLst>
          </p:cNvPr>
          <p:cNvSpPr>
            <a:spLocks noGrp="1"/>
          </p:cNvSpPr>
          <p:nvPr>
            <p:ph idx="1"/>
          </p:nvPr>
        </p:nvSpPr>
        <p:spPr>
          <a:xfrm>
            <a:off x="499533" y="2352738"/>
            <a:ext cx="8128000" cy="4983162"/>
          </a:xfrm>
        </p:spPr>
        <p:txBody>
          <a:bodyPr>
            <a:normAutofit/>
          </a:bodyPr>
          <a:lstStyle/>
          <a:p>
            <a:pPr marL="514350" indent="-514350" algn="just">
              <a:buAutoNum type="arabicPeriod"/>
            </a:pPr>
            <a:r>
              <a:rPr lang="es-MX" sz="1400" dirty="0"/>
              <a:t>En el EDA se llenaron faltantes de estrato, </a:t>
            </a:r>
            <a:r>
              <a:rPr lang="es-MX" sz="1400" dirty="0" err="1"/>
              <a:t>first</a:t>
            </a:r>
            <a:r>
              <a:rPr lang="es-MX" sz="1400" dirty="0"/>
              <a:t> </a:t>
            </a:r>
            <a:r>
              <a:rPr lang="es-MX" sz="1400" dirty="0" err="1"/>
              <a:t>generation</a:t>
            </a:r>
            <a:r>
              <a:rPr lang="es-MX" sz="1400" dirty="0"/>
              <a:t>, desplazado, discapacidad</a:t>
            </a:r>
          </a:p>
          <a:p>
            <a:pPr marL="514350" indent="-514350" algn="just">
              <a:buAutoNum type="arabicPeriod"/>
            </a:pPr>
            <a:r>
              <a:rPr lang="es-MX" sz="1400" dirty="0"/>
              <a:t>Filtro por escuela de ciencias aplicadas e ingeniería</a:t>
            </a:r>
          </a:p>
          <a:p>
            <a:pPr marL="514350" indent="-514350" algn="just">
              <a:buAutoNum type="arabicPeriod"/>
            </a:pPr>
            <a:r>
              <a:rPr lang="es-MX" sz="1400" dirty="0"/>
              <a:t>Se excluyen 3 pregrados: biología, geología, diseño urbano y gestión del hábitat</a:t>
            </a:r>
          </a:p>
          <a:p>
            <a:pPr marL="514350" indent="-514350" algn="just">
              <a:buAutoNum type="arabicPeriod"/>
            </a:pPr>
            <a:r>
              <a:rPr lang="es-CO" sz="1400" dirty="0"/>
              <a:t>Cálculo 1 (o Cálculo Diferencial), Cálculo 2 (o Cálculo Integral), Álgebra Lineal, Ecuaciones Diferenciales, Estadística y Física 1. Se sacó finalmente calculo 2 porque tenia muchos faltantes.</a:t>
            </a:r>
          </a:p>
          <a:p>
            <a:pPr marL="514350" indent="-514350" algn="just">
              <a:buAutoNum type="arabicPeriod"/>
            </a:pPr>
            <a:r>
              <a:rPr lang="es-CO" sz="1400" dirty="0"/>
              <a:t>Cohortes del 2010 a 2018 para entrenar y sacar correlaciones entre variables antes del modelo de ML. Los del 2019 en adelante todavía no se han graduado, son los que se van a predecir.</a:t>
            </a:r>
          </a:p>
          <a:p>
            <a:pPr marL="514350" indent="-514350" algn="just">
              <a:buAutoNum type="arabicPeriod"/>
            </a:pPr>
            <a:r>
              <a:rPr lang="es-CO" sz="1400" dirty="0"/>
              <a:t>1 registro único por estudiante, por cohorte, por programa</a:t>
            </a:r>
          </a:p>
          <a:p>
            <a:pPr marL="514350" indent="-514350" algn="just">
              <a:buAutoNum type="arabicPeriod"/>
            </a:pPr>
            <a:r>
              <a:rPr lang="es-MX" sz="1400" dirty="0"/>
              <a:t> Normalización de todas las variables con min </a:t>
            </a:r>
            <a:r>
              <a:rPr lang="es-MX" sz="1400" dirty="0" err="1"/>
              <a:t>max</a:t>
            </a:r>
            <a:r>
              <a:rPr lang="es-MX" sz="1400" dirty="0"/>
              <a:t> </a:t>
            </a:r>
            <a:r>
              <a:rPr lang="es-MX" sz="1400" dirty="0" err="1"/>
              <a:t>scaler</a:t>
            </a:r>
            <a:r>
              <a:rPr lang="es-MX" sz="1400" dirty="0"/>
              <a:t>: todo quedo entre 0 y 1.</a:t>
            </a:r>
          </a:p>
          <a:p>
            <a:pPr marL="0" indent="0" algn="just">
              <a:buNone/>
            </a:pPr>
            <a:endParaRPr lang="es-MX" sz="1400" dirty="0"/>
          </a:p>
          <a:p>
            <a:pPr lvl="0" algn="just"/>
            <a:r>
              <a:rPr lang="es-CO" sz="1400" b="1" dirty="0"/>
              <a:t>Tamaño final:</a:t>
            </a:r>
            <a:r>
              <a:rPr lang="es-CO" sz="1400" dirty="0"/>
              <a:t> 9 468 registros y 28 columnas.</a:t>
            </a:r>
          </a:p>
          <a:p>
            <a:pPr lvl="0" algn="just"/>
            <a:r>
              <a:rPr lang="es-CO" sz="1400" b="1" dirty="0"/>
              <a:t>Estructura:</a:t>
            </a:r>
            <a:r>
              <a:rPr lang="es-CO" sz="1400" dirty="0"/>
              <a:t> un registro único por estudiante, por programa académico y por cohorte.</a:t>
            </a:r>
          </a:p>
        </p:txBody>
      </p:sp>
    </p:spTree>
    <p:extLst>
      <p:ext uri="{BB962C8B-B14F-4D97-AF65-F5344CB8AC3E}">
        <p14:creationId xmlns:p14="http://schemas.microsoft.com/office/powerpoint/2010/main" val="876341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3055E-DCBA-A4F0-B911-AA8161CFD8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6EE829-4B99-3946-B9A3-A2F3D6CD34E9}"/>
              </a:ext>
            </a:extLst>
          </p:cNvPr>
          <p:cNvSpPr>
            <a:spLocks noGrp="1"/>
          </p:cNvSpPr>
          <p:nvPr>
            <p:ph type="title"/>
          </p:nvPr>
        </p:nvSpPr>
        <p:spPr/>
        <p:txBody>
          <a:bodyPr/>
          <a:lstStyle/>
          <a:p>
            <a:r>
              <a:rPr lang="es-MX" dirty="0"/>
              <a:t>Preprocesamiento</a:t>
            </a:r>
            <a:endParaRPr lang="es-CO" dirty="0"/>
          </a:p>
        </p:txBody>
      </p:sp>
      <p:pic>
        <p:nvPicPr>
          <p:cNvPr id="6" name="Imagen 5">
            <a:extLst>
              <a:ext uri="{FF2B5EF4-FFF2-40B4-BE49-F238E27FC236}">
                <a16:creationId xmlns:a16="http://schemas.microsoft.com/office/drawing/2014/main" id="{4AD3033A-573A-2C74-9B8B-F9BDEB977092}"/>
              </a:ext>
            </a:extLst>
          </p:cNvPr>
          <p:cNvPicPr>
            <a:picLocks noChangeAspect="1"/>
          </p:cNvPicPr>
          <p:nvPr/>
        </p:nvPicPr>
        <p:blipFill>
          <a:blip r:embed="rId2"/>
          <a:stretch>
            <a:fillRect/>
          </a:stretch>
        </p:blipFill>
        <p:spPr>
          <a:xfrm>
            <a:off x="615305" y="2480418"/>
            <a:ext cx="4503436" cy="4030133"/>
          </a:xfrm>
          <a:prstGeom prst="rect">
            <a:avLst/>
          </a:prstGeom>
        </p:spPr>
      </p:pic>
      <p:sp>
        <p:nvSpPr>
          <p:cNvPr id="8" name="CuadroTexto 7">
            <a:extLst>
              <a:ext uri="{FF2B5EF4-FFF2-40B4-BE49-F238E27FC236}">
                <a16:creationId xmlns:a16="http://schemas.microsoft.com/office/drawing/2014/main" id="{4AC4C342-E32D-C239-B724-4467BA0BB0E3}"/>
              </a:ext>
            </a:extLst>
          </p:cNvPr>
          <p:cNvSpPr txBox="1"/>
          <p:nvPr/>
        </p:nvSpPr>
        <p:spPr>
          <a:xfrm>
            <a:off x="5329259" y="2725273"/>
            <a:ext cx="3493008" cy="3539430"/>
          </a:xfrm>
          <a:prstGeom prst="rect">
            <a:avLst/>
          </a:prstGeom>
          <a:noFill/>
        </p:spPr>
        <p:txBody>
          <a:bodyPr wrap="square">
            <a:spAutoFit/>
          </a:bodyPr>
          <a:lstStyle/>
          <a:p>
            <a:pPr indent="183515" algn="just">
              <a:buNone/>
            </a:pPr>
            <a:r>
              <a:rPr lang="es-CO" sz="1400" dirty="0">
                <a:effectLst/>
                <a:latin typeface="+mj-lt"/>
                <a:ea typeface="SimSun" panose="02010600030101010101" pitchFamily="2" charset="-122"/>
              </a:rPr>
              <a:t>Los resultados presentados en la Figura 37 muestran que las variables socioeconómicas no presentan correlaciones significativas con la variable DESERCIÓN, lo que sugiere que su influencia en el abandono estudiantil es marginal dentro del contexto analizado. En cambio, las variables académicas evidencian una correlación negativa moderada a fuerte con la deserción, lo que indica que un menor desempeño en estas materias está asociado a una mayor probabilidad de abandonar los estudios.</a:t>
            </a:r>
          </a:p>
          <a:p>
            <a:pPr indent="183515" algn="just">
              <a:buNone/>
            </a:pPr>
            <a:r>
              <a:rPr lang="es-CO" sz="1400" dirty="0">
                <a:effectLst/>
                <a:latin typeface="+mj-lt"/>
                <a:ea typeface="SimSun" panose="02010600030101010101" pitchFamily="2" charset="-122"/>
              </a:rPr>
              <a:t> </a:t>
            </a:r>
          </a:p>
        </p:txBody>
      </p:sp>
    </p:spTree>
    <p:extLst>
      <p:ext uri="{BB962C8B-B14F-4D97-AF65-F5344CB8AC3E}">
        <p14:creationId xmlns:p14="http://schemas.microsoft.com/office/powerpoint/2010/main" val="2622060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pSp>
        <p:nvGrpSpPr>
          <p:cNvPr id="13" name="Group 12">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useBgFill="1">
          <p:nvSpPr>
            <p:cNvPr id="14" name="Rectangle 13">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5"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s-CO"/>
            </a:p>
          </p:txBody>
        </p:sp>
      </p:grpSp>
      <p:sp>
        <p:nvSpPr>
          <p:cNvPr id="2" name="Título 1">
            <a:extLst>
              <a:ext uri="{FF2B5EF4-FFF2-40B4-BE49-F238E27FC236}">
                <a16:creationId xmlns:a16="http://schemas.microsoft.com/office/drawing/2014/main" id="{9EFDD094-E010-5A5F-BB53-3793286F8599}"/>
              </a:ext>
            </a:extLst>
          </p:cNvPr>
          <p:cNvSpPr>
            <a:spLocks noGrp="1"/>
          </p:cNvSpPr>
          <p:nvPr>
            <p:ph type="title"/>
          </p:nvPr>
        </p:nvSpPr>
        <p:spPr>
          <a:xfrm>
            <a:off x="1262378" y="1169773"/>
            <a:ext cx="6619243" cy="2870161"/>
          </a:xfrm>
        </p:spPr>
        <p:txBody>
          <a:bodyPr vert="horz" lIns="91440" tIns="45720" rIns="91440" bIns="45720" rtlCol="0" anchor="b">
            <a:normAutofit/>
          </a:bodyPr>
          <a:lstStyle/>
          <a:p>
            <a:pPr algn="ctr"/>
            <a:r>
              <a:rPr lang="en-US" sz="5400">
                <a:solidFill>
                  <a:schemeClr val="tx1"/>
                </a:solidFill>
              </a:rPr>
              <a:t>RESULTADOS DE LOS MODELOS PREDICTIVOS</a:t>
            </a:r>
          </a:p>
        </p:txBody>
      </p:sp>
      <p:cxnSp>
        <p:nvCxnSpPr>
          <p:cNvPr id="17" name="Straight Connector 16">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18686" y="4166888"/>
            <a:ext cx="506627"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381359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CO"/>
          </a:p>
        </p:txBody>
      </p:sp>
      <p:sp>
        <p:nvSpPr>
          <p:cNvPr id="14"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16" name="Freeform: Shape 15">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122264" y="751601"/>
            <a:ext cx="6053670" cy="5354799"/>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s-CO"/>
          </a:p>
        </p:txBody>
      </p:sp>
      <p:sp>
        <p:nvSpPr>
          <p:cNvPr id="18"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sp>
        <p:nvSpPr>
          <p:cNvPr id="5" name="Título 1">
            <a:extLst>
              <a:ext uri="{FF2B5EF4-FFF2-40B4-BE49-F238E27FC236}">
                <a16:creationId xmlns:a16="http://schemas.microsoft.com/office/drawing/2014/main" id="{9C4F1545-CA31-4827-7DE9-9B5392136709}"/>
              </a:ext>
            </a:extLst>
          </p:cNvPr>
          <p:cNvSpPr>
            <a:spLocks noGrp="1"/>
          </p:cNvSpPr>
          <p:nvPr>
            <p:ph type="title"/>
          </p:nvPr>
        </p:nvSpPr>
        <p:spPr>
          <a:xfrm>
            <a:off x="745565" y="1130603"/>
            <a:ext cx="2506831" cy="4596794"/>
          </a:xfrm>
        </p:spPr>
        <p:txBody>
          <a:bodyPr anchor="ctr">
            <a:normAutofit/>
          </a:bodyPr>
          <a:lstStyle/>
          <a:p>
            <a:r>
              <a:rPr lang="es-MX" sz="2600">
                <a:solidFill>
                  <a:srgbClr val="EBEBEB"/>
                </a:solidFill>
              </a:rPr>
              <a:t>Configuración</a:t>
            </a:r>
            <a:endParaRPr lang="es-CO" sz="2600">
              <a:solidFill>
                <a:srgbClr val="EBEBEB"/>
              </a:solidFill>
            </a:endParaRPr>
          </a:p>
        </p:txBody>
      </p:sp>
      <p:sp>
        <p:nvSpPr>
          <p:cNvPr id="3" name="Content Placeholder 2"/>
          <p:cNvSpPr>
            <a:spLocks noGrp="1"/>
          </p:cNvSpPr>
          <p:nvPr>
            <p:ph idx="1"/>
          </p:nvPr>
        </p:nvSpPr>
        <p:spPr>
          <a:xfrm>
            <a:off x="3967557" y="437513"/>
            <a:ext cx="4126961" cy="5954325"/>
          </a:xfrm>
        </p:spPr>
        <p:txBody>
          <a:bodyPr anchor="ctr">
            <a:normAutofit/>
          </a:bodyPr>
          <a:lstStyle/>
          <a:p>
            <a:pPr marL="0" indent="0">
              <a:buNone/>
            </a:pPr>
            <a:r>
              <a:rPr lang="es-CO" sz="1700" b="1"/>
              <a:t>Modelos implementados:</a:t>
            </a:r>
          </a:p>
          <a:p>
            <a:r>
              <a:rPr lang="es-CO" sz="1700"/>
              <a:t>XGBoost</a:t>
            </a:r>
          </a:p>
          <a:p>
            <a:r>
              <a:rPr lang="es-CO" sz="1700"/>
              <a:t>Random Forest</a:t>
            </a:r>
          </a:p>
          <a:p>
            <a:r>
              <a:rPr lang="es-CO" sz="1700"/>
              <a:t>Red Neuronal MLP</a:t>
            </a:r>
          </a:p>
          <a:p>
            <a:endParaRPr lang="es-CO" sz="1700"/>
          </a:p>
          <a:p>
            <a:pPr marL="0" indent="0">
              <a:buNone/>
            </a:pPr>
            <a:r>
              <a:rPr lang="es-CO" sz="1700" b="1"/>
              <a:t>Variables utilizadas:</a:t>
            </a:r>
          </a:p>
          <a:p>
            <a:r>
              <a:rPr lang="es-CO" sz="1700"/>
              <a:t>Notas normalizadas en 5 materias base: Cálculo I, Física I, Álgebra Lineal, Ecuaciones Diferenciales, Estadística.</a:t>
            </a:r>
          </a:p>
          <a:p>
            <a:r>
              <a:rPr lang="es-CO" sz="1700"/>
              <a:t>Variable objetivo: DESERCIÓN (Sí/No).</a:t>
            </a:r>
          </a:p>
          <a:p>
            <a:pPr marL="0" indent="0">
              <a:buNone/>
            </a:pPr>
            <a:endParaRPr lang="es-CO" sz="1700"/>
          </a:p>
          <a:p>
            <a:pPr marL="0" indent="0">
              <a:buNone/>
            </a:pPr>
            <a:r>
              <a:rPr lang="es-CO" sz="1700" b="1"/>
              <a:t>Datos: </a:t>
            </a:r>
          </a:p>
          <a:p>
            <a:r>
              <a:rPr lang="es-CO" sz="1700"/>
              <a:t>Entrenamiento (2010–2018, 5927 registros)</a:t>
            </a:r>
          </a:p>
          <a:p>
            <a:r>
              <a:rPr lang="es-CO" sz="1700"/>
              <a:t>Prueba (2019–2022, 2316 registros)</a:t>
            </a:r>
          </a:p>
          <a:p>
            <a:endParaRPr lang="es-CO" sz="17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2"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CO"/>
            </a:p>
          </p:txBody>
        </p:sp>
      </p:grpSp>
      <p:sp>
        <p:nvSpPr>
          <p:cNvPr id="2" name="Título 1">
            <a:extLst>
              <a:ext uri="{FF2B5EF4-FFF2-40B4-BE49-F238E27FC236}">
                <a16:creationId xmlns:a16="http://schemas.microsoft.com/office/drawing/2014/main" id="{2E1D0E2E-4059-BB6C-66DC-E7A7C9AFF0B2}"/>
              </a:ext>
            </a:extLst>
          </p:cNvPr>
          <p:cNvSpPr>
            <a:spLocks noGrp="1"/>
          </p:cNvSpPr>
          <p:nvPr>
            <p:ph type="title"/>
          </p:nvPr>
        </p:nvSpPr>
        <p:spPr>
          <a:xfrm>
            <a:off x="627185" y="1085549"/>
            <a:ext cx="2573210" cy="4686903"/>
          </a:xfrm>
        </p:spPr>
        <p:txBody>
          <a:bodyPr anchor="ctr">
            <a:normAutofit/>
          </a:bodyPr>
          <a:lstStyle/>
          <a:p>
            <a:pPr algn="r"/>
            <a:r>
              <a:rPr lang="es-MX">
                <a:solidFill>
                  <a:schemeClr val="tx1"/>
                </a:solidFill>
              </a:rPr>
              <a:t>XG BOOST</a:t>
            </a:r>
            <a:endParaRPr lang="es-CO">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3995C7DA-DA5A-D125-7162-8007E91074A9}"/>
              </a:ext>
            </a:extLst>
          </p:cNvPr>
          <p:cNvSpPr>
            <a:spLocks noGrp="1"/>
          </p:cNvSpPr>
          <p:nvPr>
            <p:ph idx="1"/>
          </p:nvPr>
        </p:nvSpPr>
        <p:spPr>
          <a:xfrm>
            <a:off x="3781049" y="1085549"/>
            <a:ext cx="4184780" cy="4686903"/>
          </a:xfrm>
        </p:spPr>
        <p:txBody>
          <a:bodyPr anchor="ctr">
            <a:normAutofit/>
          </a:bodyPr>
          <a:lstStyle/>
          <a:p>
            <a:pPr>
              <a:lnSpc>
                <a:spcPct val="90000"/>
              </a:lnSpc>
            </a:pPr>
            <a:r>
              <a:rPr lang="es-MX" sz="1700">
                <a:solidFill>
                  <a:schemeClr val="tx1"/>
                </a:solidFill>
              </a:rPr>
              <a:t>Este algoritmo pertenece a la familia del boosting y se basa en la combinación secuencial de múltiples árboles de decisión, optimizando una función objetivo regularizada para reducir el sobreajuste y mejorar la capacidad predictiva</a:t>
            </a:r>
          </a:p>
          <a:p>
            <a:pPr>
              <a:lnSpc>
                <a:spcPct val="90000"/>
              </a:lnSpc>
            </a:pPr>
            <a:r>
              <a:rPr lang="es-MX" sz="1700">
                <a:solidFill>
                  <a:schemeClr val="tx1"/>
                </a:solidFill>
              </a:rPr>
              <a:t>Su funcionamiento se fundamenta en agregar iterativamente nuevos modelos que corrigen los errores de los anteriores, ajustando los pesos de las observaciones mal clasificadas (ver Figura 2). Este enfoque ha sido ampliamente validado en entornos educativos por su alta precisión y eficiencia computacional</a:t>
            </a:r>
            <a:endParaRPr lang="es-CO" sz="1700">
              <a:solidFill>
                <a:schemeClr val="tx1"/>
              </a:solidFill>
            </a:endParaRPr>
          </a:p>
        </p:txBody>
      </p:sp>
    </p:spTree>
    <p:extLst>
      <p:ext uri="{BB962C8B-B14F-4D97-AF65-F5344CB8AC3E}">
        <p14:creationId xmlns:p14="http://schemas.microsoft.com/office/powerpoint/2010/main" val="790531138"/>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CO"/>
          </a:p>
        </p:txBody>
      </p:sp>
      <p:sp>
        <p:nvSpPr>
          <p:cNvPr id="19"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20"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122264" y="751601"/>
            <a:ext cx="6053670" cy="5354799"/>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s-CO"/>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sp>
        <p:nvSpPr>
          <p:cNvPr id="2" name="Título 1">
            <a:extLst>
              <a:ext uri="{FF2B5EF4-FFF2-40B4-BE49-F238E27FC236}">
                <a16:creationId xmlns:a16="http://schemas.microsoft.com/office/drawing/2014/main" id="{CBFCF0BA-06C6-CE02-AA10-0064DDD5F386}"/>
              </a:ext>
            </a:extLst>
          </p:cNvPr>
          <p:cNvSpPr>
            <a:spLocks noGrp="1"/>
          </p:cNvSpPr>
          <p:nvPr>
            <p:ph type="title"/>
          </p:nvPr>
        </p:nvSpPr>
        <p:spPr>
          <a:xfrm>
            <a:off x="745565" y="1130603"/>
            <a:ext cx="2506831" cy="4596794"/>
          </a:xfrm>
        </p:spPr>
        <p:txBody>
          <a:bodyPr anchor="ctr">
            <a:normAutofit/>
          </a:bodyPr>
          <a:lstStyle/>
          <a:p>
            <a:r>
              <a:rPr lang="es-MX" sz="2800" dirty="0">
                <a:solidFill>
                  <a:srgbClr val="EBEBEB"/>
                </a:solidFill>
              </a:rPr>
              <a:t>XG BOOST</a:t>
            </a:r>
            <a:endParaRPr lang="es-CO" sz="2800" dirty="0">
              <a:solidFill>
                <a:srgbClr val="EBEBEB"/>
              </a:solidFill>
            </a:endParaRPr>
          </a:p>
        </p:txBody>
      </p:sp>
      <p:sp>
        <p:nvSpPr>
          <p:cNvPr id="3" name="Marcador de contenido 2">
            <a:extLst>
              <a:ext uri="{FF2B5EF4-FFF2-40B4-BE49-F238E27FC236}">
                <a16:creationId xmlns:a16="http://schemas.microsoft.com/office/drawing/2014/main" id="{71D1D6EE-E1A0-6078-ED5F-B2956DFE6645}"/>
              </a:ext>
            </a:extLst>
          </p:cNvPr>
          <p:cNvSpPr>
            <a:spLocks noGrp="1"/>
          </p:cNvSpPr>
          <p:nvPr>
            <p:ph idx="1"/>
          </p:nvPr>
        </p:nvSpPr>
        <p:spPr>
          <a:xfrm>
            <a:off x="3967557" y="437513"/>
            <a:ext cx="4583776" cy="5954325"/>
          </a:xfrm>
        </p:spPr>
        <p:txBody>
          <a:bodyPr anchor="ctr">
            <a:normAutofit/>
          </a:bodyPr>
          <a:lstStyle/>
          <a:p>
            <a:pPr marL="0" indent="0" algn="just">
              <a:lnSpc>
                <a:spcPct val="90000"/>
              </a:lnSpc>
              <a:buNone/>
            </a:pPr>
            <a:r>
              <a:rPr lang="es-MX" sz="1300" dirty="0"/>
              <a:t>El modelo </a:t>
            </a:r>
            <a:r>
              <a:rPr lang="es-MX" sz="1300" dirty="0" err="1"/>
              <a:t>XGBoost</a:t>
            </a:r>
            <a:r>
              <a:rPr lang="es-MX" sz="1300" dirty="0"/>
              <a:t> fue evaluado con 2.316 registros correspondientes a cohortes desde 2019, con el fin de validar su capacidad de generalización sobre datos recientes.  </a:t>
            </a:r>
          </a:p>
          <a:p>
            <a:pPr marL="0" indent="0" algn="just">
              <a:lnSpc>
                <a:spcPct val="90000"/>
              </a:lnSpc>
              <a:buNone/>
            </a:pPr>
            <a:r>
              <a:rPr lang="es-MX" sz="1300" dirty="0"/>
              <a:t>Arrojó estos resultados: </a:t>
            </a:r>
          </a:p>
          <a:p>
            <a:pPr marL="0" indent="0" algn="just">
              <a:lnSpc>
                <a:spcPct val="90000"/>
              </a:lnSpc>
              <a:buNone/>
            </a:pPr>
            <a:r>
              <a:rPr lang="es-MX" sz="1300" dirty="0"/>
              <a:t>• </a:t>
            </a:r>
            <a:r>
              <a:rPr lang="es-MX" sz="1300" dirty="0" err="1"/>
              <a:t>Accuracy</a:t>
            </a:r>
            <a:r>
              <a:rPr lang="es-MX" sz="1300" dirty="0"/>
              <a:t>: 0.881 (porcentaje total de predicciones correctas) </a:t>
            </a:r>
          </a:p>
          <a:p>
            <a:pPr marL="0" indent="0" algn="just">
              <a:lnSpc>
                <a:spcPct val="90000"/>
              </a:lnSpc>
              <a:buNone/>
            </a:pPr>
            <a:r>
              <a:rPr lang="es-MX" sz="1300" dirty="0"/>
              <a:t>• </a:t>
            </a:r>
            <a:r>
              <a:rPr lang="es-MX" sz="1300" dirty="0" err="1"/>
              <a:t>Precision</a:t>
            </a:r>
            <a:r>
              <a:rPr lang="es-MX" sz="1300" dirty="0"/>
              <a:t>: 0.825 (de los estudiantes clasificados como desertores, cuántos realmente lo son.) </a:t>
            </a:r>
          </a:p>
          <a:p>
            <a:pPr marL="0" indent="0" algn="just">
              <a:lnSpc>
                <a:spcPct val="90000"/>
              </a:lnSpc>
              <a:buNone/>
            </a:pPr>
            <a:r>
              <a:rPr lang="es-MX" sz="1300" dirty="0"/>
              <a:t>• </a:t>
            </a:r>
            <a:r>
              <a:rPr lang="es-MX" sz="1300" dirty="0" err="1"/>
              <a:t>Recall</a:t>
            </a:r>
            <a:r>
              <a:rPr lang="es-MX" sz="1300" dirty="0"/>
              <a:t>: 0.799 (Sensibilidad de los desertores reales, cuántos fueron identificados por el modelo) </a:t>
            </a:r>
          </a:p>
          <a:p>
            <a:pPr marL="0" indent="0" algn="just">
              <a:lnSpc>
                <a:spcPct val="90000"/>
              </a:lnSpc>
              <a:buNone/>
            </a:pPr>
            <a:r>
              <a:rPr lang="es-MX" sz="1300" dirty="0"/>
              <a:t>• F1: 0.812 (equilibrio entre precisión y </a:t>
            </a:r>
            <a:r>
              <a:rPr lang="es-MX" sz="1300" dirty="0" err="1"/>
              <a:t>recall</a:t>
            </a:r>
            <a:r>
              <a:rPr lang="es-MX" sz="1300" dirty="0"/>
              <a:t> (ideal cuando hay clases desbalanceadas) </a:t>
            </a:r>
          </a:p>
          <a:p>
            <a:pPr marL="0" indent="0" algn="just">
              <a:lnSpc>
                <a:spcPct val="90000"/>
              </a:lnSpc>
              <a:buNone/>
            </a:pPr>
            <a:r>
              <a:rPr lang="es-MX" sz="1300" dirty="0"/>
              <a:t>• ROC-AUC: 0.911 (mide la capacidad de distinguir entre desertores y no desertores (0.5 = aleatorio, 1.0 = perfecto). Si el AUC está entre 0.70–0.85, el modelo tiene buena capacidad discriminante con solo cinco variables académicas, lo que es un resultado sólido.) </a:t>
            </a:r>
          </a:p>
          <a:p>
            <a:pPr marL="0" indent="0" algn="just">
              <a:lnSpc>
                <a:spcPct val="90000"/>
              </a:lnSpc>
              <a:buNone/>
            </a:pPr>
            <a:r>
              <a:rPr lang="es-MX" sz="1300" dirty="0"/>
              <a:t>el modelo mantiene un desempeño sólido, con una exactitud global del 88 %, confirmando la estabilidad del aprendizaje obtenido en la etapa de entrenamiento. </a:t>
            </a:r>
            <a:endParaRPr lang="es-CO" sz="1300" dirty="0"/>
          </a:p>
        </p:txBody>
      </p:sp>
    </p:spTree>
    <p:extLst>
      <p:ext uri="{BB962C8B-B14F-4D97-AF65-F5344CB8AC3E}">
        <p14:creationId xmlns:p14="http://schemas.microsoft.com/office/powerpoint/2010/main" val="3894679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2D9994-7043-79B3-8663-016989F98012}"/>
              </a:ext>
            </a:extLst>
          </p:cNvPr>
          <p:cNvSpPr>
            <a:spLocks noGrp="1"/>
          </p:cNvSpPr>
          <p:nvPr>
            <p:ph type="title"/>
          </p:nvPr>
        </p:nvSpPr>
        <p:spPr/>
        <p:txBody>
          <a:bodyPr/>
          <a:lstStyle/>
          <a:p>
            <a:r>
              <a:rPr lang="es-MX" dirty="0"/>
              <a:t>XG </a:t>
            </a:r>
            <a:r>
              <a:rPr lang="es-MX" dirty="0" err="1"/>
              <a:t>Boost</a:t>
            </a:r>
            <a:endParaRPr lang="es-CO" dirty="0"/>
          </a:p>
        </p:txBody>
      </p:sp>
      <p:pic>
        <p:nvPicPr>
          <p:cNvPr id="5" name="Marcador de contenido 4">
            <a:extLst>
              <a:ext uri="{FF2B5EF4-FFF2-40B4-BE49-F238E27FC236}">
                <a16:creationId xmlns:a16="http://schemas.microsoft.com/office/drawing/2014/main" id="{78EBEE16-E72D-5BB0-655C-8E628DC11193}"/>
              </a:ext>
            </a:extLst>
          </p:cNvPr>
          <p:cNvPicPr>
            <a:picLocks noGrp="1" noChangeAspect="1"/>
          </p:cNvPicPr>
          <p:nvPr>
            <p:ph idx="1"/>
          </p:nvPr>
        </p:nvPicPr>
        <p:blipFill>
          <a:blip r:embed="rId2"/>
          <a:stretch>
            <a:fillRect/>
          </a:stretch>
        </p:blipFill>
        <p:spPr>
          <a:xfrm>
            <a:off x="504092" y="3301617"/>
            <a:ext cx="3559908" cy="2973714"/>
          </a:xfrm>
          <a:prstGeom prst="rect">
            <a:avLst/>
          </a:prstGeom>
        </p:spPr>
      </p:pic>
      <p:sp>
        <p:nvSpPr>
          <p:cNvPr id="7" name="CuadroTexto 6">
            <a:extLst>
              <a:ext uri="{FF2B5EF4-FFF2-40B4-BE49-F238E27FC236}">
                <a16:creationId xmlns:a16="http://schemas.microsoft.com/office/drawing/2014/main" id="{63AAB74B-4D5D-D139-3A89-C120E364DF15}"/>
              </a:ext>
            </a:extLst>
          </p:cNvPr>
          <p:cNvSpPr txBox="1"/>
          <p:nvPr/>
        </p:nvSpPr>
        <p:spPr>
          <a:xfrm>
            <a:off x="4140200" y="3697039"/>
            <a:ext cx="4572000" cy="1815882"/>
          </a:xfrm>
          <a:prstGeom prst="rect">
            <a:avLst/>
          </a:prstGeom>
          <a:noFill/>
        </p:spPr>
        <p:txBody>
          <a:bodyPr wrap="square">
            <a:spAutoFit/>
          </a:bodyPr>
          <a:lstStyle/>
          <a:p>
            <a:pPr algn="just"/>
            <a:r>
              <a:rPr lang="es-CO" sz="1600" dirty="0"/>
              <a:t>El área bajo la curva (AUC ≈ 0.77) indica que, en promedio, el modelo asigna mayor probabilidad de deserción a los desertores reales que a los no desertores en el 77% de los casos. En modelos educativos con variables exclusivamente académicas, este nivel de desempeño es notablemente alto. </a:t>
            </a:r>
          </a:p>
        </p:txBody>
      </p:sp>
      <p:sp>
        <p:nvSpPr>
          <p:cNvPr id="9" name="CuadroTexto 8">
            <a:extLst>
              <a:ext uri="{FF2B5EF4-FFF2-40B4-BE49-F238E27FC236}">
                <a16:creationId xmlns:a16="http://schemas.microsoft.com/office/drawing/2014/main" id="{3E544F9D-F8FD-02AA-E7D9-145F40D715FA}"/>
              </a:ext>
            </a:extLst>
          </p:cNvPr>
          <p:cNvSpPr txBox="1"/>
          <p:nvPr/>
        </p:nvSpPr>
        <p:spPr>
          <a:xfrm>
            <a:off x="504092" y="2297669"/>
            <a:ext cx="8208108" cy="738664"/>
          </a:xfrm>
          <a:prstGeom prst="rect">
            <a:avLst/>
          </a:prstGeom>
          <a:noFill/>
        </p:spPr>
        <p:txBody>
          <a:bodyPr wrap="square">
            <a:spAutoFit/>
          </a:bodyPr>
          <a:lstStyle/>
          <a:p>
            <a:pPr algn="just"/>
            <a:r>
              <a:rPr lang="es-CO" sz="1400" dirty="0"/>
              <a:t>En el análisis agregado, sobre el conjunto de prueba el sistema predice 357 desertores de un total de 2.316 estudiantes, lo que representa el 15.41%, mientras que 1.959 estudiantes (84.59%) fueron clasificados como no desertores </a:t>
            </a:r>
          </a:p>
        </p:txBody>
      </p:sp>
    </p:spTree>
    <p:extLst>
      <p:ext uri="{BB962C8B-B14F-4D97-AF65-F5344CB8AC3E}">
        <p14:creationId xmlns:p14="http://schemas.microsoft.com/office/powerpoint/2010/main" val="3214514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CO"/>
          </a:p>
        </p:txBody>
      </p:sp>
      <p:sp>
        <p:nvSpPr>
          <p:cNvPr id="14" name="Freeform: Shape 13">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122264" y="751601"/>
            <a:ext cx="6053670" cy="5354799"/>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s-CO"/>
          </a:p>
        </p:txBody>
      </p:sp>
      <p:sp>
        <p:nvSpPr>
          <p:cNvPr id="16"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CO"/>
          </a:p>
        </p:txBody>
      </p:sp>
      <p:sp>
        <p:nvSpPr>
          <p:cNvPr id="6" name="Título 1">
            <a:extLst>
              <a:ext uri="{FF2B5EF4-FFF2-40B4-BE49-F238E27FC236}">
                <a16:creationId xmlns:a16="http://schemas.microsoft.com/office/drawing/2014/main" id="{7CDED96C-85F3-DF1D-E8F6-ED6BBDE859AC}"/>
              </a:ext>
            </a:extLst>
          </p:cNvPr>
          <p:cNvSpPr txBox="1">
            <a:spLocks/>
          </p:cNvSpPr>
          <p:nvPr/>
        </p:nvSpPr>
        <p:spPr bwMode="gray">
          <a:xfrm>
            <a:off x="866216" y="973668"/>
            <a:ext cx="2206657" cy="102023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sz="3600" b="0" i="0" kern="1200" dirty="0">
                <a:solidFill>
                  <a:srgbClr val="EBEBEB"/>
                </a:solidFill>
                <a:latin typeface="+mj-lt"/>
                <a:ea typeface="+mj-ea"/>
                <a:cs typeface="+mj-cs"/>
              </a:rPr>
              <a:t>XG Boost</a:t>
            </a:r>
          </a:p>
        </p:txBody>
      </p:sp>
      <p:pic>
        <p:nvPicPr>
          <p:cNvPr id="5" name="Marcador de contenido 4">
            <a:extLst>
              <a:ext uri="{FF2B5EF4-FFF2-40B4-BE49-F238E27FC236}">
                <a16:creationId xmlns:a16="http://schemas.microsoft.com/office/drawing/2014/main" id="{DBEB6301-62C4-FF4E-3445-584F7E588DA1}"/>
              </a:ext>
            </a:extLst>
          </p:cNvPr>
          <p:cNvPicPr>
            <a:picLocks noGrp="1" noChangeAspect="1"/>
          </p:cNvPicPr>
          <p:nvPr>
            <p:ph idx="1"/>
          </p:nvPr>
        </p:nvPicPr>
        <p:blipFill>
          <a:blip r:embed="rId2"/>
          <a:stretch>
            <a:fillRect/>
          </a:stretch>
        </p:blipFill>
        <p:spPr>
          <a:xfrm>
            <a:off x="3895955" y="1948960"/>
            <a:ext cx="4793650" cy="2960079"/>
          </a:xfrm>
          <a:prstGeom prst="rect">
            <a:avLst/>
          </a:prstGeom>
        </p:spPr>
      </p:pic>
      <p:sp>
        <p:nvSpPr>
          <p:cNvPr id="18" name="Rectangle 17">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0" name="Oval 19">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314325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2" name="Oval 21">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177165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7" name="CuadroTexto 6">
            <a:extLst>
              <a:ext uri="{FF2B5EF4-FFF2-40B4-BE49-F238E27FC236}">
                <a16:creationId xmlns:a16="http://schemas.microsoft.com/office/drawing/2014/main" id="{0B888B31-DFE1-E833-0DE6-31E7E46810FC}"/>
              </a:ext>
            </a:extLst>
          </p:cNvPr>
          <p:cNvSpPr txBox="1"/>
          <p:nvPr/>
        </p:nvSpPr>
        <p:spPr>
          <a:xfrm>
            <a:off x="866216" y="2120900"/>
            <a:ext cx="2350294" cy="3898900"/>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dirty="0">
                <a:solidFill>
                  <a:srgbClr val="FFFFFF"/>
                </a:solidFill>
              </a:rPr>
              <a:t>Por </a:t>
            </a:r>
            <a:r>
              <a:rPr lang="en-US" dirty="0" err="1">
                <a:solidFill>
                  <a:srgbClr val="FFFFFF"/>
                </a:solidFill>
              </a:rPr>
              <a:t>cohorte</a:t>
            </a:r>
            <a:r>
              <a:rPr lang="en-US" dirty="0">
                <a:solidFill>
                  <a:srgbClr val="FFFFFF"/>
                </a:solidFill>
              </a:rPr>
              <a:t>, la </a:t>
            </a:r>
            <a:r>
              <a:rPr lang="en-US" dirty="0" err="1">
                <a:solidFill>
                  <a:srgbClr val="FFFFFF"/>
                </a:solidFill>
              </a:rPr>
              <a:t>tasa</a:t>
            </a:r>
            <a:r>
              <a:rPr lang="en-US" dirty="0">
                <a:solidFill>
                  <a:srgbClr val="FFFFFF"/>
                </a:solidFill>
              </a:rPr>
              <a:t> </a:t>
            </a:r>
            <a:r>
              <a:rPr lang="en-US" dirty="0" err="1">
                <a:solidFill>
                  <a:srgbClr val="FFFFFF"/>
                </a:solidFill>
              </a:rPr>
              <a:t>proyectada</a:t>
            </a:r>
            <a:r>
              <a:rPr lang="en-US" dirty="0">
                <a:solidFill>
                  <a:srgbClr val="FFFFFF"/>
                </a:solidFill>
              </a:rPr>
              <a:t> de </a:t>
            </a:r>
            <a:r>
              <a:rPr lang="en-US" dirty="0" err="1">
                <a:solidFill>
                  <a:srgbClr val="FFFFFF"/>
                </a:solidFill>
              </a:rPr>
              <a:t>deserción</a:t>
            </a:r>
            <a:r>
              <a:rPr lang="en-US" dirty="0">
                <a:solidFill>
                  <a:srgbClr val="FFFFFF"/>
                </a:solidFill>
              </a:rPr>
              <a:t> </a:t>
            </a:r>
            <a:r>
              <a:rPr lang="en-US" dirty="0" err="1">
                <a:solidFill>
                  <a:srgbClr val="FFFFFF"/>
                </a:solidFill>
              </a:rPr>
              <a:t>oscila</a:t>
            </a:r>
            <a:r>
              <a:rPr lang="en-US" dirty="0">
                <a:solidFill>
                  <a:srgbClr val="FFFFFF"/>
                </a:solidFill>
              </a:rPr>
              <a:t> entre 10.6% y 20.7%, con </a:t>
            </a:r>
            <a:r>
              <a:rPr lang="en-US" dirty="0" err="1">
                <a:solidFill>
                  <a:srgbClr val="FFFFFF"/>
                </a:solidFill>
              </a:rPr>
              <a:t>una</a:t>
            </a:r>
            <a:r>
              <a:rPr lang="en-US" dirty="0">
                <a:solidFill>
                  <a:srgbClr val="FFFFFF"/>
                </a:solidFill>
              </a:rPr>
              <a:t> </a:t>
            </a:r>
            <a:r>
              <a:rPr lang="en-US" dirty="0" err="1">
                <a:solidFill>
                  <a:srgbClr val="FFFFFF"/>
                </a:solidFill>
              </a:rPr>
              <a:t>tendencia</a:t>
            </a:r>
            <a:r>
              <a:rPr lang="en-US" dirty="0">
                <a:solidFill>
                  <a:srgbClr val="FFFFFF"/>
                </a:solidFill>
              </a:rPr>
              <a:t> </a:t>
            </a:r>
            <a:r>
              <a:rPr lang="en-US" dirty="0" err="1">
                <a:solidFill>
                  <a:srgbClr val="FFFFFF"/>
                </a:solidFill>
              </a:rPr>
              <a:t>leve</a:t>
            </a:r>
            <a:r>
              <a:rPr lang="en-US" dirty="0">
                <a:solidFill>
                  <a:srgbClr val="FFFFFF"/>
                </a:solidFill>
              </a:rPr>
              <a:t> al </a:t>
            </a:r>
            <a:r>
              <a:rPr lang="en-US" dirty="0" err="1">
                <a:solidFill>
                  <a:srgbClr val="FFFFFF"/>
                </a:solidFill>
              </a:rPr>
              <a:t>aumento</a:t>
            </a:r>
            <a:r>
              <a:rPr lang="en-US" dirty="0">
                <a:solidFill>
                  <a:srgbClr val="FFFFFF"/>
                </a:solidFill>
              </a:rPr>
              <a:t> </a:t>
            </a:r>
            <a:r>
              <a:rPr lang="en-US" dirty="0" err="1">
                <a:solidFill>
                  <a:srgbClr val="FFFFFF"/>
                </a:solidFill>
              </a:rPr>
              <a:t>en</a:t>
            </a:r>
            <a:r>
              <a:rPr lang="en-US" dirty="0">
                <a:solidFill>
                  <a:srgbClr val="FFFFFF"/>
                </a:solidFill>
              </a:rPr>
              <a:t> </a:t>
            </a:r>
            <a:r>
              <a:rPr lang="en-US" dirty="0" err="1">
                <a:solidFill>
                  <a:srgbClr val="FFFFFF"/>
                </a:solidFill>
              </a:rPr>
              <a:t>los</a:t>
            </a:r>
            <a:r>
              <a:rPr lang="en-US" dirty="0">
                <a:solidFill>
                  <a:srgbClr val="FFFFFF"/>
                </a:solidFill>
              </a:rPr>
              <a:t> </a:t>
            </a:r>
            <a:r>
              <a:rPr lang="en-US" dirty="0" err="1">
                <a:solidFill>
                  <a:srgbClr val="FFFFFF"/>
                </a:solidFill>
              </a:rPr>
              <a:t>últimos</a:t>
            </a:r>
            <a:r>
              <a:rPr lang="en-US" dirty="0">
                <a:solidFill>
                  <a:srgbClr val="FFFFFF"/>
                </a:solidFill>
              </a:rPr>
              <a:t> </a:t>
            </a:r>
            <a:r>
              <a:rPr lang="en-US" dirty="0" err="1">
                <a:solidFill>
                  <a:srgbClr val="FFFFFF"/>
                </a:solidFill>
              </a:rPr>
              <a:t>años</a:t>
            </a:r>
            <a:endParaRPr lang="en-US" dirty="0">
              <a:solidFill>
                <a:srgbClr val="FFFFFF"/>
              </a:solidFill>
            </a:endParaRPr>
          </a:p>
        </p:txBody>
      </p:sp>
      <p:sp>
        <p:nvSpPr>
          <p:cNvPr id="24"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s-CO"/>
          </a:p>
        </p:txBody>
      </p:sp>
    </p:spTree>
    <p:extLst>
      <p:ext uri="{BB962C8B-B14F-4D97-AF65-F5344CB8AC3E}">
        <p14:creationId xmlns:p14="http://schemas.microsoft.com/office/powerpoint/2010/main" val="718926824"/>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CO"/>
          </a:p>
        </p:txBody>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122264" y="751601"/>
            <a:ext cx="6053670" cy="5354799"/>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s-CO"/>
          </a:p>
        </p:txBody>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CO"/>
          </a:p>
        </p:txBody>
      </p:sp>
      <p:sp>
        <p:nvSpPr>
          <p:cNvPr id="2" name="Título 1">
            <a:extLst>
              <a:ext uri="{FF2B5EF4-FFF2-40B4-BE49-F238E27FC236}">
                <a16:creationId xmlns:a16="http://schemas.microsoft.com/office/drawing/2014/main" id="{F562E164-830D-C127-8CFB-4FB6F9AF9130}"/>
              </a:ext>
            </a:extLst>
          </p:cNvPr>
          <p:cNvSpPr>
            <a:spLocks noGrp="1"/>
          </p:cNvSpPr>
          <p:nvPr>
            <p:ph type="title"/>
          </p:nvPr>
        </p:nvSpPr>
        <p:spPr>
          <a:xfrm>
            <a:off x="739242" y="956736"/>
            <a:ext cx="2206657" cy="1020232"/>
          </a:xfrm>
        </p:spPr>
        <p:txBody>
          <a:bodyPr>
            <a:normAutofit/>
          </a:bodyPr>
          <a:lstStyle/>
          <a:p>
            <a:r>
              <a:rPr lang="es-MX" dirty="0">
                <a:solidFill>
                  <a:srgbClr val="EBEBEB"/>
                </a:solidFill>
              </a:rPr>
              <a:t>XG </a:t>
            </a:r>
            <a:r>
              <a:rPr lang="es-MX" dirty="0" err="1">
                <a:solidFill>
                  <a:srgbClr val="EBEBEB"/>
                </a:solidFill>
              </a:rPr>
              <a:t>Boost</a:t>
            </a:r>
            <a:endParaRPr lang="es-CO" dirty="0">
              <a:solidFill>
                <a:srgbClr val="EBEBEB"/>
              </a:solidFill>
            </a:endParaRPr>
          </a:p>
        </p:txBody>
      </p:sp>
      <p:pic>
        <p:nvPicPr>
          <p:cNvPr id="5" name="Imagen 4">
            <a:extLst>
              <a:ext uri="{FF2B5EF4-FFF2-40B4-BE49-F238E27FC236}">
                <a16:creationId xmlns:a16="http://schemas.microsoft.com/office/drawing/2014/main" id="{AF5B1179-8235-4947-660F-DAF30DDF0433}"/>
              </a:ext>
            </a:extLst>
          </p:cNvPr>
          <p:cNvPicPr>
            <a:picLocks noChangeAspect="1"/>
          </p:cNvPicPr>
          <p:nvPr/>
        </p:nvPicPr>
        <p:blipFill>
          <a:blip r:embed="rId2"/>
          <a:stretch>
            <a:fillRect/>
          </a:stretch>
        </p:blipFill>
        <p:spPr>
          <a:xfrm>
            <a:off x="3895955" y="2182651"/>
            <a:ext cx="4793650" cy="2492697"/>
          </a:xfrm>
          <a:prstGeom prst="rect">
            <a:avLst/>
          </a:prstGeom>
        </p:spPr>
      </p:pic>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314325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177165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3" name="Marcador de contenido 2">
            <a:extLst>
              <a:ext uri="{FF2B5EF4-FFF2-40B4-BE49-F238E27FC236}">
                <a16:creationId xmlns:a16="http://schemas.microsoft.com/office/drawing/2014/main" id="{07AA46FA-92ED-07F8-1805-F338186B1AB4}"/>
              </a:ext>
            </a:extLst>
          </p:cNvPr>
          <p:cNvSpPr>
            <a:spLocks noGrp="1"/>
          </p:cNvSpPr>
          <p:nvPr>
            <p:ph idx="1"/>
          </p:nvPr>
        </p:nvSpPr>
        <p:spPr>
          <a:xfrm>
            <a:off x="677333" y="2120900"/>
            <a:ext cx="2539177" cy="3898900"/>
          </a:xfrm>
        </p:spPr>
        <p:txBody>
          <a:bodyPr>
            <a:normAutofit/>
          </a:bodyPr>
          <a:lstStyle/>
          <a:p>
            <a:pPr marL="0" indent="0" algn="just">
              <a:lnSpc>
                <a:spcPct val="90000"/>
              </a:lnSpc>
              <a:buNone/>
            </a:pPr>
            <a:r>
              <a:rPr lang="es-MX" sz="1100" dirty="0">
                <a:solidFill>
                  <a:srgbClr val="FFFFFF"/>
                </a:solidFill>
              </a:rPr>
              <a:t>A nivel de programa, los de mayor probabilidad media ubica a Ingeniería Mecánica e Ingeniería Agronómica como las de mayor riesgo con una probabilidad media aproximada de 0.32, seguidas por Sistemas, Procesos y Civil (Figura 46). No obstante, Programas como Ingeniería Física, Ingeniería Matemática y Ingeniería de Diseño de Producto muestran menor probabilidad media de deserción, posiblemente porque son programas que de acuerdo con su perfil tan técnico y matemático, estas primeras materias evaluadas no son tan determinantes para la deserción de ellos y probablemente más adelante en el programa de estudios encuentren materias mucho más complejas que sí influyan en su decisión de seguir estudiando. </a:t>
            </a:r>
            <a:endParaRPr lang="es-CO" sz="1100" dirty="0">
              <a:solidFill>
                <a:srgbClr val="FFFFFF"/>
              </a:solidFill>
            </a:endParaRP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s-CO"/>
          </a:p>
        </p:txBody>
      </p:sp>
    </p:spTree>
    <p:extLst>
      <p:ext uri="{BB962C8B-B14F-4D97-AF65-F5344CB8AC3E}">
        <p14:creationId xmlns:p14="http://schemas.microsoft.com/office/powerpoint/2010/main" val="158654991"/>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109B5D-BC35-4376-98A2-F53B03E4E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0" name="Freeform 5">
            <a:extLst>
              <a:ext uri="{FF2B5EF4-FFF2-40B4-BE49-F238E27FC236}">
                <a16:creationId xmlns:a16="http://schemas.microsoft.com/office/drawing/2014/main" id="{94D90C11-98A3-40E3-B04C-A3025D6458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0"/>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CO"/>
          </a:p>
        </p:txBody>
      </p:sp>
      <p:sp>
        <p:nvSpPr>
          <p:cNvPr id="2" name="Título 1">
            <a:extLst>
              <a:ext uri="{FF2B5EF4-FFF2-40B4-BE49-F238E27FC236}">
                <a16:creationId xmlns:a16="http://schemas.microsoft.com/office/drawing/2014/main" id="{AC367FD3-977E-BC30-D542-35E9E46022C2}"/>
              </a:ext>
            </a:extLst>
          </p:cNvPr>
          <p:cNvSpPr>
            <a:spLocks noGrp="1"/>
          </p:cNvSpPr>
          <p:nvPr>
            <p:ph type="title"/>
          </p:nvPr>
        </p:nvSpPr>
        <p:spPr>
          <a:xfrm>
            <a:off x="725843" y="1449324"/>
            <a:ext cx="1966300" cy="4391640"/>
          </a:xfrm>
        </p:spPr>
        <p:txBody>
          <a:bodyPr anchor="t">
            <a:normAutofit/>
          </a:bodyPr>
          <a:lstStyle/>
          <a:p>
            <a:r>
              <a:rPr lang="es-CO" sz="2400">
                <a:solidFill>
                  <a:schemeClr val="tx1"/>
                </a:solidFill>
              </a:rPr>
              <a:t>Modelo Random Forest</a:t>
            </a:r>
          </a:p>
        </p:txBody>
      </p:sp>
      <p:sp>
        <p:nvSpPr>
          <p:cNvPr id="12" name="Rectangle 11">
            <a:extLst>
              <a:ext uri="{FF2B5EF4-FFF2-40B4-BE49-F238E27FC236}">
                <a16:creationId xmlns:a16="http://schemas.microsoft.com/office/drawing/2014/main" id="{A3B28FB1-97C9-4A9E-A45B-356508C2C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3" name="Marcador de contenido 2">
            <a:extLst>
              <a:ext uri="{FF2B5EF4-FFF2-40B4-BE49-F238E27FC236}">
                <a16:creationId xmlns:a16="http://schemas.microsoft.com/office/drawing/2014/main" id="{0E379E72-8809-F054-5F5E-84A499058500}"/>
              </a:ext>
            </a:extLst>
          </p:cNvPr>
          <p:cNvSpPr>
            <a:spLocks noGrp="1"/>
          </p:cNvSpPr>
          <p:nvPr>
            <p:ph idx="1"/>
          </p:nvPr>
        </p:nvSpPr>
        <p:spPr>
          <a:xfrm>
            <a:off x="2812794" y="1449324"/>
            <a:ext cx="5128939" cy="4391640"/>
          </a:xfrm>
        </p:spPr>
        <p:txBody>
          <a:bodyPr>
            <a:normAutofit fontScale="92500" lnSpcReduction="20000"/>
          </a:bodyPr>
          <a:lstStyle/>
          <a:p>
            <a:pPr marL="0" indent="0" algn="just">
              <a:lnSpc>
                <a:spcPct val="90000"/>
              </a:lnSpc>
              <a:buNone/>
            </a:pPr>
            <a:r>
              <a:rPr lang="es-CO" sz="1400" dirty="0">
                <a:solidFill>
                  <a:schemeClr val="tx1"/>
                </a:solidFill>
              </a:rPr>
              <a:t>Es un algoritmo de Machine </a:t>
            </a:r>
            <a:r>
              <a:rPr lang="es-CO" sz="1400" dirty="0" err="1">
                <a:solidFill>
                  <a:schemeClr val="tx1"/>
                </a:solidFill>
              </a:rPr>
              <a:t>Learning</a:t>
            </a:r>
            <a:r>
              <a:rPr lang="es-CO" sz="1400" dirty="0">
                <a:solidFill>
                  <a:schemeClr val="tx1"/>
                </a:solidFill>
              </a:rPr>
              <a:t> supervisado que combina muchos árboles de decisión para obtener predicciones más precisas y estables.</a:t>
            </a:r>
          </a:p>
          <a:p>
            <a:pPr algn="just">
              <a:lnSpc>
                <a:spcPct val="90000"/>
              </a:lnSpc>
            </a:pPr>
            <a:endParaRPr lang="es-CO" sz="1400" dirty="0">
              <a:solidFill>
                <a:schemeClr val="tx1"/>
              </a:solidFill>
            </a:endParaRPr>
          </a:p>
          <a:p>
            <a:pPr marL="0" indent="0" algn="just">
              <a:lnSpc>
                <a:spcPct val="90000"/>
              </a:lnSpc>
              <a:buNone/>
            </a:pPr>
            <a:r>
              <a:rPr lang="es-CO" sz="1400" dirty="0">
                <a:solidFill>
                  <a:schemeClr val="tx1"/>
                </a:solidFill>
              </a:rPr>
              <a:t>Cómo funciona:</a:t>
            </a:r>
          </a:p>
          <a:p>
            <a:pPr algn="just">
              <a:lnSpc>
                <a:spcPct val="90000"/>
              </a:lnSpc>
            </a:pPr>
            <a:r>
              <a:rPr lang="es-CO" sz="1400" dirty="0">
                <a:solidFill>
                  <a:schemeClr val="tx1"/>
                </a:solidFill>
              </a:rPr>
              <a:t>Cada árbol aprende de una muestra distinta del conjunto de datos.</a:t>
            </a:r>
          </a:p>
          <a:p>
            <a:pPr algn="just">
              <a:lnSpc>
                <a:spcPct val="90000"/>
              </a:lnSpc>
            </a:pPr>
            <a:r>
              <a:rPr lang="es-CO" sz="1400" dirty="0">
                <a:solidFill>
                  <a:schemeClr val="tx1"/>
                </a:solidFill>
              </a:rPr>
              <a:t>Las predicciones se combinan mediante votación (clasificación) o promedio (regresión).</a:t>
            </a:r>
          </a:p>
          <a:p>
            <a:pPr algn="just">
              <a:lnSpc>
                <a:spcPct val="90000"/>
              </a:lnSpc>
            </a:pPr>
            <a:endParaRPr lang="es-CO" sz="1400" dirty="0">
              <a:solidFill>
                <a:schemeClr val="tx1"/>
              </a:solidFill>
            </a:endParaRPr>
          </a:p>
          <a:p>
            <a:pPr marL="0" indent="0" algn="just">
              <a:lnSpc>
                <a:spcPct val="90000"/>
              </a:lnSpc>
              <a:buNone/>
            </a:pPr>
            <a:r>
              <a:rPr lang="es-CO" sz="1400" dirty="0">
                <a:solidFill>
                  <a:schemeClr val="tx1"/>
                </a:solidFill>
              </a:rPr>
              <a:t>Ventajas:</a:t>
            </a:r>
          </a:p>
          <a:p>
            <a:pPr algn="just">
              <a:lnSpc>
                <a:spcPct val="90000"/>
              </a:lnSpc>
            </a:pPr>
            <a:r>
              <a:rPr lang="es-CO" sz="1400" dirty="0">
                <a:solidFill>
                  <a:schemeClr val="tx1"/>
                </a:solidFill>
              </a:rPr>
              <a:t>Reduce el sobreajuste.</a:t>
            </a:r>
          </a:p>
          <a:p>
            <a:pPr algn="just">
              <a:lnSpc>
                <a:spcPct val="90000"/>
              </a:lnSpc>
            </a:pPr>
            <a:r>
              <a:rPr lang="es-CO" sz="1400" dirty="0">
                <a:solidFill>
                  <a:schemeClr val="tx1"/>
                </a:solidFill>
              </a:rPr>
              <a:t>Es preciso y fácil de interpretar.</a:t>
            </a:r>
          </a:p>
          <a:p>
            <a:pPr algn="just">
              <a:lnSpc>
                <a:spcPct val="90000"/>
              </a:lnSpc>
            </a:pPr>
            <a:r>
              <a:rPr lang="es-CO" sz="1400" dirty="0">
                <a:solidFill>
                  <a:schemeClr val="tx1"/>
                </a:solidFill>
              </a:rPr>
              <a:t>Muestra la importancia de las variables.</a:t>
            </a:r>
          </a:p>
          <a:p>
            <a:pPr algn="just">
              <a:lnSpc>
                <a:spcPct val="90000"/>
              </a:lnSpc>
            </a:pPr>
            <a:endParaRPr lang="es-CO" sz="1400" dirty="0">
              <a:solidFill>
                <a:schemeClr val="tx1"/>
              </a:solidFill>
            </a:endParaRPr>
          </a:p>
          <a:p>
            <a:pPr marL="0" indent="0" algn="just">
              <a:lnSpc>
                <a:spcPct val="90000"/>
              </a:lnSpc>
              <a:buNone/>
            </a:pPr>
            <a:r>
              <a:rPr lang="es-CO" sz="1400" dirty="0">
                <a:solidFill>
                  <a:schemeClr val="tx1"/>
                </a:solidFill>
              </a:rPr>
              <a:t>En este estudio:</a:t>
            </a:r>
          </a:p>
          <a:p>
            <a:pPr algn="just">
              <a:lnSpc>
                <a:spcPct val="90000"/>
              </a:lnSpc>
            </a:pPr>
            <a:r>
              <a:rPr lang="es-CO" sz="1400" dirty="0">
                <a:solidFill>
                  <a:schemeClr val="tx1"/>
                </a:solidFill>
              </a:rPr>
              <a:t>Permitió predecir la deserción estudiantil a partir de las notas, identificando las asignaturas más influyentes.</a:t>
            </a:r>
          </a:p>
        </p:txBody>
      </p:sp>
    </p:spTree>
    <p:extLst>
      <p:ext uri="{BB962C8B-B14F-4D97-AF65-F5344CB8AC3E}">
        <p14:creationId xmlns:p14="http://schemas.microsoft.com/office/powerpoint/2010/main" val="2335689510"/>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Modelo Random Forest</a:t>
            </a:r>
          </a:p>
        </p:txBody>
      </p:sp>
      <p:sp>
        <p:nvSpPr>
          <p:cNvPr id="3" name="Content Placeholder 2"/>
          <p:cNvSpPr>
            <a:spLocks noGrp="1"/>
          </p:cNvSpPr>
          <p:nvPr>
            <p:ph idx="1"/>
          </p:nvPr>
        </p:nvSpPr>
        <p:spPr>
          <a:xfrm>
            <a:off x="588170" y="2489200"/>
            <a:ext cx="6345260" cy="3530600"/>
          </a:xfrm>
        </p:spPr>
        <p:txBody>
          <a:bodyPr>
            <a:normAutofit/>
          </a:bodyPr>
          <a:lstStyle/>
          <a:p>
            <a:pPr marL="0" indent="0">
              <a:buNone/>
            </a:pPr>
            <a:r>
              <a:rPr b="1" dirty="0" err="1"/>
              <a:t>Entrenamiento</a:t>
            </a:r>
            <a:r>
              <a:rPr b="1" dirty="0"/>
              <a:t>:</a:t>
            </a:r>
            <a:endParaRPr lang="es-CO" b="1" dirty="0"/>
          </a:p>
          <a:p>
            <a:pPr marL="0" indent="0">
              <a:buNone/>
            </a:pPr>
            <a:endParaRPr dirty="0"/>
          </a:p>
          <a:p>
            <a:pPr marL="0" indent="0">
              <a:buNone/>
            </a:pPr>
            <a:endParaRPr lang="es-CO" dirty="0"/>
          </a:p>
          <a:p>
            <a:pPr marL="0" indent="0">
              <a:buNone/>
            </a:pPr>
            <a:endParaRPr lang="es-CO" dirty="0"/>
          </a:p>
          <a:p>
            <a:pPr marL="0" indent="0">
              <a:buNone/>
            </a:pPr>
            <a:r>
              <a:rPr b="1" dirty="0" err="1"/>
              <a:t>Prueba</a:t>
            </a:r>
            <a:r>
              <a:rPr b="1" dirty="0"/>
              <a:t>:</a:t>
            </a:r>
          </a:p>
          <a:p>
            <a:pPr marL="0" indent="0">
              <a:buNone/>
            </a:pPr>
            <a:endParaRPr lang="es-CO" dirty="0"/>
          </a:p>
          <a:p>
            <a:pPr marL="0" indent="0">
              <a:buNone/>
            </a:pPr>
            <a:endParaRPr lang="es-CO" dirty="0"/>
          </a:p>
          <a:p>
            <a:pPr marL="0" indent="0">
              <a:buNone/>
            </a:pPr>
            <a:endParaRPr lang="es-CO" dirty="0"/>
          </a:p>
          <a:p>
            <a:pPr marL="0" indent="0">
              <a:buNone/>
            </a:pPr>
            <a:endParaRPr lang="es-CO" dirty="0"/>
          </a:p>
          <a:p>
            <a:pPr marL="0" indent="0">
              <a:buNone/>
            </a:pPr>
            <a:endParaRPr lang="es-CO" dirty="0"/>
          </a:p>
          <a:p>
            <a:pPr marL="0" indent="0">
              <a:buNone/>
            </a:pPr>
            <a:endParaRPr lang="es-CO" dirty="0"/>
          </a:p>
        </p:txBody>
      </p:sp>
      <p:graphicFrame>
        <p:nvGraphicFramePr>
          <p:cNvPr id="5" name="Tabla 4">
            <a:extLst>
              <a:ext uri="{FF2B5EF4-FFF2-40B4-BE49-F238E27FC236}">
                <a16:creationId xmlns:a16="http://schemas.microsoft.com/office/drawing/2014/main" id="{65B335E1-24FC-FC10-2C99-F27EB10458EA}"/>
              </a:ext>
            </a:extLst>
          </p:cNvPr>
          <p:cNvGraphicFramePr>
            <a:graphicFrameLocks noGrp="1"/>
          </p:cNvGraphicFramePr>
          <p:nvPr>
            <p:extLst>
              <p:ext uri="{D42A27DB-BD31-4B8C-83A1-F6EECF244321}">
                <p14:modId xmlns:p14="http://schemas.microsoft.com/office/powerpoint/2010/main" val="2353472160"/>
              </p:ext>
            </p:extLst>
          </p:nvPr>
        </p:nvGraphicFramePr>
        <p:xfrm>
          <a:off x="1634066" y="2915430"/>
          <a:ext cx="1346200" cy="914400"/>
        </p:xfrm>
        <a:graphic>
          <a:graphicData uri="http://schemas.openxmlformats.org/drawingml/2006/table">
            <a:tbl>
              <a:tblPr>
                <a:tableStyleId>{5C22544A-7EE6-4342-B048-85BDC9FD1C3A}</a:tableStyleId>
              </a:tblPr>
              <a:tblGrid>
                <a:gridCol w="787400">
                  <a:extLst>
                    <a:ext uri="{9D8B030D-6E8A-4147-A177-3AD203B41FA5}">
                      <a16:colId xmlns:a16="http://schemas.microsoft.com/office/drawing/2014/main" val="41141106"/>
                    </a:ext>
                  </a:extLst>
                </a:gridCol>
                <a:gridCol w="558800">
                  <a:extLst>
                    <a:ext uri="{9D8B030D-6E8A-4147-A177-3AD203B41FA5}">
                      <a16:colId xmlns:a16="http://schemas.microsoft.com/office/drawing/2014/main" val="4015764494"/>
                    </a:ext>
                  </a:extLst>
                </a:gridCol>
              </a:tblGrid>
              <a:tr h="182880">
                <a:tc>
                  <a:txBody>
                    <a:bodyPr/>
                    <a:lstStyle/>
                    <a:p>
                      <a:pPr algn="l" fontAlgn="b"/>
                      <a:r>
                        <a:rPr lang="es-CO" sz="1100" u="none" strike="noStrike">
                          <a:effectLst/>
                        </a:rPr>
                        <a:t>Accuracy</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0,916</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678139941"/>
                  </a:ext>
                </a:extLst>
              </a:tr>
              <a:tr h="182880">
                <a:tc>
                  <a:txBody>
                    <a:bodyPr/>
                    <a:lstStyle/>
                    <a:p>
                      <a:pPr algn="l" fontAlgn="b"/>
                      <a:r>
                        <a:rPr lang="es-CO" sz="1100" u="none" strike="noStrike">
                          <a:effectLst/>
                        </a:rPr>
                        <a:t>Precision</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0,900</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212070390"/>
                  </a:ext>
                </a:extLst>
              </a:tr>
              <a:tr h="182880">
                <a:tc>
                  <a:txBody>
                    <a:bodyPr/>
                    <a:lstStyle/>
                    <a:p>
                      <a:pPr algn="l" fontAlgn="b"/>
                      <a:r>
                        <a:rPr lang="es-CO" sz="1100" u="none" strike="noStrike">
                          <a:effectLst/>
                        </a:rPr>
                        <a:t>Recall</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dirty="0">
                          <a:effectLst/>
                        </a:rPr>
                        <a:t>0,841</a:t>
                      </a:r>
                      <a:endParaRPr lang="es-CO"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949728878"/>
                  </a:ext>
                </a:extLst>
              </a:tr>
              <a:tr h="182880">
                <a:tc>
                  <a:txBody>
                    <a:bodyPr/>
                    <a:lstStyle/>
                    <a:p>
                      <a:pPr algn="l" fontAlgn="b"/>
                      <a:r>
                        <a:rPr lang="es-CO" sz="1100" u="none" strike="noStrike">
                          <a:effectLst/>
                        </a:rPr>
                        <a:t>F1-Score</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0,869</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950429930"/>
                  </a:ext>
                </a:extLst>
              </a:tr>
              <a:tr h="182880">
                <a:tc>
                  <a:txBody>
                    <a:bodyPr/>
                    <a:lstStyle/>
                    <a:p>
                      <a:pPr algn="l" fontAlgn="b"/>
                      <a:r>
                        <a:rPr lang="es-CO" sz="1100" u="none" strike="noStrike">
                          <a:effectLst/>
                        </a:rPr>
                        <a:t>ROC_AUC</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dirty="0">
                          <a:effectLst/>
                        </a:rPr>
                        <a:t>0,957</a:t>
                      </a:r>
                      <a:endParaRPr lang="es-CO"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86677745"/>
                  </a:ext>
                </a:extLst>
              </a:tr>
            </a:tbl>
          </a:graphicData>
        </a:graphic>
      </p:graphicFrame>
      <p:pic>
        <p:nvPicPr>
          <p:cNvPr id="7" name="Imagen 6">
            <a:extLst>
              <a:ext uri="{FF2B5EF4-FFF2-40B4-BE49-F238E27FC236}">
                <a16:creationId xmlns:a16="http://schemas.microsoft.com/office/drawing/2014/main" id="{9B1BD609-882C-9820-4F60-D061847AFD41}"/>
              </a:ext>
            </a:extLst>
          </p:cNvPr>
          <p:cNvPicPr>
            <a:picLocks noChangeAspect="1"/>
          </p:cNvPicPr>
          <p:nvPr/>
        </p:nvPicPr>
        <p:blipFill>
          <a:blip r:embed="rId2"/>
          <a:stretch>
            <a:fillRect/>
          </a:stretch>
        </p:blipFill>
        <p:spPr>
          <a:xfrm>
            <a:off x="4377267" y="4421619"/>
            <a:ext cx="4178563" cy="1813555"/>
          </a:xfrm>
          <a:prstGeom prst="rect">
            <a:avLst/>
          </a:prstGeom>
        </p:spPr>
      </p:pic>
      <p:graphicFrame>
        <p:nvGraphicFramePr>
          <p:cNvPr id="8" name="Tabla 7">
            <a:extLst>
              <a:ext uri="{FF2B5EF4-FFF2-40B4-BE49-F238E27FC236}">
                <a16:creationId xmlns:a16="http://schemas.microsoft.com/office/drawing/2014/main" id="{6BB9FFA9-6685-9D8D-0E5E-B149A5FC5E9F}"/>
              </a:ext>
            </a:extLst>
          </p:cNvPr>
          <p:cNvGraphicFramePr>
            <a:graphicFrameLocks noGrp="1"/>
          </p:cNvGraphicFramePr>
          <p:nvPr>
            <p:extLst>
              <p:ext uri="{D42A27DB-BD31-4B8C-83A1-F6EECF244321}">
                <p14:modId xmlns:p14="http://schemas.microsoft.com/office/powerpoint/2010/main" val="2341076272"/>
              </p:ext>
            </p:extLst>
          </p:nvPr>
        </p:nvGraphicFramePr>
        <p:xfrm>
          <a:off x="1634066" y="4682067"/>
          <a:ext cx="1346200" cy="914400"/>
        </p:xfrm>
        <a:graphic>
          <a:graphicData uri="http://schemas.openxmlformats.org/drawingml/2006/table">
            <a:tbl>
              <a:tblPr>
                <a:tableStyleId>{5C22544A-7EE6-4342-B048-85BDC9FD1C3A}</a:tableStyleId>
              </a:tblPr>
              <a:tblGrid>
                <a:gridCol w="787400">
                  <a:extLst>
                    <a:ext uri="{9D8B030D-6E8A-4147-A177-3AD203B41FA5}">
                      <a16:colId xmlns:a16="http://schemas.microsoft.com/office/drawing/2014/main" val="3768482971"/>
                    </a:ext>
                  </a:extLst>
                </a:gridCol>
                <a:gridCol w="558800">
                  <a:extLst>
                    <a:ext uri="{9D8B030D-6E8A-4147-A177-3AD203B41FA5}">
                      <a16:colId xmlns:a16="http://schemas.microsoft.com/office/drawing/2014/main" val="1295202857"/>
                    </a:ext>
                  </a:extLst>
                </a:gridCol>
              </a:tblGrid>
              <a:tr h="182880">
                <a:tc>
                  <a:txBody>
                    <a:bodyPr/>
                    <a:lstStyle/>
                    <a:p>
                      <a:pPr algn="l" fontAlgn="b"/>
                      <a:r>
                        <a:rPr lang="es-CO" sz="1100" u="none" strike="noStrike">
                          <a:effectLst/>
                        </a:rPr>
                        <a:t>Accuracy</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0,875</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004646416"/>
                  </a:ext>
                </a:extLst>
              </a:tr>
              <a:tr h="182880">
                <a:tc>
                  <a:txBody>
                    <a:bodyPr/>
                    <a:lstStyle/>
                    <a:p>
                      <a:pPr algn="l" fontAlgn="b"/>
                      <a:r>
                        <a:rPr lang="es-CO" sz="1100" u="none" strike="noStrike">
                          <a:effectLst/>
                        </a:rPr>
                        <a:t>Precision</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0,798</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625214831"/>
                  </a:ext>
                </a:extLst>
              </a:tr>
              <a:tr h="182880">
                <a:tc>
                  <a:txBody>
                    <a:bodyPr/>
                    <a:lstStyle/>
                    <a:p>
                      <a:pPr algn="l" fontAlgn="b"/>
                      <a:r>
                        <a:rPr lang="es-CO" sz="1100" u="none" strike="noStrike">
                          <a:effectLst/>
                        </a:rPr>
                        <a:t>Recall</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dirty="0">
                          <a:effectLst/>
                        </a:rPr>
                        <a:t>0,818</a:t>
                      </a:r>
                      <a:endParaRPr lang="es-CO"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265994740"/>
                  </a:ext>
                </a:extLst>
              </a:tr>
              <a:tr h="182880">
                <a:tc>
                  <a:txBody>
                    <a:bodyPr/>
                    <a:lstStyle/>
                    <a:p>
                      <a:pPr algn="l" fontAlgn="b"/>
                      <a:r>
                        <a:rPr lang="es-CO" sz="1100" u="none" strike="noStrike">
                          <a:effectLst/>
                        </a:rPr>
                        <a:t>F1-Score</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0,808</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11354719"/>
                  </a:ext>
                </a:extLst>
              </a:tr>
              <a:tr h="182880">
                <a:tc>
                  <a:txBody>
                    <a:bodyPr/>
                    <a:lstStyle/>
                    <a:p>
                      <a:pPr algn="l" fontAlgn="b"/>
                      <a:r>
                        <a:rPr lang="es-CO" sz="1100" u="none" strike="noStrike">
                          <a:effectLst/>
                        </a:rPr>
                        <a:t>ROC_AUC</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dirty="0">
                          <a:effectLst/>
                        </a:rPr>
                        <a:t>0,914</a:t>
                      </a:r>
                      <a:endParaRPr lang="es-CO"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748490590"/>
                  </a:ext>
                </a:extLst>
              </a:tr>
            </a:tbl>
          </a:graphicData>
        </a:graphic>
      </p:graphicFrame>
      <p:pic>
        <p:nvPicPr>
          <p:cNvPr id="11" name="Imagen 10">
            <a:extLst>
              <a:ext uri="{FF2B5EF4-FFF2-40B4-BE49-F238E27FC236}">
                <a16:creationId xmlns:a16="http://schemas.microsoft.com/office/drawing/2014/main" id="{82DF49BF-BB4B-07AD-C495-D064B96ADD35}"/>
              </a:ext>
            </a:extLst>
          </p:cNvPr>
          <p:cNvPicPr>
            <a:picLocks noChangeAspect="1"/>
          </p:cNvPicPr>
          <p:nvPr/>
        </p:nvPicPr>
        <p:blipFill>
          <a:blip r:embed="rId3"/>
          <a:stretch>
            <a:fillRect/>
          </a:stretch>
        </p:blipFill>
        <p:spPr>
          <a:xfrm>
            <a:off x="4377267" y="2363765"/>
            <a:ext cx="4121683" cy="1788862"/>
          </a:xfrm>
          <a:prstGeom prst="rect">
            <a:avLst/>
          </a:prstGeom>
        </p:spPr>
      </p:pic>
      <p:sp>
        <p:nvSpPr>
          <p:cNvPr id="12" name="CuadroTexto 11">
            <a:extLst>
              <a:ext uri="{FF2B5EF4-FFF2-40B4-BE49-F238E27FC236}">
                <a16:creationId xmlns:a16="http://schemas.microsoft.com/office/drawing/2014/main" id="{D45040F5-6245-C592-DCB6-529D1681B08C}"/>
              </a:ext>
            </a:extLst>
          </p:cNvPr>
          <p:cNvSpPr txBox="1"/>
          <p:nvPr/>
        </p:nvSpPr>
        <p:spPr>
          <a:xfrm>
            <a:off x="457200" y="6288792"/>
            <a:ext cx="6273800" cy="646331"/>
          </a:xfrm>
          <a:prstGeom prst="rect">
            <a:avLst/>
          </a:prstGeom>
          <a:noFill/>
        </p:spPr>
        <p:txBody>
          <a:bodyPr wrap="square" rtlCol="0">
            <a:spAutoFit/>
          </a:bodyPr>
          <a:lstStyle/>
          <a:p>
            <a:r>
              <a:rPr lang="es-CO" b="1" dirty="0"/>
              <a:t>Conclusión: </a:t>
            </a:r>
            <a:r>
              <a:rPr lang="es-CO" dirty="0"/>
              <a:t>Modelo equilibrado y generalizable</a:t>
            </a:r>
          </a:p>
          <a:p>
            <a:endParaRPr lang="es-CO"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a:t>Análisis Agregado – Random Forest</a:t>
            </a:r>
            <a:endParaRPr lang="es-CO" dirty="0"/>
          </a:p>
        </p:txBody>
      </p:sp>
      <p:sp>
        <p:nvSpPr>
          <p:cNvPr id="3" name="Content Placeholder 2"/>
          <p:cNvSpPr>
            <a:spLocks noGrp="1"/>
          </p:cNvSpPr>
          <p:nvPr>
            <p:ph idx="1"/>
          </p:nvPr>
        </p:nvSpPr>
        <p:spPr>
          <a:xfrm>
            <a:off x="678115" y="2827867"/>
            <a:ext cx="7974818" cy="3530600"/>
          </a:xfrm>
        </p:spPr>
        <p:txBody>
          <a:bodyPr>
            <a:normAutofit/>
          </a:bodyPr>
          <a:lstStyle/>
          <a:p>
            <a:endParaRPr lang="es-CO"/>
          </a:p>
          <a:p>
            <a:endParaRPr lang="es-CO"/>
          </a:p>
          <a:p>
            <a:endParaRPr lang="es-CO"/>
          </a:p>
          <a:p>
            <a:endParaRPr lang="es-CO"/>
          </a:p>
          <a:p>
            <a:endParaRPr lang="es-CO"/>
          </a:p>
          <a:p>
            <a:r>
              <a:rPr lang="es-CO"/>
              <a:t>Predichos desertores: 762 (32.9%) | No desertores: 1554 (67.1%)</a:t>
            </a:r>
          </a:p>
          <a:p>
            <a:r>
              <a:rPr lang="es-CO"/>
              <a:t>Mayor riesgo: Ingeniería Agronómica, Sistemas y Procesos.</a:t>
            </a:r>
          </a:p>
          <a:p>
            <a:r>
              <a:rPr lang="es-CO"/>
              <a:t>Cohortes más vulnerables: 2020-2 y 2021-1</a:t>
            </a:r>
            <a:endParaRPr lang="es-CO" dirty="0"/>
          </a:p>
        </p:txBody>
      </p:sp>
      <p:pic>
        <p:nvPicPr>
          <p:cNvPr id="4" name="Imagen 3">
            <a:extLst>
              <a:ext uri="{FF2B5EF4-FFF2-40B4-BE49-F238E27FC236}">
                <a16:creationId xmlns:a16="http://schemas.microsoft.com/office/drawing/2014/main" id="{DB1180B9-DE97-54D9-AD06-2FB5E8D7539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810" y="2500525"/>
            <a:ext cx="2919095" cy="1619885"/>
          </a:xfrm>
          <a:prstGeom prst="rect">
            <a:avLst/>
          </a:prstGeom>
          <a:noFill/>
        </p:spPr>
      </p:pic>
      <p:pic>
        <p:nvPicPr>
          <p:cNvPr id="5" name="Imagen 4">
            <a:extLst>
              <a:ext uri="{FF2B5EF4-FFF2-40B4-BE49-F238E27FC236}">
                <a16:creationId xmlns:a16="http://schemas.microsoft.com/office/drawing/2014/main" id="{31FC170D-5F27-7943-3B2C-58332F1C7F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1905" y="2454910"/>
            <a:ext cx="2924810" cy="1799590"/>
          </a:xfrm>
          <a:prstGeom prst="rect">
            <a:avLst/>
          </a:prstGeom>
          <a:noFill/>
        </p:spPr>
      </p:pic>
      <p:pic>
        <p:nvPicPr>
          <p:cNvPr id="6" name="Imagen 5">
            <a:extLst>
              <a:ext uri="{FF2B5EF4-FFF2-40B4-BE49-F238E27FC236}">
                <a16:creationId xmlns:a16="http://schemas.microsoft.com/office/drawing/2014/main" id="{ECF72AC3-EE9E-6559-F0E0-AB2C6C98117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53020" y="2670810"/>
            <a:ext cx="3138170" cy="136779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109B5D-BC35-4376-98A2-F53B03E4E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0" name="Freeform 5">
            <a:extLst>
              <a:ext uri="{FF2B5EF4-FFF2-40B4-BE49-F238E27FC236}">
                <a16:creationId xmlns:a16="http://schemas.microsoft.com/office/drawing/2014/main" id="{94D90C11-98A3-40E3-B04C-A3025D6458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0"/>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CO"/>
          </a:p>
        </p:txBody>
      </p:sp>
      <p:sp>
        <p:nvSpPr>
          <p:cNvPr id="2" name="Título 1">
            <a:extLst>
              <a:ext uri="{FF2B5EF4-FFF2-40B4-BE49-F238E27FC236}">
                <a16:creationId xmlns:a16="http://schemas.microsoft.com/office/drawing/2014/main" id="{09BE37E9-9423-8FC6-4261-B57F7F9E7BD5}"/>
              </a:ext>
            </a:extLst>
          </p:cNvPr>
          <p:cNvSpPr>
            <a:spLocks noGrp="1"/>
          </p:cNvSpPr>
          <p:nvPr>
            <p:ph type="title"/>
          </p:nvPr>
        </p:nvSpPr>
        <p:spPr>
          <a:xfrm>
            <a:off x="725843" y="1449324"/>
            <a:ext cx="1966300" cy="4391640"/>
          </a:xfrm>
        </p:spPr>
        <p:txBody>
          <a:bodyPr anchor="t">
            <a:normAutofit/>
          </a:bodyPr>
          <a:lstStyle/>
          <a:p>
            <a:r>
              <a:rPr lang="es-CO" sz="2400">
                <a:solidFill>
                  <a:schemeClr val="tx1"/>
                </a:solidFill>
              </a:rPr>
              <a:t>Modelo MLP (Multi-Layer Perceptron)</a:t>
            </a:r>
          </a:p>
        </p:txBody>
      </p:sp>
      <p:sp>
        <p:nvSpPr>
          <p:cNvPr id="12" name="Rectangle 11">
            <a:extLst>
              <a:ext uri="{FF2B5EF4-FFF2-40B4-BE49-F238E27FC236}">
                <a16:creationId xmlns:a16="http://schemas.microsoft.com/office/drawing/2014/main" id="{A3B28FB1-97C9-4A9E-A45B-356508C2C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3" name="Marcador de contenido 2">
            <a:extLst>
              <a:ext uri="{FF2B5EF4-FFF2-40B4-BE49-F238E27FC236}">
                <a16:creationId xmlns:a16="http://schemas.microsoft.com/office/drawing/2014/main" id="{FC0380CA-5E9F-88AC-DAA4-65F91CC3B2EC}"/>
              </a:ext>
            </a:extLst>
          </p:cNvPr>
          <p:cNvSpPr>
            <a:spLocks noGrp="1"/>
          </p:cNvSpPr>
          <p:nvPr>
            <p:ph idx="1"/>
          </p:nvPr>
        </p:nvSpPr>
        <p:spPr>
          <a:xfrm>
            <a:off x="2812794" y="1305391"/>
            <a:ext cx="5015565" cy="4391640"/>
          </a:xfrm>
        </p:spPr>
        <p:txBody>
          <a:bodyPr>
            <a:noAutofit/>
          </a:bodyPr>
          <a:lstStyle/>
          <a:p>
            <a:pPr marL="0" indent="0" algn="just">
              <a:lnSpc>
                <a:spcPct val="90000"/>
              </a:lnSpc>
              <a:buNone/>
            </a:pPr>
            <a:r>
              <a:rPr lang="es-CO" sz="1200" dirty="0">
                <a:solidFill>
                  <a:schemeClr val="tx1"/>
                </a:solidFill>
              </a:rPr>
              <a:t>Es un tipo de red neuronal artificial que aprende patrones complejos a partir de datos numéricos.</a:t>
            </a:r>
          </a:p>
          <a:p>
            <a:pPr algn="just">
              <a:lnSpc>
                <a:spcPct val="90000"/>
              </a:lnSpc>
            </a:pPr>
            <a:endParaRPr lang="es-CO" sz="1200" dirty="0">
              <a:solidFill>
                <a:schemeClr val="tx1"/>
              </a:solidFill>
            </a:endParaRPr>
          </a:p>
          <a:p>
            <a:pPr marL="0" indent="0" algn="just">
              <a:lnSpc>
                <a:spcPct val="90000"/>
              </a:lnSpc>
              <a:buNone/>
            </a:pPr>
            <a:r>
              <a:rPr lang="es-CO" sz="1200" dirty="0">
                <a:solidFill>
                  <a:schemeClr val="tx1"/>
                </a:solidFill>
              </a:rPr>
              <a:t>Cómo funciona:</a:t>
            </a:r>
          </a:p>
          <a:p>
            <a:pPr algn="just">
              <a:lnSpc>
                <a:spcPct val="90000"/>
              </a:lnSpc>
            </a:pPr>
            <a:r>
              <a:rPr lang="es-CO" sz="1200" dirty="0">
                <a:solidFill>
                  <a:schemeClr val="tx1"/>
                </a:solidFill>
              </a:rPr>
              <a:t>Conecta neuronas organizadas en capas: entrada → ocultas → salida.</a:t>
            </a:r>
          </a:p>
          <a:p>
            <a:pPr algn="just">
              <a:lnSpc>
                <a:spcPct val="90000"/>
              </a:lnSpc>
            </a:pPr>
            <a:r>
              <a:rPr lang="es-CO" sz="1200" dirty="0">
                <a:solidFill>
                  <a:schemeClr val="tx1"/>
                </a:solidFill>
              </a:rPr>
              <a:t>Cada neurona pondera las entradas, aplica una función de activación y aprende mediante ajuste de pesos durante el entrenamiento.</a:t>
            </a:r>
          </a:p>
          <a:p>
            <a:pPr marL="0" indent="0" algn="just">
              <a:lnSpc>
                <a:spcPct val="90000"/>
              </a:lnSpc>
              <a:buNone/>
            </a:pPr>
            <a:endParaRPr lang="es-CO" sz="1200" dirty="0">
              <a:solidFill>
                <a:schemeClr val="tx1"/>
              </a:solidFill>
            </a:endParaRPr>
          </a:p>
          <a:p>
            <a:pPr marL="0" indent="0" algn="just">
              <a:lnSpc>
                <a:spcPct val="90000"/>
              </a:lnSpc>
              <a:buNone/>
            </a:pPr>
            <a:r>
              <a:rPr lang="es-CO" sz="1200" dirty="0">
                <a:solidFill>
                  <a:schemeClr val="tx1"/>
                </a:solidFill>
              </a:rPr>
              <a:t>Ventajas:</a:t>
            </a:r>
          </a:p>
          <a:p>
            <a:pPr algn="just">
              <a:lnSpc>
                <a:spcPct val="90000"/>
              </a:lnSpc>
            </a:pPr>
            <a:r>
              <a:rPr lang="es-CO" sz="1200" dirty="0">
                <a:solidFill>
                  <a:schemeClr val="tx1"/>
                </a:solidFill>
              </a:rPr>
              <a:t>Detecta relaciones no lineales entre variables.</a:t>
            </a:r>
          </a:p>
          <a:p>
            <a:pPr algn="just">
              <a:lnSpc>
                <a:spcPct val="90000"/>
              </a:lnSpc>
            </a:pPr>
            <a:r>
              <a:rPr lang="es-CO" sz="1200" dirty="0">
                <a:solidFill>
                  <a:schemeClr val="tx1"/>
                </a:solidFill>
              </a:rPr>
              <a:t>Se adapta bien a distintos tipos de datos.</a:t>
            </a:r>
          </a:p>
          <a:p>
            <a:pPr algn="just">
              <a:lnSpc>
                <a:spcPct val="90000"/>
              </a:lnSpc>
            </a:pPr>
            <a:r>
              <a:rPr lang="es-CO" sz="1200" dirty="0">
                <a:solidFill>
                  <a:schemeClr val="tx1"/>
                </a:solidFill>
              </a:rPr>
              <a:t>Generaliza con alta precisión si se entrena correctamente.</a:t>
            </a:r>
          </a:p>
          <a:p>
            <a:pPr algn="just">
              <a:lnSpc>
                <a:spcPct val="90000"/>
              </a:lnSpc>
            </a:pPr>
            <a:endParaRPr lang="es-CO" sz="1200" dirty="0">
              <a:solidFill>
                <a:schemeClr val="tx1"/>
              </a:solidFill>
            </a:endParaRPr>
          </a:p>
          <a:p>
            <a:pPr marL="0" indent="0" algn="just">
              <a:lnSpc>
                <a:spcPct val="90000"/>
              </a:lnSpc>
              <a:buNone/>
            </a:pPr>
            <a:r>
              <a:rPr lang="es-CO" sz="1200" dirty="0">
                <a:solidFill>
                  <a:schemeClr val="tx1"/>
                </a:solidFill>
              </a:rPr>
              <a:t>En este estudio:</a:t>
            </a:r>
          </a:p>
          <a:p>
            <a:pPr algn="just">
              <a:lnSpc>
                <a:spcPct val="90000"/>
              </a:lnSpc>
            </a:pPr>
            <a:r>
              <a:rPr lang="es-CO" sz="1200" dirty="0">
                <a:solidFill>
                  <a:schemeClr val="tx1"/>
                </a:solidFill>
              </a:rPr>
              <a:t>El MLP modeló la relación entre notas y deserción, logrando resultados cercanos al 88 % de precisión, confirmando la consistencia del patrón académico temprano.</a:t>
            </a:r>
          </a:p>
        </p:txBody>
      </p:sp>
    </p:spTree>
    <p:extLst>
      <p:ext uri="{BB962C8B-B14F-4D97-AF65-F5344CB8AC3E}">
        <p14:creationId xmlns:p14="http://schemas.microsoft.com/office/powerpoint/2010/main" val="2664534296"/>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err="1"/>
              <a:t>Modelo</a:t>
            </a:r>
            <a:r>
              <a:rPr dirty="0"/>
              <a:t> MLP (Multi-Layer Perceptron)</a:t>
            </a:r>
          </a:p>
        </p:txBody>
      </p:sp>
      <p:sp>
        <p:nvSpPr>
          <p:cNvPr id="3" name="Content Placeholder 2"/>
          <p:cNvSpPr>
            <a:spLocks noGrp="1"/>
          </p:cNvSpPr>
          <p:nvPr>
            <p:ph idx="1"/>
          </p:nvPr>
        </p:nvSpPr>
        <p:spPr>
          <a:xfrm>
            <a:off x="552702" y="2489200"/>
            <a:ext cx="6345260" cy="3530600"/>
          </a:xfrm>
        </p:spPr>
        <p:txBody>
          <a:bodyPr>
            <a:normAutofit/>
          </a:bodyPr>
          <a:lstStyle/>
          <a:p>
            <a:pPr marL="0" indent="0">
              <a:buNone/>
            </a:pPr>
            <a:r>
              <a:rPr lang="es-CO" b="1" dirty="0"/>
              <a:t>Entrenamiento:</a:t>
            </a:r>
          </a:p>
          <a:p>
            <a:pPr marL="0" indent="0">
              <a:buNone/>
            </a:pPr>
            <a:endParaRPr lang="es-CO" dirty="0"/>
          </a:p>
          <a:p>
            <a:pPr marL="0" indent="0">
              <a:buNone/>
            </a:pPr>
            <a:endParaRPr lang="es-CO" dirty="0"/>
          </a:p>
          <a:p>
            <a:pPr marL="0" indent="0">
              <a:buNone/>
            </a:pPr>
            <a:endParaRPr lang="es-CO" dirty="0"/>
          </a:p>
          <a:p>
            <a:pPr marL="0" indent="0">
              <a:buNone/>
            </a:pPr>
            <a:r>
              <a:rPr lang="es-CO" b="1" dirty="0"/>
              <a:t>Prueba:</a:t>
            </a:r>
          </a:p>
          <a:p>
            <a:pPr marL="0" indent="0">
              <a:buNone/>
            </a:pPr>
            <a:endParaRPr lang="es-CO" dirty="0"/>
          </a:p>
          <a:p>
            <a:pPr marL="0" indent="0">
              <a:buNone/>
            </a:pPr>
            <a:endParaRPr lang="es-CO" dirty="0"/>
          </a:p>
        </p:txBody>
      </p:sp>
      <p:graphicFrame>
        <p:nvGraphicFramePr>
          <p:cNvPr id="4" name="Tabla 3">
            <a:extLst>
              <a:ext uri="{FF2B5EF4-FFF2-40B4-BE49-F238E27FC236}">
                <a16:creationId xmlns:a16="http://schemas.microsoft.com/office/drawing/2014/main" id="{EBAB15A1-8684-6E98-3845-5E217CE9473D}"/>
              </a:ext>
            </a:extLst>
          </p:cNvPr>
          <p:cNvGraphicFramePr>
            <a:graphicFrameLocks noGrp="1"/>
          </p:cNvGraphicFramePr>
          <p:nvPr>
            <p:extLst>
              <p:ext uri="{D42A27DB-BD31-4B8C-83A1-F6EECF244321}">
                <p14:modId xmlns:p14="http://schemas.microsoft.com/office/powerpoint/2010/main" val="2106630854"/>
              </p:ext>
            </p:extLst>
          </p:nvPr>
        </p:nvGraphicFramePr>
        <p:xfrm>
          <a:off x="1659467" y="2865148"/>
          <a:ext cx="1346200" cy="914400"/>
        </p:xfrm>
        <a:graphic>
          <a:graphicData uri="http://schemas.openxmlformats.org/drawingml/2006/table">
            <a:tbl>
              <a:tblPr>
                <a:tableStyleId>{5C22544A-7EE6-4342-B048-85BDC9FD1C3A}</a:tableStyleId>
              </a:tblPr>
              <a:tblGrid>
                <a:gridCol w="787400">
                  <a:extLst>
                    <a:ext uri="{9D8B030D-6E8A-4147-A177-3AD203B41FA5}">
                      <a16:colId xmlns:a16="http://schemas.microsoft.com/office/drawing/2014/main" val="1540965192"/>
                    </a:ext>
                  </a:extLst>
                </a:gridCol>
                <a:gridCol w="558800">
                  <a:extLst>
                    <a:ext uri="{9D8B030D-6E8A-4147-A177-3AD203B41FA5}">
                      <a16:colId xmlns:a16="http://schemas.microsoft.com/office/drawing/2014/main" val="1497590048"/>
                    </a:ext>
                  </a:extLst>
                </a:gridCol>
              </a:tblGrid>
              <a:tr h="182880">
                <a:tc>
                  <a:txBody>
                    <a:bodyPr/>
                    <a:lstStyle/>
                    <a:p>
                      <a:pPr algn="l" fontAlgn="b"/>
                      <a:r>
                        <a:rPr lang="es-CO" sz="1100" u="none" strike="noStrike" dirty="0" err="1">
                          <a:effectLst/>
                        </a:rPr>
                        <a:t>Accuracy</a:t>
                      </a:r>
                      <a:endParaRPr lang="es-CO"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0,907</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224552505"/>
                  </a:ext>
                </a:extLst>
              </a:tr>
              <a:tr h="182880">
                <a:tc>
                  <a:txBody>
                    <a:bodyPr/>
                    <a:lstStyle/>
                    <a:p>
                      <a:pPr algn="l" fontAlgn="b"/>
                      <a:r>
                        <a:rPr lang="es-CO" sz="1100" u="none" strike="noStrike">
                          <a:effectLst/>
                        </a:rPr>
                        <a:t>Precision</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dirty="0">
                          <a:effectLst/>
                        </a:rPr>
                        <a:t>0,919</a:t>
                      </a:r>
                      <a:endParaRPr lang="es-CO"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772862818"/>
                  </a:ext>
                </a:extLst>
              </a:tr>
              <a:tr h="182880">
                <a:tc>
                  <a:txBody>
                    <a:bodyPr/>
                    <a:lstStyle/>
                    <a:p>
                      <a:pPr algn="l" fontAlgn="b"/>
                      <a:r>
                        <a:rPr lang="es-CO" sz="1100" u="none" strike="noStrike" dirty="0" err="1">
                          <a:effectLst/>
                        </a:rPr>
                        <a:t>Recall</a:t>
                      </a:r>
                      <a:endParaRPr lang="es-CO"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0,790</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348353165"/>
                  </a:ext>
                </a:extLst>
              </a:tr>
              <a:tr h="182880">
                <a:tc>
                  <a:txBody>
                    <a:bodyPr/>
                    <a:lstStyle/>
                    <a:p>
                      <a:pPr algn="l" fontAlgn="b"/>
                      <a:r>
                        <a:rPr lang="es-CO" sz="1100" u="none" strike="noStrike">
                          <a:effectLst/>
                        </a:rPr>
                        <a:t>F1-Score</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0,850</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301939718"/>
                  </a:ext>
                </a:extLst>
              </a:tr>
              <a:tr h="182880">
                <a:tc>
                  <a:txBody>
                    <a:bodyPr/>
                    <a:lstStyle/>
                    <a:p>
                      <a:pPr algn="l" fontAlgn="b"/>
                      <a:r>
                        <a:rPr lang="es-CO" sz="1100" u="none" strike="noStrike">
                          <a:effectLst/>
                        </a:rPr>
                        <a:t>ROC_AUC</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dirty="0">
                          <a:effectLst/>
                        </a:rPr>
                        <a:t>0,946</a:t>
                      </a:r>
                      <a:endParaRPr lang="es-CO"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465144263"/>
                  </a:ext>
                </a:extLst>
              </a:tr>
            </a:tbl>
          </a:graphicData>
        </a:graphic>
      </p:graphicFrame>
      <p:graphicFrame>
        <p:nvGraphicFramePr>
          <p:cNvPr id="5" name="Tabla 4">
            <a:extLst>
              <a:ext uri="{FF2B5EF4-FFF2-40B4-BE49-F238E27FC236}">
                <a16:creationId xmlns:a16="http://schemas.microsoft.com/office/drawing/2014/main" id="{5A6DCA5B-1F5E-C677-B42F-6E8267727039}"/>
              </a:ext>
            </a:extLst>
          </p:cNvPr>
          <p:cNvGraphicFramePr>
            <a:graphicFrameLocks noGrp="1"/>
          </p:cNvGraphicFramePr>
          <p:nvPr>
            <p:extLst>
              <p:ext uri="{D42A27DB-BD31-4B8C-83A1-F6EECF244321}">
                <p14:modId xmlns:p14="http://schemas.microsoft.com/office/powerpoint/2010/main" val="3270849113"/>
              </p:ext>
            </p:extLst>
          </p:nvPr>
        </p:nvGraphicFramePr>
        <p:xfrm>
          <a:off x="1740979" y="4442474"/>
          <a:ext cx="1346200" cy="914400"/>
        </p:xfrm>
        <a:graphic>
          <a:graphicData uri="http://schemas.openxmlformats.org/drawingml/2006/table">
            <a:tbl>
              <a:tblPr>
                <a:tableStyleId>{5C22544A-7EE6-4342-B048-85BDC9FD1C3A}</a:tableStyleId>
              </a:tblPr>
              <a:tblGrid>
                <a:gridCol w="787400">
                  <a:extLst>
                    <a:ext uri="{9D8B030D-6E8A-4147-A177-3AD203B41FA5}">
                      <a16:colId xmlns:a16="http://schemas.microsoft.com/office/drawing/2014/main" val="3318227758"/>
                    </a:ext>
                  </a:extLst>
                </a:gridCol>
                <a:gridCol w="558800">
                  <a:extLst>
                    <a:ext uri="{9D8B030D-6E8A-4147-A177-3AD203B41FA5}">
                      <a16:colId xmlns:a16="http://schemas.microsoft.com/office/drawing/2014/main" val="1893562528"/>
                    </a:ext>
                  </a:extLst>
                </a:gridCol>
              </a:tblGrid>
              <a:tr h="182880">
                <a:tc>
                  <a:txBody>
                    <a:bodyPr/>
                    <a:lstStyle/>
                    <a:p>
                      <a:pPr algn="l" fontAlgn="b"/>
                      <a:r>
                        <a:rPr lang="es-CO" sz="1100" u="none" strike="noStrike">
                          <a:effectLst/>
                        </a:rPr>
                        <a:t>Accuracy</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0,878</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82083056"/>
                  </a:ext>
                </a:extLst>
              </a:tr>
              <a:tr h="182880">
                <a:tc>
                  <a:txBody>
                    <a:bodyPr/>
                    <a:lstStyle/>
                    <a:p>
                      <a:pPr algn="l" fontAlgn="b"/>
                      <a:r>
                        <a:rPr lang="es-CO" sz="1100" u="none" strike="noStrike">
                          <a:effectLst/>
                        </a:rPr>
                        <a:t>Precision</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0,825</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110994351"/>
                  </a:ext>
                </a:extLst>
              </a:tr>
              <a:tr h="182880">
                <a:tc>
                  <a:txBody>
                    <a:bodyPr/>
                    <a:lstStyle/>
                    <a:p>
                      <a:pPr algn="l" fontAlgn="b"/>
                      <a:r>
                        <a:rPr lang="es-CO" sz="1100" u="none" strike="noStrike">
                          <a:effectLst/>
                        </a:rPr>
                        <a:t>Recall</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a:effectLst/>
                        </a:rPr>
                        <a:t>0,787</a:t>
                      </a:r>
                      <a:endParaRPr lang="es-CO"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402396887"/>
                  </a:ext>
                </a:extLst>
              </a:tr>
              <a:tr h="182880">
                <a:tc>
                  <a:txBody>
                    <a:bodyPr/>
                    <a:lstStyle/>
                    <a:p>
                      <a:pPr algn="l" fontAlgn="b"/>
                      <a:r>
                        <a:rPr lang="es-CO" sz="1100" u="none" strike="noStrike">
                          <a:effectLst/>
                        </a:rPr>
                        <a:t>F1-Score</a:t>
                      </a:r>
                      <a:endParaRPr lang="es-CO"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dirty="0">
                          <a:effectLst/>
                        </a:rPr>
                        <a:t>0,806</a:t>
                      </a:r>
                      <a:endParaRPr lang="es-CO"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697898092"/>
                  </a:ext>
                </a:extLst>
              </a:tr>
              <a:tr h="182880">
                <a:tc>
                  <a:txBody>
                    <a:bodyPr/>
                    <a:lstStyle/>
                    <a:p>
                      <a:pPr algn="l" fontAlgn="b"/>
                      <a:r>
                        <a:rPr lang="es-CO" sz="1100" u="none" strike="noStrike" dirty="0">
                          <a:effectLst/>
                        </a:rPr>
                        <a:t>ROC_AUC</a:t>
                      </a:r>
                      <a:endParaRPr lang="es-CO"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CO" sz="1100" u="none" strike="noStrike" dirty="0">
                          <a:effectLst/>
                        </a:rPr>
                        <a:t>0,911</a:t>
                      </a:r>
                      <a:endParaRPr lang="es-CO"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149560071"/>
                  </a:ext>
                </a:extLst>
              </a:tr>
            </a:tbl>
          </a:graphicData>
        </a:graphic>
      </p:graphicFrame>
      <p:pic>
        <p:nvPicPr>
          <p:cNvPr id="7" name="Imagen 6">
            <a:extLst>
              <a:ext uri="{FF2B5EF4-FFF2-40B4-BE49-F238E27FC236}">
                <a16:creationId xmlns:a16="http://schemas.microsoft.com/office/drawing/2014/main" id="{1AF4EF1C-66BD-56A6-1D2F-318ACA0228BB}"/>
              </a:ext>
            </a:extLst>
          </p:cNvPr>
          <p:cNvPicPr>
            <a:picLocks noChangeAspect="1"/>
          </p:cNvPicPr>
          <p:nvPr/>
        </p:nvPicPr>
        <p:blipFill>
          <a:blip r:embed="rId2"/>
          <a:stretch>
            <a:fillRect/>
          </a:stretch>
        </p:blipFill>
        <p:spPr>
          <a:xfrm>
            <a:off x="4462737" y="2321934"/>
            <a:ext cx="4122463" cy="1789200"/>
          </a:xfrm>
          <a:prstGeom prst="rect">
            <a:avLst/>
          </a:prstGeom>
        </p:spPr>
      </p:pic>
      <p:pic>
        <p:nvPicPr>
          <p:cNvPr id="9" name="Imagen 8">
            <a:extLst>
              <a:ext uri="{FF2B5EF4-FFF2-40B4-BE49-F238E27FC236}">
                <a16:creationId xmlns:a16="http://schemas.microsoft.com/office/drawing/2014/main" id="{1C748E66-3AC8-2D4D-3DEF-5484F60AFD3A}"/>
              </a:ext>
            </a:extLst>
          </p:cNvPr>
          <p:cNvPicPr>
            <a:picLocks noChangeAspect="1"/>
          </p:cNvPicPr>
          <p:nvPr/>
        </p:nvPicPr>
        <p:blipFill>
          <a:blip r:embed="rId3"/>
          <a:stretch>
            <a:fillRect/>
          </a:stretch>
        </p:blipFill>
        <p:spPr>
          <a:xfrm>
            <a:off x="4462737" y="4431576"/>
            <a:ext cx="4122463" cy="1789200"/>
          </a:xfrm>
          <a:prstGeom prst="rect">
            <a:avLst/>
          </a:prstGeom>
        </p:spPr>
      </p:pic>
      <p:sp>
        <p:nvSpPr>
          <p:cNvPr id="10" name="CuadroTexto 9">
            <a:extLst>
              <a:ext uri="{FF2B5EF4-FFF2-40B4-BE49-F238E27FC236}">
                <a16:creationId xmlns:a16="http://schemas.microsoft.com/office/drawing/2014/main" id="{7B160045-F400-F1B7-04BC-925CD26058AA}"/>
              </a:ext>
            </a:extLst>
          </p:cNvPr>
          <p:cNvSpPr txBox="1"/>
          <p:nvPr/>
        </p:nvSpPr>
        <p:spPr>
          <a:xfrm>
            <a:off x="552702" y="6338175"/>
            <a:ext cx="7693831" cy="646331"/>
          </a:xfrm>
          <a:prstGeom prst="rect">
            <a:avLst/>
          </a:prstGeom>
          <a:noFill/>
        </p:spPr>
        <p:txBody>
          <a:bodyPr wrap="square" rtlCol="0">
            <a:spAutoFit/>
          </a:bodyPr>
          <a:lstStyle/>
          <a:p>
            <a:r>
              <a:rPr lang="es-CO" b="1" dirty="0"/>
              <a:t>Conclusión: </a:t>
            </a:r>
            <a:r>
              <a:rPr lang="es-CO" dirty="0"/>
              <a:t>Desempeño similar al </a:t>
            </a:r>
            <a:r>
              <a:rPr lang="es-CO" dirty="0" err="1"/>
              <a:t>Random</a:t>
            </a:r>
            <a:r>
              <a:rPr lang="es-CO" dirty="0"/>
              <a:t> Forest, sin sobreajuste.</a:t>
            </a:r>
          </a:p>
          <a:p>
            <a:endParaRPr lang="es-CO"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Análisis</a:t>
            </a:r>
            <a:r>
              <a:rPr dirty="0"/>
              <a:t> Agregado – MLP</a:t>
            </a:r>
          </a:p>
        </p:txBody>
      </p:sp>
      <p:sp>
        <p:nvSpPr>
          <p:cNvPr id="3" name="Content Placeholder 2"/>
          <p:cNvSpPr>
            <a:spLocks noGrp="1"/>
          </p:cNvSpPr>
          <p:nvPr>
            <p:ph idx="1"/>
          </p:nvPr>
        </p:nvSpPr>
        <p:spPr>
          <a:xfrm>
            <a:off x="661181" y="2630441"/>
            <a:ext cx="7966351" cy="3530600"/>
          </a:xfrm>
        </p:spPr>
        <p:txBody>
          <a:bodyPr>
            <a:normAutofit/>
          </a:bodyPr>
          <a:lstStyle/>
          <a:p>
            <a:pPr algn="just"/>
            <a:endParaRPr lang="es-CO" dirty="0"/>
          </a:p>
          <a:p>
            <a:pPr algn="just"/>
            <a:endParaRPr lang="es-CO" dirty="0"/>
          </a:p>
          <a:p>
            <a:pPr algn="just"/>
            <a:endParaRPr lang="es-CO" dirty="0"/>
          </a:p>
          <a:p>
            <a:pPr algn="just"/>
            <a:endParaRPr lang="es-CO" dirty="0"/>
          </a:p>
          <a:p>
            <a:pPr algn="just"/>
            <a:endParaRPr lang="es-CO" dirty="0"/>
          </a:p>
          <a:p>
            <a:pPr algn="just"/>
            <a:r>
              <a:rPr dirty="0" err="1"/>
              <a:t>Predichos</a:t>
            </a:r>
            <a:r>
              <a:rPr dirty="0"/>
              <a:t> </a:t>
            </a:r>
            <a:r>
              <a:rPr dirty="0" err="1"/>
              <a:t>desertores</a:t>
            </a:r>
            <a:r>
              <a:rPr dirty="0"/>
              <a:t>: 709 (30.6%) | No </a:t>
            </a:r>
            <a:r>
              <a:rPr dirty="0" err="1"/>
              <a:t>desertores</a:t>
            </a:r>
            <a:r>
              <a:rPr dirty="0"/>
              <a:t>: 1607 (69.4%)</a:t>
            </a:r>
          </a:p>
          <a:p>
            <a:pPr algn="just"/>
            <a:r>
              <a:rPr dirty="0"/>
              <a:t>Mayor </a:t>
            </a:r>
            <a:r>
              <a:rPr dirty="0" err="1"/>
              <a:t>riesgo</a:t>
            </a:r>
            <a:r>
              <a:rPr dirty="0"/>
              <a:t>: </a:t>
            </a:r>
            <a:r>
              <a:rPr dirty="0" err="1"/>
              <a:t>Agronómica</a:t>
            </a:r>
            <a:r>
              <a:rPr dirty="0"/>
              <a:t>, Sistemas y </a:t>
            </a:r>
            <a:r>
              <a:rPr dirty="0" err="1"/>
              <a:t>Procesos</a:t>
            </a:r>
            <a:r>
              <a:rPr dirty="0"/>
              <a:t>.</a:t>
            </a:r>
          </a:p>
          <a:p>
            <a:pPr algn="just"/>
            <a:r>
              <a:rPr dirty="0" err="1"/>
              <a:t>Patrón</a:t>
            </a:r>
            <a:r>
              <a:rPr dirty="0"/>
              <a:t> similar al Random Forest.</a:t>
            </a:r>
          </a:p>
        </p:txBody>
      </p:sp>
      <p:pic>
        <p:nvPicPr>
          <p:cNvPr id="5" name="Imagen 4">
            <a:extLst>
              <a:ext uri="{FF2B5EF4-FFF2-40B4-BE49-F238E27FC236}">
                <a16:creationId xmlns:a16="http://schemas.microsoft.com/office/drawing/2014/main" id="{1C8F08F4-F076-CF7C-1CFB-31EC3867F29C}"/>
              </a:ext>
            </a:extLst>
          </p:cNvPr>
          <p:cNvPicPr>
            <a:picLocks noChangeAspect="1"/>
          </p:cNvPicPr>
          <p:nvPr/>
        </p:nvPicPr>
        <p:blipFill>
          <a:blip r:embed="rId2"/>
          <a:stretch>
            <a:fillRect/>
          </a:stretch>
        </p:blipFill>
        <p:spPr>
          <a:xfrm>
            <a:off x="50853" y="2350974"/>
            <a:ext cx="2549239" cy="1800000"/>
          </a:xfrm>
          <a:prstGeom prst="rect">
            <a:avLst/>
          </a:prstGeom>
        </p:spPr>
      </p:pic>
      <p:pic>
        <p:nvPicPr>
          <p:cNvPr id="7" name="Imagen 6">
            <a:extLst>
              <a:ext uri="{FF2B5EF4-FFF2-40B4-BE49-F238E27FC236}">
                <a16:creationId xmlns:a16="http://schemas.microsoft.com/office/drawing/2014/main" id="{FEF409A1-42BE-1F00-7A34-45E3C02D9023}"/>
              </a:ext>
            </a:extLst>
          </p:cNvPr>
          <p:cNvPicPr>
            <a:picLocks noChangeAspect="1"/>
          </p:cNvPicPr>
          <p:nvPr/>
        </p:nvPicPr>
        <p:blipFill>
          <a:blip r:embed="rId3"/>
          <a:stretch>
            <a:fillRect/>
          </a:stretch>
        </p:blipFill>
        <p:spPr>
          <a:xfrm>
            <a:off x="2657203" y="2432997"/>
            <a:ext cx="2912264" cy="1800000"/>
          </a:xfrm>
          <a:prstGeom prst="rect">
            <a:avLst/>
          </a:prstGeom>
        </p:spPr>
      </p:pic>
      <p:pic>
        <p:nvPicPr>
          <p:cNvPr id="9" name="Imagen 8">
            <a:extLst>
              <a:ext uri="{FF2B5EF4-FFF2-40B4-BE49-F238E27FC236}">
                <a16:creationId xmlns:a16="http://schemas.microsoft.com/office/drawing/2014/main" id="{00BB8D4B-A460-5BDA-AAA0-86617CC6BCF4}"/>
              </a:ext>
            </a:extLst>
          </p:cNvPr>
          <p:cNvPicPr>
            <a:picLocks noChangeAspect="1"/>
          </p:cNvPicPr>
          <p:nvPr/>
        </p:nvPicPr>
        <p:blipFill>
          <a:blip r:embed="rId4"/>
          <a:stretch>
            <a:fillRect/>
          </a:stretch>
        </p:blipFill>
        <p:spPr>
          <a:xfrm>
            <a:off x="5712252" y="2494974"/>
            <a:ext cx="3380895" cy="1512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a:extLst>
            <a:ext uri="{FF2B5EF4-FFF2-40B4-BE49-F238E27FC236}">
              <a16:creationId xmlns:a16="http://schemas.microsoft.com/office/drawing/2014/main" id="{59F46BDA-6FFA-9E1F-4F28-679DD6F0AD66}"/>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pSp>
        <p:nvGrpSpPr>
          <p:cNvPr id="13" name="Group 12">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useBgFill="1">
          <p:nvSpPr>
            <p:cNvPr id="14" name="Rectangle 13">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5"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s-CO"/>
            </a:p>
          </p:txBody>
        </p:sp>
      </p:grpSp>
      <p:sp>
        <p:nvSpPr>
          <p:cNvPr id="2" name="Título 1">
            <a:extLst>
              <a:ext uri="{FF2B5EF4-FFF2-40B4-BE49-F238E27FC236}">
                <a16:creationId xmlns:a16="http://schemas.microsoft.com/office/drawing/2014/main" id="{AEDBAFC5-9BD9-6F6F-F2A9-53C00BB4D8CF}"/>
              </a:ext>
            </a:extLst>
          </p:cNvPr>
          <p:cNvSpPr>
            <a:spLocks noGrp="1"/>
          </p:cNvSpPr>
          <p:nvPr>
            <p:ph type="title"/>
          </p:nvPr>
        </p:nvSpPr>
        <p:spPr>
          <a:xfrm>
            <a:off x="1262378" y="1169773"/>
            <a:ext cx="6619243" cy="2870161"/>
          </a:xfrm>
        </p:spPr>
        <p:txBody>
          <a:bodyPr vert="horz" lIns="91440" tIns="45720" rIns="91440" bIns="45720" rtlCol="0" anchor="b">
            <a:normAutofit/>
          </a:bodyPr>
          <a:lstStyle/>
          <a:p>
            <a:pPr algn="ctr"/>
            <a:r>
              <a:rPr lang="en-US" sz="5400" dirty="0">
                <a:solidFill>
                  <a:schemeClr val="tx1"/>
                </a:solidFill>
              </a:rPr>
              <a:t>DISCUSIÓN DE RESULTADOS</a:t>
            </a:r>
          </a:p>
        </p:txBody>
      </p:sp>
      <p:cxnSp>
        <p:nvCxnSpPr>
          <p:cNvPr id="17" name="Straight Connector 16">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18686" y="4166888"/>
            <a:ext cx="506627"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2846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Comparación entre </a:t>
            </a:r>
            <a:r>
              <a:rPr dirty="0" err="1"/>
              <a:t>Modelos</a:t>
            </a:r>
            <a:endParaRPr dirty="0"/>
          </a:p>
        </p:txBody>
      </p:sp>
      <p:sp>
        <p:nvSpPr>
          <p:cNvPr id="3" name="Content Placeholder 2"/>
          <p:cNvSpPr>
            <a:spLocks noGrp="1"/>
          </p:cNvSpPr>
          <p:nvPr>
            <p:ph idx="1"/>
          </p:nvPr>
        </p:nvSpPr>
        <p:spPr>
          <a:xfrm>
            <a:off x="524933" y="2489200"/>
            <a:ext cx="8136467" cy="3530600"/>
          </a:xfrm>
        </p:spPr>
        <p:txBody>
          <a:bodyPr>
            <a:noAutofit/>
          </a:bodyPr>
          <a:lstStyle/>
          <a:p>
            <a:pPr marL="0" indent="0" algn="just">
              <a:buNone/>
            </a:pPr>
            <a:r>
              <a:rPr sz="1100" dirty="0" err="1"/>
              <a:t>Comparación</a:t>
            </a:r>
            <a:r>
              <a:rPr sz="1100" dirty="0"/>
              <a:t> de </a:t>
            </a:r>
            <a:r>
              <a:rPr sz="1100" dirty="0" err="1"/>
              <a:t>desempeño</a:t>
            </a:r>
            <a:r>
              <a:rPr sz="1100" dirty="0"/>
              <a:t>:</a:t>
            </a:r>
          </a:p>
          <a:p>
            <a:pPr algn="just"/>
            <a:endParaRPr lang="es-CO" sz="1100" dirty="0"/>
          </a:p>
          <a:p>
            <a:pPr algn="just"/>
            <a:endParaRPr lang="es-CO" sz="1100" dirty="0"/>
          </a:p>
          <a:p>
            <a:pPr algn="just"/>
            <a:endParaRPr lang="es-CO" sz="1100" dirty="0"/>
          </a:p>
          <a:p>
            <a:pPr algn="just"/>
            <a:endParaRPr lang="es-CO" sz="1100" dirty="0"/>
          </a:p>
          <a:p>
            <a:pPr algn="just"/>
            <a:endParaRPr lang="es-CO" sz="1100" dirty="0"/>
          </a:p>
          <a:p>
            <a:pPr algn="just"/>
            <a:endParaRPr lang="es-CO" sz="1100" dirty="0"/>
          </a:p>
          <a:p>
            <a:pPr algn="just"/>
            <a:r>
              <a:rPr lang="es-CO" sz="1100" dirty="0" err="1"/>
              <a:t>XGBoost</a:t>
            </a:r>
            <a:r>
              <a:rPr lang="es-CO" sz="1100" dirty="0"/>
              <a:t> mostró la mejor generalización (AUC = 0.97 entrenamiento / 0.911 prueba) y equilibrio entre </a:t>
            </a:r>
            <a:r>
              <a:rPr lang="es-CO" sz="1100" dirty="0" err="1"/>
              <a:t>precision</a:t>
            </a:r>
            <a:r>
              <a:rPr lang="es-CO" sz="1100" dirty="0"/>
              <a:t> (0.825) y </a:t>
            </a:r>
            <a:r>
              <a:rPr lang="es-CO" sz="1100" dirty="0" err="1"/>
              <a:t>recall</a:t>
            </a:r>
            <a:r>
              <a:rPr lang="es-CO" sz="1100" dirty="0"/>
              <a:t> (0.799).</a:t>
            </a:r>
          </a:p>
          <a:p>
            <a:pPr algn="just"/>
            <a:r>
              <a:rPr lang="es-CO" sz="1100" dirty="0" err="1"/>
              <a:t>Random</a:t>
            </a:r>
            <a:r>
              <a:rPr lang="es-CO" sz="1100" dirty="0"/>
              <a:t> Forest alcanzó el mayor </a:t>
            </a:r>
            <a:r>
              <a:rPr lang="es-CO" sz="1100" dirty="0" err="1"/>
              <a:t>recall</a:t>
            </a:r>
            <a:r>
              <a:rPr lang="es-CO" sz="1100" dirty="0"/>
              <a:t>, destacando en la detección temprana de desertores reales.</a:t>
            </a:r>
          </a:p>
          <a:p>
            <a:pPr algn="just"/>
            <a:r>
              <a:rPr lang="es-CO" sz="1100" dirty="0"/>
              <a:t>MLP mantuvo un buen equilibrio entre precisión y exactitud, siendo más conservador y reduciendo falsas alarmas.</a:t>
            </a:r>
          </a:p>
          <a:p>
            <a:pPr algn="just"/>
            <a:r>
              <a:rPr lang="es-CO" sz="1100" dirty="0"/>
              <a:t>En conjunto, los tres modelos ofrecen resultados coherentes y consistentes, validando la solidez de los patrones de deserción identificados.</a:t>
            </a:r>
            <a:endParaRPr sz="1100" dirty="0"/>
          </a:p>
          <a:p>
            <a:pPr algn="just"/>
            <a:r>
              <a:rPr sz="1100" dirty="0"/>
              <a:t>Mejor </a:t>
            </a:r>
            <a:r>
              <a:rPr sz="1100" dirty="0" err="1"/>
              <a:t>modelo</a:t>
            </a:r>
            <a:r>
              <a:rPr sz="1100" dirty="0"/>
              <a:t>: </a:t>
            </a:r>
            <a:r>
              <a:rPr sz="1100" dirty="0" err="1"/>
              <a:t>XGBoost</a:t>
            </a:r>
            <a:r>
              <a:rPr sz="1100" dirty="0"/>
              <a:t> — mayor </a:t>
            </a:r>
            <a:r>
              <a:rPr sz="1100" dirty="0" err="1"/>
              <a:t>estabilidad</a:t>
            </a:r>
            <a:r>
              <a:rPr sz="1100" dirty="0"/>
              <a:t> y </a:t>
            </a:r>
            <a:r>
              <a:rPr sz="1100" dirty="0" err="1"/>
              <a:t>capacidad</a:t>
            </a:r>
            <a:r>
              <a:rPr sz="1100" dirty="0"/>
              <a:t> </a:t>
            </a:r>
            <a:r>
              <a:rPr sz="1100" dirty="0" err="1"/>
              <a:t>predictiva</a:t>
            </a:r>
            <a:r>
              <a:rPr sz="1100" dirty="0"/>
              <a:t>.</a:t>
            </a:r>
          </a:p>
        </p:txBody>
      </p:sp>
      <p:graphicFrame>
        <p:nvGraphicFramePr>
          <p:cNvPr id="4" name="Tabla 3">
            <a:extLst>
              <a:ext uri="{FF2B5EF4-FFF2-40B4-BE49-F238E27FC236}">
                <a16:creationId xmlns:a16="http://schemas.microsoft.com/office/drawing/2014/main" id="{303BE099-6AC0-5406-9F8F-8D4270E46146}"/>
              </a:ext>
            </a:extLst>
          </p:cNvPr>
          <p:cNvGraphicFramePr>
            <a:graphicFrameLocks noGrp="1"/>
          </p:cNvGraphicFramePr>
          <p:nvPr>
            <p:extLst>
              <p:ext uri="{D42A27DB-BD31-4B8C-83A1-F6EECF244321}">
                <p14:modId xmlns:p14="http://schemas.microsoft.com/office/powerpoint/2010/main" val="2359186841"/>
              </p:ext>
            </p:extLst>
          </p:nvPr>
        </p:nvGraphicFramePr>
        <p:xfrm>
          <a:off x="1642531" y="3023288"/>
          <a:ext cx="5901270" cy="1231212"/>
        </p:xfrm>
        <a:graphic>
          <a:graphicData uri="http://schemas.openxmlformats.org/drawingml/2006/table">
            <a:tbl>
              <a:tblPr firstRow="1" firstCol="1" bandRow="1">
                <a:tableStyleId>{5C22544A-7EE6-4342-B048-85BDC9FD1C3A}</a:tableStyleId>
              </a:tblPr>
              <a:tblGrid>
                <a:gridCol w="983545">
                  <a:extLst>
                    <a:ext uri="{9D8B030D-6E8A-4147-A177-3AD203B41FA5}">
                      <a16:colId xmlns:a16="http://schemas.microsoft.com/office/drawing/2014/main" val="994766765"/>
                    </a:ext>
                  </a:extLst>
                </a:gridCol>
                <a:gridCol w="983545">
                  <a:extLst>
                    <a:ext uri="{9D8B030D-6E8A-4147-A177-3AD203B41FA5}">
                      <a16:colId xmlns:a16="http://schemas.microsoft.com/office/drawing/2014/main" val="3046279339"/>
                    </a:ext>
                  </a:extLst>
                </a:gridCol>
                <a:gridCol w="983545">
                  <a:extLst>
                    <a:ext uri="{9D8B030D-6E8A-4147-A177-3AD203B41FA5}">
                      <a16:colId xmlns:a16="http://schemas.microsoft.com/office/drawing/2014/main" val="3907087933"/>
                    </a:ext>
                  </a:extLst>
                </a:gridCol>
                <a:gridCol w="983545">
                  <a:extLst>
                    <a:ext uri="{9D8B030D-6E8A-4147-A177-3AD203B41FA5}">
                      <a16:colId xmlns:a16="http://schemas.microsoft.com/office/drawing/2014/main" val="1803064368"/>
                    </a:ext>
                  </a:extLst>
                </a:gridCol>
                <a:gridCol w="983545">
                  <a:extLst>
                    <a:ext uri="{9D8B030D-6E8A-4147-A177-3AD203B41FA5}">
                      <a16:colId xmlns:a16="http://schemas.microsoft.com/office/drawing/2014/main" val="859974421"/>
                    </a:ext>
                  </a:extLst>
                </a:gridCol>
                <a:gridCol w="983545">
                  <a:extLst>
                    <a:ext uri="{9D8B030D-6E8A-4147-A177-3AD203B41FA5}">
                      <a16:colId xmlns:a16="http://schemas.microsoft.com/office/drawing/2014/main" val="154772610"/>
                    </a:ext>
                  </a:extLst>
                </a:gridCol>
              </a:tblGrid>
              <a:tr h="307803">
                <a:tc>
                  <a:txBody>
                    <a:bodyPr/>
                    <a:lstStyle/>
                    <a:p>
                      <a:pPr algn="ctr">
                        <a:buNone/>
                      </a:pPr>
                      <a:r>
                        <a:rPr lang="es-CO" sz="800">
                          <a:effectLst/>
                        </a:rPr>
                        <a:t>Modelo</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Accuracy</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Precision</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Recall</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F1</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ROC_AUC</a:t>
                      </a:r>
                      <a:endParaRPr lang="es-CO" sz="10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345696175"/>
                  </a:ext>
                </a:extLst>
              </a:tr>
              <a:tr h="307803">
                <a:tc>
                  <a:txBody>
                    <a:bodyPr/>
                    <a:lstStyle/>
                    <a:p>
                      <a:pPr algn="l">
                        <a:buNone/>
                      </a:pPr>
                      <a:r>
                        <a:rPr lang="es-CO" sz="800">
                          <a:effectLst/>
                        </a:rPr>
                        <a:t>XGBoost</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0.881</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0.825</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0.799</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0.812</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0.911</a:t>
                      </a:r>
                      <a:endParaRPr lang="es-CO" sz="10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2771299610"/>
                  </a:ext>
                </a:extLst>
              </a:tr>
              <a:tr h="307803">
                <a:tc>
                  <a:txBody>
                    <a:bodyPr/>
                    <a:lstStyle/>
                    <a:p>
                      <a:pPr algn="l">
                        <a:buNone/>
                      </a:pPr>
                      <a:r>
                        <a:rPr lang="es-CO" sz="800">
                          <a:effectLst/>
                        </a:rPr>
                        <a:t>Random Forest</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0.875</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0.798</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0.818</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0.808</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0.914</a:t>
                      </a:r>
                      <a:endParaRPr lang="es-CO" sz="10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263333882"/>
                  </a:ext>
                </a:extLst>
              </a:tr>
              <a:tr h="307803">
                <a:tc>
                  <a:txBody>
                    <a:bodyPr/>
                    <a:lstStyle/>
                    <a:p>
                      <a:pPr algn="l">
                        <a:buNone/>
                      </a:pPr>
                      <a:r>
                        <a:rPr lang="es-CO" sz="800">
                          <a:effectLst/>
                        </a:rPr>
                        <a:t>MLP</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0.878</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0.825</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0.787</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a:effectLst/>
                        </a:rPr>
                        <a:t>0.806</a:t>
                      </a:r>
                      <a:endParaRPr lang="es-CO" sz="1000">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buNone/>
                      </a:pPr>
                      <a:r>
                        <a:rPr lang="es-CO" sz="800" dirty="0">
                          <a:effectLst/>
                        </a:rPr>
                        <a:t>0.911</a:t>
                      </a:r>
                      <a:endParaRPr lang="es-CO" sz="10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92073068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2"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CO"/>
            </a:p>
          </p:txBody>
        </p:sp>
      </p:grpSp>
      <p:sp>
        <p:nvSpPr>
          <p:cNvPr id="2" name="Title 1"/>
          <p:cNvSpPr>
            <a:spLocks noGrp="1"/>
          </p:cNvSpPr>
          <p:nvPr>
            <p:ph type="title"/>
          </p:nvPr>
        </p:nvSpPr>
        <p:spPr>
          <a:xfrm>
            <a:off x="627185" y="1085549"/>
            <a:ext cx="2573210" cy="4686903"/>
          </a:xfrm>
        </p:spPr>
        <p:txBody>
          <a:bodyPr anchor="ctr">
            <a:normAutofit/>
          </a:bodyPr>
          <a:lstStyle/>
          <a:p>
            <a:pPr algn="r"/>
            <a:r>
              <a:rPr lang="es-CO">
                <a:solidFill>
                  <a:schemeClr val="tx1"/>
                </a:solidFill>
              </a:rPr>
              <a:t>Resultados generales</a:t>
            </a: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81049" y="1085549"/>
            <a:ext cx="4184780" cy="4686903"/>
          </a:xfrm>
        </p:spPr>
        <p:txBody>
          <a:bodyPr anchor="ctr">
            <a:normAutofit/>
          </a:bodyPr>
          <a:lstStyle/>
          <a:p>
            <a:r>
              <a:rPr lang="es-CO" dirty="0">
                <a:solidFill>
                  <a:schemeClr val="tx1"/>
                </a:solidFill>
              </a:rPr>
              <a:t>Los tres modelos superan 87% de exactitud.</a:t>
            </a:r>
          </a:p>
          <a:p>
            <a:endParaRPr lang="es-CO" dirty="0">
              <a:solidFill>
                <a:schemeClr val="tx1"/>
              </a:solidFill>
            </a:endParaRPr>
          </a:p>
          <a:p>
            <a:r>
              <a:rPr lang="es-CO" dirty="0">
                <a:solidFill>
                  <a:schemeClr val="tx1"/>
                </a:solidFill>
              </a:rPr>
              <a:t>El rendimiento en materias básicas explica gran parte del riesgo de deserción.</a:t>
            </a:r>
          </a:p>
          <a:p>
            <a:endParaRPr lang="es-CO" dirty="0">
              <a:solidFill>
                <a:schemeClr val="tx1"/>
              </a:solidFill>
            </a:endParaRPr>
          </a:p>
          <a:p>
            <a:r>
              <a:rPr lang="es-CO" dirty="0">
                <a:solidFill>
                  <a:schemeClr val="tx1"/>
                </a:solidFill>
              </a:rPr>
              <a:t>Consistencia entre modelos demuestra estabilidad del enfoque.</a:t>
            </a:r>
          </a:p>
        </p:txBody>
      </p:sp>
    </p:spTree>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Efecto del Ajuste de Parámetros</a:t>
            </a:r>
          </a:p>
        </p:txBody>
      </p:sp>
      <p:sp>
        <p:nvSpPr>
          <p:cNvPr id="3" name="Content Placeholder 2"/>
          <p:cNvSpPr>
            <a:spLocks noGrp="1"/>
          </p:cNvSpPr>
          <p:nvPr>
            <p:ph idx="1"/>
          </p:nvPr>
        </p:nvSpPr>
        <p:spPr>
          <a:xfrm>
            <a:off x="457200" y="3784600"/>
            <a:ext cx="8229600" cy="2904326"/>
          </a:xfrm>
        </p:spPr>
        <p:txBody>
          <a:bodyPr>
            <a:normAutofit fontScale="70000" lnSpcReduction="20000"/>
          </a:bodyPr>
          <a:lstStyle/>
          <a:p>
            <a:pPr algn="just"/>
            <a:r>
              <a:rPr lang="es-CO" dirty="0" err="1"/>
              <a:t>XGBoost</a:t>
            </a:r>
            <a:r>
              <a:rPr lang="es-CO" dirty="0"/>
              <a:t> alcanzó el mejor equilibrio general (ROC-AUC = 0.913, F1 = 0.812) con </a:t>
            </a:r>
            <a:r>
              <a:rPr lang="es-CO" dirty="0" err="1"/>
              <a:t>learning_rate</a:t>
            </a:r>
            <a:r>
              <a:rPr lang="es-CO" dirty="0"/>
              <a:t> = 0.05 y </a:t>
            </a:r>
            <a:r>
              <a:rPr lang="es-CO" dirty="0" err="1"/>
              <a:t>max_depth</a:t>
            </a:r>
            <a:r>
              <a:rPr lang="es-CO" dirty="0"/>
              <a:t> = 3, mostrando gran capacidad de generalización sin sobreajuste.</a:t>
            </a:r>
          </a:p>
          <a:p>
            <a:pPr algn="just"/>
            <a:r>
              <a:rPr lang="es-CO" dirty="0" err="1"/>
              <a:t>Random</a:t>
            </a:r>
            <a:r>
              <a:rPr lang="es-CO" dirty="0"/>
              <a:t> Forest logró la mayor precisión con 150 árboles y </a:t>
            </a:r>
            <a:r>
              <a:rPr lang="es-CO" dirty="0" err="1"/>
              <a:t>max_depth</a:t>
            </a:r>
            <a:r>
              <a:rPr lang="es-CO" dirty="0"/>
              <a:t> = 10, manteniendo estabilidad y bajo riesgo de error.</a:t>
            </a:r>
          </a:p>
          <a:p>
            <a:pPr algn="just"/>
            <a:r>
              <a:rPr lang="es-CO" dirty="0"/>
              <a:t>MLP (50–25 neuronas, activación </a:t>
            </a:r>
            <a:r>
              <a:rPr lang="es-CO" dirty="0" err="1"/>
              <a:t>ReLU</a:t>
            </a:r>
            <a:r>
              <a:rPr lang="es-CO" dirty="0"/>
              <a:t>) igualó el rendimiento con una arquitectura ligera, confirmando que mayor complejidad no garantiza mejores resultados.</a:t>
            </a:r>
          </a:p>
          <a:p>
            <a:pPr algn="just"/>
            <a:r>
              <a:rPr lang="es-CO" dirty="0"/>
              <a:t>Las diferencias entre modelos fueron mínimas, lo que demuestra patrones consistentes de deserción determinados por el rendimiento académico inicial.</a:t>
            </a:r>
          </a:p>
          <a:p>
            <a:pPr algn="just"/>
            <a:r>
              <a:rPr lang="es-CO" dirty="0"/>
              <a:t>En la práctica, </a:t>
            </a:r>
            <a:r>
              <a:rPr lang="es-CO" dirty="0" err="1"/>
              <a:t>XGBoost</a:t>
            </a:r>
            <a:r>
              <a:rPr lang="es-CO" dirty="0"/>
              <a:t> se recomienda para implementación institucional por su eficiencia y desempeño global, aunque </a:t>
            </a:r>
            <a:r>
              <a:rPr lang="es-CO" dirty="0" err="1"/>
              <a:t>Random</a:t>
            </a:r>
            <a:r>
              <a:rPr lang="es-CO" dirty="0"/>
              <a:t> Forest y MLP son opciones igualmente válidas.</a:t>
            </a:r>
          </a:p>
          <a:p>
            <a:pPr algn="just"/>
            <a:r>
              <a:rPr dirty="0" err="1"/>
              <a:t>Modelos</a:t>
            </a:r>
            <a:r>
              <a:rPr dirty="0"/>
              <a:t> </a:t>
            </a:r>
            <a:r>
              <a:rPr dirty="0" err="1"/>
              <a:t>más</a:t>
            </a:r>
            <a:r>
              <a:rPr dirty="0"/>
              <a:t> simples </a:t>
            </a:r>
            <a:r>
              <a:rPr dirty="0" err="1"/>
              <a:t>mantienen</a:t>
            </a:r>
            <a:r>
              <a:rPr dirty="0"/>
              <a:t> </a:t>
            </a:r>
            <a:r>
              <a:rPr dirty="0" err="1"/>
              <a:t>el</a:t>
            </a:r>
            <a:r>
              <a:rPr dirty="0"/>
              <a:t> </a:t>
            </a:r>
            <a:r>
              <a:rPr dirty="0" err="1"/>
              <a:t>rendimiento</a:t>
            </a:r>
            <a:r>
              <a:rPr dirty="0"/>
              <a:t> </a:t>
            </a:r>
            <a:r>
              <a:rPr dirty="0" err="1"/>
              <a:t>óptimo</a:t>
            </a:r>
            <a:r>
              <a:rPr dirty="0"/>
              <a:t>.</a:t>
            </a:r>
          </a:p>
        </p:txBody>
      </p:sp>
      <p:pic>
        <p:nvPicPr>
          <p:cNvPr id="4" name="Imagen 3">
            <a:extLst>
              <a:ext uri="{FF2B5EF4-FFF2-40B4-BE49-F238E27FC236}">
                <a16:creationId xmlns:a16="http://schemas.microsoft.com/office/drawing/2014/main" id="{F458F35F-69D4-F4C8-802D-84910C4BBCA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73" t="5768" r="445" b="51310"/>
          <a:stretch/>
        </p:blipFill>
        <p:spPr bwMode="auto">
          <a:xfrm>
            <a:off x="514706" y="2404533"/>
            <a:ext cx="8114587" cy="1116000"/>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CO"/>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grpSp>
      <p:sp>
        <p:nvSpPr>
          <p:cNvPr id="2" name="Title 1"/>
          <p:cNvSpPr>
            <a:spLocks noGrp="1"/>
          </p:cNvSpPr>
          <p:nvPr>
            <p:ph type="title"/>
          </p:nvPr>
        </p:nvSpPr>
        <p:spPr>
          <a:xfrm>
            <a:off x="866216" y="973667"/>
            <a:ext cx="2206657" cy="4833745"/>
          </a:xfrm>
        </p:spPr>
        <p:txBody>
          <a:bodyPr>
            <a:normAutofit/>
          </a:bodyPr>
          <a:lstStyle/>
          <a:p>
            <a:r>
              <a:rPr lang="es-CO" sz="2200">
                <a:solidFill>
                  <a:srgbClr val="EBEBEB"/>
                </a:solidFill>
              </a:rPr>
              <a:t>Interpretación de las variables predictoras</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aphicFrame>
        <p:nvGraphicFramePr>
          <p:cNvPr id="5" name="Content Placeholder 2">
            <a:extLst>
              <a:ext uri="{FF2B5EF4-FFF2-40B4-BE49-F238E27FC236}">
                <a16:creationId xmlns:a16="http://schemas.microsoft.com/office/drawing/2014/main" id="{555A5BDC-1059-D717-D154-5353981596A4}"/>
              </a:ext>
            </a:extLst>
          </p:cNvPr>
          <p:cNvGraphicFramePr>
            <a:graphicFrameLocks noGrp="1"/>
          </p:cNvGraphicFramePr>
          <p:nvPr>
            <p:ph idx="1"/>
            <p:extLst>
              <p:ext uri="{D42A27DB-BD31-4B8C-83A1-F6EECF244321}">
                <p14:modId xmlns:p14="http://schemas.microsoft.com/office/powerpoint/2010/main" val="2789385796"/>
              </p:ext>
            </p:extLst>
          </p:nvPr>
        </p:nvGraphicFramePr>
        <p:xfrm>
          <a:off x="3895725" y="808038"/>
          <a:ext cx="4793456"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CO"/>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grpSp>
      <p:sp>
        <p:nvSpPr>
          <p:cNvPr id="2" name="Title 1"/>
          <p:cNvSpPr>
            <a:spLocks noGrp="1"/>
          </p:cNvSpPr>
          <p:nvPr>
            <p:ph type="title"/>
          </p:nvPr>
        </p:nvSpPr>
        <p:spPr>
          <a:xfrm>
            <a:off x="866216" y="973667"/>
            <a:ext cx="2206657" cy="4833745"/>
          </a:xfrm>
        </p:spPr>
        <p:txBody>
          <a:bodyPr>
            <a:normAutofit/>
          </a:bodyPr>
          <a:lstStyle/>
          <a:p>
            <a:r>
              <a:rPr lang="es-CO" sz="2200">
                <a:solidFill>
                  <a:srgbClr val="EBEBEB"/>
                </a:solidFill>
              </a:rPr>
              <a:t>Interpretación de Resultados</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aphicFrame>
        <p:nvGraphicFramePr>
          <p:cNvPr id="5" name="Content Placeholder 2">
            <a:extLst>
              <a:ext uri="{FF2B5EF4-FFF2-40B4-BE49-F238E27FC236}">
                <a16:creationId xmlns:a16="http://schemas.microsoft.com/office/drawing/2014/main" id="{BFC29D76-FA8A-59B2-EFF1-857611E9A398}"/>
              </a:ext>
            </a:extLst>
          </p:cNvPr>
          <p:cNvGraphicFramePr>
            <a:graphicFrameLocks noGrp="1"/>
          </p:cNvGraphicFramePr>
          <p:nvPr>
            <p:ph idx="1"/>
            <p:extLst>
              <p:ext uri="{D42A27DB-BD31-4B8C-83A1-F6EECF244321}">
                <p14:modId xmlns:p14="http://schemas.microsoft.com/office/powerpoint/2010/main" val="192831675"/>
              </p:ext>
            </p:extLst>
          </p:nvPr>
        </p:nvGraphicFramePr>
        <p:xfrm>
          <a:off x="3895725" y="808038"/>
          <a:ext cx="4793456"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73E83AB-9641-60C0-5830-5F756DBE10D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21" name="Rectangle 20">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22"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s-CO"/>
            </a:p>
          </p:txBody>
        </p:sp>
      </p:grpSp>
      <p:sp>
        <p:nvSpPr>
          <p:cNvPr id="2" name="Title 1">
            <a:extLst>
              <a:ext uri="{FF2B5EF4-FFF2-40B4-BE49-F238E27FC236}">
                <a16:creationId xmlns:a16="http://schemas.microsoft.com/office/drawing/2014/main" id="{F904C4A0-65A0-52B0-FAB7-FDAFDEE6EA9C}"/>
              </a:ext>
            </a:extLst>
          </p:cNvPr>
          <p:cNvSpPr>
            <a:spLocks noGrp="1"/>
          </p:cNvSpPr>
          <p:nvPr>
            <p:ph type="title"/>
          </p:nvPr>
        </p:nvSpPr>
        <p:spPr>
          <a:xfrm>
            <a:off x="866215" y="973668"/>
            <a:ext cx="6571060" cy="706964"/>
          </a:xfrm>
        </p:spPr>
        <p:txBody>
          <a:bodyPr>
            <a:normAutofit/>
          </a:bodyPr>
          <a:lstStyle/>
          <a:p>
            <a:r>
              <a:rPr lang="es-CO">
                <a:solidFill>
                  <a:srgbClr val="FFFFFF"/>
                </a:solidFill>
              </a:rPr>
              <a:t>Limitaciones del Estudio</a:t>
            </a:r>
          </a:p>
        </p:txBody>
      </p:sp>
      <p:sp>
        <p:nvSpPr>
          <p:cNvPr id="24" name="Rectangle 23">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aphicFrame>
        <p:nvGraphicFramePr>
          <p:cNvPr id="7" name="Marcador de contenido 4">
            <a:extLst>
              <a:ext uri="{FF2B5EF4-FFF2-40B4-BE49-F238E27FC236}">
                <a16:creationId xmlns:a16="http://schemas.microsoft.com/office/drawing/2014/main" id="{26241F50-FDAC-8EFF-3F6D-98AFEBE2BC37}"/>
              </a:ext>
            </a:extLst>
          </p:cNvPr>
          <p:cNvGraphicFramePr>
            <a:graphicFrameLocks noGrp="1"/>
          </p:cNvGraphicFramePr>
          <p:nvPr>
            <p:ph idx="1"/>
            <p:extLst>
              <p:ext uri="{D42A27DB-BD31-4B8C-83A1-F6EECF244321}">
                <p14:modId xmlns:p14="http://schemas.microsoft.com/office/powerpoint/2010/main" val="2155363855"/>
              </p:ext>
            </p:extLst>
          </p:nvPr>
        </p:nvGraphicFramePr>
        <p:xfrm>
          <a:off x="965200" y="2324100"/>
          <a:ext cx="7219037"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9358947"/>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nvGrpSpPr>
          <p:cNvPr id="20"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21"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s-CO"/>
            </a:p>
          </p:txBody>
        </p:sp>
      </p:grpSp>
      <p:sp>
        <p:nvSpPr>
          <p:cNvPr id="2" name="Title 1"/>
          <p:cNvSpPr>
            <a:spLocks noGrp="1"/>
          </p:cNvSpPr>
          <p:nvPr>
            <p:ph type="title"/>
          </p:nvPr>
        </p:nvSpPr>
        <p:spPr>
          <a:xfrm>
            <a:off x="750279" y="1209957"/>
            <a:ext cx="2275935" cy="4438087"/>
          </a:xfrm>
        </p:spPr>
        <p:txBody>
          <a:bodyPr anchor="ctr">
            <a:normAutofit/>
          </a:bodyPr>
          <a:lstStyle/>
          <a:p>
            <a:pPr algn="r"/>
            <a:r>
              <a:rPr lang="es-CO" sz="2600">
                <a:solidFill>
                  <a:schemeClr val="tx1"/>
                </a:solidFill>
              </a:rPr>
              <a:t>Aportes y Aplicaciones Prácticas</a:t>
            </a:r>
          </a:p>
        </p:txBody>
      </p:sp>
      <p:cxnSp>
        <p:nvCxnSpPr>
          <p:cNvPr id="22"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508818" y="1059025"/>
            <a:ext cx="3976641" cy="4739950"/>
          </a:xfrm>
        </p:spPr>
        <p:txBody>
          <a:bodyPr anchor="ctr">
            <a:normAutofit/>
          </a:bodyPr>
          <a:lstStyle/>
          <a:p>
            <a:pPr algn="just">
              <a:lnSpc>
                <a:spcPct val="90000"/>
              </a:lnSpc>
            </a:pPr>
            <a:r>
              <a:rPr lang="es-CO" sz="1300">
                <a:solidFill>
                  <a:schemeClr val="tx1"/>
                </a:solidFill>
              </a:rPr>
              <a:t>Confirma la viabilidad del Machine Learning para analizar permanencia estudiantil con datos limitados.</a:t>
            </a:r>
          </a:p>
          <a:p>
            <a:pPr algn="just">
              <a:lnSpc>
                <a:spcPct val="90000"/>
              </a:lnSpc>
            </a:pPr>
            <a:endParaRPr lang="es-CO" sz="1300">
              <a:solidFill>
                <a:schemeClr val="tx1"/>
              </a:solidFill>
            </a:endParaRPr>
          </a:p>
          <a:p>
            <a:pPr algn="just">
              <a:lnSpc>
                <a:spcPct val="90000"/>
              </a:lnSpc>
            </a:pPr>
            <a:r>
              <a:rPr lang="es-CO" sz="1300">
                <a:solidFill>
                  <a:schemeClr val="tx1"/>
                </a:solidFill>
              </a:rPr>
              <a:t>Permite crear un sistema de alerta temprana, integrado a plataformas académicas, que actualice el riesgo de deserción por estudiante.</a:t>
            </a:r>
          </a:p>
          <a:p>
            <a:pPr algn="just">
              <a:lnSpc>
                <a:spcPct val="90000"/>
              </a:lnSpc>
            </a:pPr>
            <a:endParaRPr lang="es-CO" sz="1300">
              <a:solidFill>
                <a:schemeClr val="tx1"/>
              </a:solidFill>
            </a:endParaRPr>
          </a:p>
          <a:p>
            <a:pPr algn="just">
              <a:lnSpc>
                <a:spcPct val="90000"/>
              </a:lnSpc>
            </a:pPr>
            <a:r>
              <a:rPr lang="es-CO" sz="1300">
                <a:solidFill>
                  <a:schemeClr val="tx1"/>
                </a:solidFill>
              </a:rPr>
              <a:t>Apoya la revisión curricular de las materias críticas del primer año de ingeniería.</a:t>
            </a:r>
          </a:p>
          <a:p>
            <a:pPr algn="just">
              <a:lnSpc>
                <a:spcPct val="90000"/>
              </a:lnSpc>
            </a:pPr>
            <a:endParaRPr lang="es-CO" sz="1300">
              <a:solidFill>
                <a:schemeClr val="tx1"/>
              </a:solidFill>
            </a:endParaRPr>
          </a:p>
          <a:p>
            <a:pPr algn="just">
              <a:lnSpc>
                <a:spcPct val="90000"/>
              </a:lnSpc>
            </a:pPr>
            <a:r>
              <a:rPr lang="es-CO" sz="1300">
                <a:solidFill>
                  <a:schemeClr val="tx1"/>
                </a:solidFill>
              </a:rPr>
              <a:t>Demuestra que distintos enfoques (ensambles y redes neuronales) pueden lograr resultados consistentes.</a:t>
            </a:r>
          </a:p>
          <a:p>
            <a:pPr algn="just">
              <a:lnSpc>
                <a:spcPct val="90000"/>
              </a:lnSpc>
            </a:pPr>
            <a:endParaRPr lang="es-CO" sz="1300">
              <a:solidFill>
                <a:schemeClr val="tx1"/>
              </a:solidFill>
            </a:endParaRPr>
          </a:p>
          <a:p>
            <a:pPr algn="just">
              <a:lnSpc>
                <a:spcPct val="90000"/>
              </a:lnSpc>
            </a:pPr>
            <a:r>
              <a:rPr lang="es-CO" sz="1300">
                <a:solidFill>
                  <a:schemeClr val="tx1"/>
                </a:solidFill>
              </a:rPr>
              <a:t>Contribuye al desarrollo de ecosistemas de analítica educativa, aplicables también a bajo rendimiento o cambio de programa.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O"/>
          </a:p>
        </p:txBody>
      </p:sp>
      <p:grpSp>
        <p:nvGrpSpPr>
          <p:cNvPr id="13" name="Group 12">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useBgFill="1">
          <p:nvSpPr>
            <p:cNvPr id="14" name="Rectangle 13">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15"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s-CO"/>
            </a:p>
          </p:txBody>
        </p:sp>
      </p:grpSp>
      <p:sp>
        <p:nvSpPr>
          <p:cNvPr id="2" name="Título 1">
            <a:extLst>
              <a:ext uri="{FF2B5EF4-FFF2-40B4-BE49-F238E27FC236}">
                <a16:creationId xmlns:a16="http://schemas.microsoft.com/office/drawing/2014/main" id="{065491E2-DD9A-4B70-EA6E-01B91A2E2DBD}"/>
              </a:ext>
            </a:extLst>
          </p:cNvPr>
          <p:cNvSpPr>
            <a:spLocks noGrp="1"/>
          </p:cNvSpPr>
          <p:nvPr>
            <p:ph type="title"/>
          </p:nvPr>
        </p:nvSpPr>
        <p:spPr>
          <a:xfrm>
            <a:off x="1262378" y="1169773"/>
            <a:ext cx="6619243" cy="2870161"/>
          </a:xfrm>
        </p:spPr>
        <p:txBody>
          <a:bodyPr vert="horz" lIns="91440" tIns="45720" rIns="91440" bIns="45720" rtlCol="0" anchor="b">
            <a:normAutofit/>
          </a:bodyPr>
          <a:lstStyle/>
          <a:p>
            <a:pPr algn="ctr"/>
            <a:r>
              <a:rPr lang="en-US" sz="5400">
                <a:solidFill>
                  <a:schemeClr val="tx1"/>
                </a:solidFill>
              </a:rPr>
              <a:t>CONCLUSIONES Y TRABAJO FUTURO</a:t>
            </a:r>
          </a:p>
        </p:txBody>
      </p:sp>
      <p:cxnSp>
        <p:nvCxnSpPr>
          <p:cNvPr id="17" name="Straight Connector 16">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18686" y="4166888"/>
            <a:ext cx="506627"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698057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22">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CO"/>
          </a:p>
        </p:txBody>
      </p:sp>
      <p:sp>
        <p:nvSpPr>
          <p:cNvPr id="43"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CO"/>
          </a:p>
        </p:txBody>
      </p:sp>
      <p:sp>
        <p:nvSpPr>
          <p:cNvPr id="44"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122264" y="751601"/>
            <a:ext cx="6053670" cy="5354799"/>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s-CO"/>
          </a:p>
        </p:txBody>
      </p:sp>
      <p:sp>
        <p:nvSpPr>
          <p:cNvPr id="29"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CO"/>
          </a:p>
        </p:txBody>
      </p:sp>
      <p:sp>
        <p:nvSpPr>
          <p:cNvPr id="2" name="Title 1"/>
          <p:cNvSpPr>
            <a:spLocks noGrp="1"/>
          </p:cNvSpPr>
          <p:nvPr>
            <p:ph type="title"/>
          </p:nvPr>
        </p:nvSpPr>
        <p:spPr>
          <a:xfrm>
            <a:off x="745565" y="1130603"/>
            <a:ext cx="2506831" cy="4596794"/>
          </a:xfrm>
        </p:spPr>
        <p:txBody>
          <a:bodyPr anchor="ctr">
            <a:normAutofit/>
          </a:bodyPr>
          <a:lstStyle/>
          <a:p>
            <a:r>
              <a:rPr lang="es-CO" sz="2800">
                <a:solidFill>
                  <a:srgbClr val="EBEBEB"/>
                </a:solidFill>
              </a:rPr>
              <a:t>Conclusiones</a:t>
            </a:r>
          </a:p>
        </p:txBody>
      </p:sp>
      <p:sp>
        <p:nvSpPr>
          <p:cNvPr id="45" name="Content Placeholder 2"/>
          <p:cNvSpPr>
            <a:spLocks noGrp="1"/>
          </p:cNvSpPr>
          <p:nvPr>
            <p:ph idx="1"/>
          </p:nvPr>
        </p:nvSpPr>
        <p:spPr>
          <a:xfrm>
            <a:off x="3967557" y="437513"/>
            <a:ext cx="4126961" cy="5954325"/>
          </a:xfrm>
        </p:spPr>
        <p:txBody>
          <a:bodyPr anchor="ctr">
            <a:normAutofit/>
          </a:bodyPr>
          <a:lstStyle/>
          <a:p>
            <a:pPr>
              <a:lnSpc>
                <a:spcPct val="90000"/>
              </a:lnSpc>
            </a:pPr>
            <a:r>
              <a:rPr lang="es-CO" sz="1300"/>
              <a:t>El rendimiento académico temprano es un predictor confiable del riesgo de deserción.</a:t>
            </a:r>
          </a:p>
          <a:p>
            <a:pPr>
              <a:lnSpc>
                <a:spcPct val="90000"/>
              </a:lnSpc>
            </a:pPr>
            <a:endParaRPr lang="es-CO" sz="1300"/>
          </a:p>
          <a:p>
            <a:pPr>
              <a:lnSpc>
                <a:spcPct val="90000"/>
              </a:lnSpc>
            </a:pPr>
            <a:r>
              <a:rPr lang="es-CO" sz="1300"/>
              <a:t>Con solo cinco materias base, los modelos (XGBoost, Random Forest, MLP) lograron precisiones &gt;87% y ROC-AUC &gt;0.90.</a:t>
            </a:r>
          </a:p>
          <a:p>
            <a:pPr>
              <a:lnSpc>
                <a:spcPct val="90000"/>
              </a:lnSpc>
            </a:pPr>
            <a:endParaRPr lang="es-CO" sz="1300"/>
          </a:p>
          <a:p>
            <a:pPr>
              <a:lnSpc>
                <a:spcPct val="90000"/>
              </a:lnSpc>
            </a:pPr>
            <a:r>
              <a:rPr lang="es-CO" sz="1300"/>
              <a:t>XGBoost obtuvo el mejor desempeño (F1 = 0.812; ROC-AUC = 0.913), confirmando su capacidad de generalización.</a:t>
            </a:r>
          </a:p>
          <a:p>
            <a:pPr>
              <a:lnSpc>
                <a:spcPct val="90000"/>
              </a:lnSpc>
            </a:pPr>
            <a:endParaRPr lang="es-CO" sz="1300"/>
          </a:p>
          <a:p>
            <a:pPr>
              <a:lnSpc>
                <a:spcPct val="90000"/>
              </a:lnSpc>
            </a:pPr>
            <a:r>
              <a:rPr lang="es-CO" sz="1300"/>
              <a:t>Las materias de Ecuaciones Diferenciales, Estadística y Álgebra Lineal fueron las más influyentes, reforzando su valor como indicadores tempranos.</a:t>
            </a:r>
          </a:p>
          <a:p>
            <a:pPr>
              <a:lnSpc>
                <a:spcPct val="90000"/>
              </a:lnSpc>
            </a:pPr>
            <a:endParaRPr lang="es-CO" sz="1300"/>
          </a:p>
          <a:p>
            <a:pPr>
              <a:lnSpc>
                <a:spcPct val="90000"/>
              </a:lnSpc>
            </a:pPr>
            <a:r>
              <a:rPr lang="es-CO" sz="1300"/>
              <a:t>Los resultados validan la hipótesis: la deserción puede predecirse tempranamente mediante datos académicos disponibles, permitiendo alertas institucionales precisas.</a:t>
            </a:r>
          </a:p>
          <a:p>
            <a:pPr>
              <a:lnSpc>
                <a:spcPct val="90000"/>
              </a:lnSpc>
            </a:pPr>
            <a:endParaRPr lang="es-CO" sz="1300"/>
          </a:p>
          <a:p>
            <a:pPr>
              <a:lnSpc>
                <a:spcPct val="90000"/>
              </a:lnSpc>
            </a:pPr>
            <a:r>
              <a:rPr lang="es-CO" sz="1300"/>
              <a:t>Los objetivos específicos se cumplieron: se desarrollaron tres modelos predictivos robustos y comparables.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20"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CO"/>
            </a:p>
          </p:txBody>
        </p:sp>
      </p:grpSp>
      <p:sp>
        <p:nvSpPr>
          <p:cNvPr id="2" name="Title 1"/>
          <p:cNvSpPr>
            <a:spLocks noGrp="1"/>
          </p:cNvSpPr>
          <p:nvPr>
            <p:ph type="title"/>
          </p:nvPr>
        </p:nvSpPr>
        <p:spPr>
          <a:xfrm>
            <a:off x="627185" y="1085549"/>
            <a:ext cx="2573210" cy="4686903"/>
          </a:xfrm>
        </p:spPr>
        <p:txBody>
          <a:bodyPr anchor="ctr">
            <a:normAutofit/>
          </a:bodyPr>
          <a:lstStyle/>
          <a:p>
            <a:pPr algn="r"/>
            <a:r>
              <a:rPr lang="es-CO" sz="2700">
                <a:solidFill>
                  <a:schemeClr val="tx1"/>
                </a:solidFill>
              </a:rPr>
              <a:t>Aplicaciones y Futuro</a:t>
            </a:r>
          </a:p>
        </p:txBody>
      </p:sp>
      <p:cxnSp>
        <p:nvCxnSpPr>
          <p:cNvPr id="21"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81048" y="1085549"/>
            <a:ext cx="4735759" cy="5052784"/>
          </a:xfrm>
        </p:spPr>
        <p:txBody>
          <a:bodyPr anchor="ctr">
            <a:normAutofit/>
          </a:bodyPr>
          <a:lstStyle/>
          <a:p>
            <a:pPr algn="just">
              <a:lnSpc>
                <a:spcPct val="90000"/>
              </a:lnSpc>
            </a:pPr>
            <a:r>
              <a:rPr lang="es-CO" sz="1100" dirty="0">
                <a:solidFill>
                  <a:schemeClr val="tx1"/>
                </a:solidFill>
              </a:rPr>
              <a:t>El modelo propuesto puede implementarse como herramienta práctica de apoyo institucional para estrategias de permanencia.</a:t>
            </a:r>
          </a:p>
          <a:p>
            <a:pPr algn="just">
              <a:lnSpc>
                <a:spcPct val="90000"/>
              </a:lnSpc>
            </a:pPr>
            <a:endParaRPr lang="es-CO" sz="1100" dirty="0">
              <a:solidFill>
                <a:schemeClr val="tx1"/>
              </a:solidFill>
            </a:endParaRPr>
          </a:p>
          <a:p>
            <a:pPr algn="just">
              <a:lnSpc>
                <a:spcPct val="90000"/>
              </a:lnSpc>
            </a:pPr>
            <a:r>
              <a:rPr lang="es-CO" sz="1100" dirty="0">
                <a:solidFill>
                  <a:schemeClr val="tx1"/>
                </a:solidFill>
              </a:rPr>
              <a:t>Líneas futuras de trabajo:</a:t>
            </a:r>
          </a:p>
          <a:p>
            <a:pPr algn="just">
              <a:lnSpc>
                <a:spcPct val="90000"/>
              </a:lnSpc>
            </a:pPr>
            <a:endParaRPr lang="es-CO" sz="1100" dirty="0">
              <a:solidFill>
                <a:schemeClr val="tx1"/>
              </a:solidFill>
            </a:endParaRPr>
          </a:p>
          <a:p>
            <a:pPr lvl="1" algn="just">
              <a:lnSpc>
                <a:spcPct val="90000"/>
              </a:lnSpc>
            </a:pPr>
            <a:r>
              <a:rPr lang="es-CO" sz="1100" dirty="0">
                <a:solidFill>
                  <a:schemeClr val="tx1"/>
                </a:solidFill>
              </a:rPr>
              <a:t>Incorporar variables socioeconómicas y de bienestar.</a:t>
            </a:r>
          </a:p>
          <a:p>
            <a:pPr lvl="1" algn="just">
              <a:lnSpc>
                <a:spcPct val="90000"/>
              </a:lnSpc>
            </a:pPr>
            <a:r>
              <a:rPr lang="es-CO" sz="1100" dirty="0">
                <a:solidFill>
                  <a:schemeClr val="tx1"/>
                </a:solidFill>
              </a:rPr>
              <a:t>Realizar validación externa en nuevas cohortes y programas.</a:t>
            </a:r>
          </a:p>
          <a:p>
            <a:pPr lvl="1" algn="just">
              <a:lnSpc>
                <a:spcPct val="90000"/>
              </a:lnSpc>
            </a:pPr>
            <a:r>
              <a:rPr lang="es-CO" sz="1100" dirty="0">
                <a:solidFill>
                  <a:schemeClr val="tx1"/>
                </a:solidFill>
              </a:rPr>
              <a:t>Integrar los modelos en un sistema de alerta temprana automatizado.</a:t>
            </a:r>
          </a:p>
          <a:p>
            <a:pPr lvl="1" algn="just">
              <a:lnSpc>
                <a:spcPct val="90000"/>
              </a:lnSpc>
            </a:pPr>
            <a:r>
              <a:rPr lang="es-CO" sz="1100" dirty="0">
                <a:solidFill>
                  <a:schemeClr val="tx1"/>
                </a:solidFill>
              </a:rPr>
              <a:t>Explorar modelos más avanzados (ensambles o redes profundas) para optimizar </a:t>
            </a:r>
            <a:r>
              <a:rPr lang="es-CO" sz="1100" dirty="0" err="1">
                <a:solidFill>
                  <a:schemeClr val="tx1"/>
                </a:solidFill>
              </a:rPr>
              <a:t>Recall</a:t>
            </a:r>
            <a:r>
              <a:rPr lang="es-CO" sz="1100" dirty="0">
                <a:solidFill>
                  <a:schemeClr val="tx1"/>
                </a:solidFill>
              </a:rPr>
              <a:t> y precisión</a:t>
            </a:r>
          </a:p>
          <a:p>
            <a:pPr marL="0" indent="0" algn="just">
              <a:lnSpc>
                <a:spcPct val="90000"/>
              </a:lnSpc>
              <a:buNone/>
            </a:pPr>
            <a:endParaRPr lang="es-CO" sz="1100" dirty="0">
              <a:solidFill>
                <a:schemeClr val="tx1"/>
              </a:solidFill>
            </a:endParaRPr>
          </a:p>
          <a:p>
            <a:pPr algn="just">
              <a:lnSpc>
                <a:spcPct val="90000"/>
              </a:lnSpc>
            </a:pPr>
            <a:r>
              <a:rPr lang="es-CO" sz="1100" dirty="0">
                <a:solidFill>
                  <a:schemeClr val="tx1"/>
                </a:solidFill>
              </a:rPr>
              <a:t>Creación de un sistema de alerta temprana para identificar estudiantes en riesgo.</a:t>
            </a:r>
          </a:p>
          <a:p>
            <a:pPr algn="just">
              <a:lnSpc>
                <a:spcPct val="90000"/>
              </a:lnSpc>
            </a:pPr>
            <a:r>
              <a:rPr lang="es-CO" sz="1100" dirty="0">
                <a:solidFill>
                  <a:schemeClr val="tx1"/>
                </a:solidFill>
              </a:rPr>
              <a:t>Integración con plataformas académicas para generar reportes automáticos.</a:t>
            </a:r>
          </a:p>
          <a:p>
            <a:pPr algn="just">
              <a:lnSpc>
                <a:spcPct val="90000"/>
              </a:lnSpc>
            </a:pPr>
            <a:r>
              <a:rPr lang="es-CO" sz="1100" dirty="0">
                <a:solidFill>
                  <a:schemeClr val="tx1"/>
                </a:solidFill>
              </a:rPr>
              <a:t>Actualización periódica de probabilidad de deserción.</a:t>
            </a:r>
          </a:p>
          <a:p>
            <a:pPr algn="just">
              <a:lnSpc>
                <a:spcPct val="90000"/>
              </a:lnSpc>
            </a:pPr>
            <a:r>
              <a:rPr lang="es-CO" sz="1100" dirty="0">
                <a:solidFill>
                  <a:schemeClr val="tx1"/>
                </a:solidFill>
              </a:rPr>
              <a:t>Priorización de intervenciones en cohortes recientes.</a:t>
            </a:r>
          </a:p>
        </p:txBody>
      </p:sp>
    </p:spTree>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a de reuniones Ion">
  <a:themeElements>
    <a:clrScheme name="Sala de reuniones 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Sala de reuniones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la de reuniones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152</TotalTime>
  <Words>3097</Words>
  <Application>Microsoft Office PowerPoint</Application>
  <PresentationFormat>Presentación en pantalla (4:3)</PresentationFormat>
  <Paragraphs>318</Paragraphs>
  <Slides>41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41</vt:i4>
      </vt:variant>
    </vt:vector>
  </HeadingPairs>
  <TitlesOfParts>
    <vt:vector size="48" baseType="lpstr">
      <vt:lpstr>Aptos Narrow</vt:lpstr>
      <vt:lpstr>Arial</vt:lpstr>
      <vt:lpstr>Calibri</vt:lpstr>
      <vt:lpstr>Century Gothic</vt:lpstr>
      <vt:lpstr>Times New Roman</vt:lpstr>
      <vt:lpstr>Wingdings 3</vt:lpstr>
      <vt:lpstr>Sala de reuniones Ion</vt:lpstr>
      <vt:lpstr>Predicción de la Deserción Universitaria con Machine Learning</vt:lpstr>
      <vt:lpstr>FUNDAMENTOS CONCEPTUALES Y METODOLOGÍA</vt:lpstr>
      <vt:lpstr>Contexto y Motivación</vt:lpstr>
      <vt:lpstr>Contexto y Motivación</vt:lpstr>
      <vt:lpstr>Objetivos del Estudio</vt:lpstr>
      <vt:lpstr>EDA</vt:lpstr>
      <vt:lpstr>Datos Utilizados</vt:lpstr>
      <vt:lpstr>Análisis Exploratorio (EDA)</vt:lpstr>
      <vt:lpstr>Análisis Exploratorio (EDA)</vt:lpstr>
      <vt:lpstr>Análisis Exploratorio (EDA)</vt:lpstr>
      <vt:lpstr>Análisis Exploratorio (EDA)</vt:lpstr>
      <vt:lpstr>EDA</vt:lpstr>
      <vt:lpstr>EDA</vt:lpstr>
      <vt:lpstr>EDA</vt:lpstr>
      <vt:lpstr>EDA</vt:lpstr>
      <vt:lpstr>Preprocesamiento</vt:lpstr>
      <vt:lpstr>Preprocesamiento</vt:lpstr>
      <vt:lpstr>RESULTADOS DE LOS MODELOS PREDICTIVOS</vt:lpstr>
      <vt:lpstr>Configuración</vt:lpstr>
      <vt:lpstr>XG BOOST</vt:lpstr>
      <vt:lpstr>XG BOOST</vt:lpstr>
      <vt:lpstr>XG Boost</vt:lpstr>
      <vt:lpstr>Presentación de PowerPoint</vt:lpstr>
      <vt:lpstr>XG Boost</vt:lpstr>
      <vt:lpstr>Modelo Random Forest</vt:lpstr>
      <vt:lpstr>Modelo Random Forest</vt:lpstr>
      <vt:lpstr>Análisis Agregado – Random Forest</vt:lpstr>
      <vt:lpstr>Modelo MLP (Multi-Layer Perceptron)</vt:lpstr>
      <vt:lpstr>Modelo MLP (Multi-Layer Perceptron)</vt:lpstr>
      <vt:lpstr>Análisis Agregado – MLP</vt:lpstr>
      <vt:lpstr>DISCUSIÓN DE RESULTADOS</vt:lpstr>
      <vt:lpstr>Comparación entre Modelos</vt:lpstr>
      <vt:lpstr>Resultados generales</vt:lpstr>
      <vt:lpstr>Efecto del Ajuste de Parámetros</vt:lpstr>
      <vt:lpstr>Interpretación de las variables predictoras</vt:lpstr>
      <vt:lpstr>Interpretación de Resultados</vt:lpstr>
      <vt:lpstr>Limitaciones del Estudio</vt:lpstr>
      <vt:lpstr>Aportes y Aplicaciones Prácticas</vt:lpstr>
      <vt:lpstr>CONCLUSIONES Y TRABAJO FUTURO</vt:lpstr>
      <vt:lpstr>Conclusiones</vt:lpstr>
      <vt:lpstr>Aplicaciones y Futuro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Maria Paula Castro Hoyos</cp:lastModifiedBy>
  <cp:revision>3</cp:revision>
  <dcterms:created xsi:type="dcterms:W3CDTF">2013-01-27T09:14:16Z</dcterms:created>
  <dcterms:modified xsi:type="dcterms:W3CDTF">2025-11-05T03:33:36Z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c8d6ef0-491d-4f17-aead-12ed260929f1_Enabled">
    <vt:lpwstr>true</vt:lpwstr>
  </property>
  <property fmtid="{D5CDD505-2E9C-101B-9397-08002B2CF9AE}" pid="3" name="MSIP_Label_4c8d6ef0-491d-4f17-aead-12ed260929f1_SetDate">
    <vt:lpwstr>2025-11-05T02:45:02Z</vt:lpwstr>
  </property>
  <property fmtid="{D5CDD505-2E9C-101B-9397-08002B2CF9AE}" pid="4" name="MSIP_Label_4c8d6ef0-491d-4f17-aead-12ed260929f1_Method">
    <vt:lpwstr>Standard</vt:lpwstr>
  </property>
  <property fmtid="{D5CDD505-2E9C-101B-9397-08002B2CF9AE}" pid="5" name="MSIP_Label_4c8d6ef0-491d-4f17-aead-12ed260929f1_Name">
    <vt:lpwstr>Internal</vt:lpwstr>
  </property>
  <property fmtid="{D5CDD505-2E9C-101B-9397-08002B2CF9AE}" pid="6" name="MSIP_Label_4c8d6ef0-491d-4f17-aead-12ed260929f1_SiteId">
    <vt:lpwstr>f101208c-39d3-4c8a-8cc7-ad896b25954f</vt:lpwstr>
  </property>
  <property fmtid="{D5CDD505-2E9C-101B-9397-08002B2CF9AE}" pid="7" name="MSIP_Label_4c8d6ef0-491d-4f17-aead-12ed260929f1_ActionId">
    <vt:lpwstr>bc2f6b29-012b-409b-acc0-cc3bc5919eb8</vt:lpwstr>
  </property>
  <property fmtid="{D5CDD505-2E9C-101B-9397-08002B2CF9AE}" pid="8" name="MSIP_Label_4c8d6ef0-491d-4f17-aead-12ed260929f1_ContentBits">
    <vt:lpwstr>2</vt:lpwstr>
  </property>
  <property fmtid="{D5CDD505-2E9C-101B-9397-08002B2CF9AE}" pid="9" name="MSIP_Label_4c8d6ef0-491d-4f17-aead-12ed260929f1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ESSITY INTERNAL</vt:lpwstr>
  </property>
</Properties>
</file>